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62" r:id="rId5"/>
    <p:sldId id="258" r:id="rId6"/>
    <p:sldId id="263" r:id="rId7"/>
    <p:sldId id="264" r:id="rId8"/>
    <p:sldId id="259" r:id="rId9"/>
    <p:sldId id="260" r:id="rId10"/>
    <p:sldId id="265" r:id="rId11"/>
    <p:sldId id="271" r:id="rId12"/>
    <p:sldId id="272" r:id="rId13"/>
    <p:sldId id="273" r:id="rId14"/>
    <p:sldId id="274" r:id="rId15"/>
    <p:sldId id="276" r:id="rId16"/>
    <p:sldId id="279" r:id="rId17"/>
    <p:sldId id="269" r:id="rId18"/>
    <p:sldId id="277" r:id="rId19"/>
    <p:sldId id="280" r:id="rId20"/>
    <p:sldId id="278"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E5C53-4737-46A4-123A-8EA0CE7885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B4CB27-8650-683E-93B0-1D20A98C6C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041F84-EA0E-EA31-DB21-AC8538CD9D6D}"/>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61AD85E8-FFC9-93BD-FCEE-2A6DFF486C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3BA75-2A30-B604-5132-A679CE79D833}"/>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45867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26E2B-C929-FFD9-2830-F05031871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3B061A-DB6F-F9A7-C979-F86C38A3E9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8A341E-A345-B868-8103-0BDEFF23F267}"/>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D1496B7A-A988-8EC8-4433-AF6703480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876C52-328B-1A04-618E-FEB4028EB38B}"/>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187880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43EB-D966-79CD-8195-85B43CDE37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BC09DB-1BEF-17B8-C549-DDE6C2317F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0A3AD5-4B44-0049-282B-1A5181C453A7}"/>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8437427C-9D52-BE18-2C96-7EBD41B2FE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72FF0-8F5A-C148-A2A3-6355049F1E20}"/>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403292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EC739-C0FE-7752-00C4-87B54DE455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F548EA-A240-A614-8606-E50E2B8D7A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80CB5E-EEA8-9AC2-CCD7-812145FDE0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16659-C2D1-15AB-B8E2-7E1AAD9F355D}"/>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6" name="Footer Placeholder 5">
            <a:extLst>
              <a:ext uri="{FF2B5EF4-FFF2-40B4-BE49-F238E27FC236}">
                <a16:creationId xmlns:a16="http://schemas.microsoft.com/office/drawing/2014/main" id="{DD1E91EF-DC61-3150-1450-5581BEE0F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9F4FC-570C-20C8-7F3A-86364599FABB}"/>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420210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CF848-6F7C-D7A6-2293-3A679077C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554B2B-83C0-6F94-1D0F-EBB622268F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125FDF-D53C-87FF-0326-E876F04827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D259B6-9B45-BA97-14BB-39C287FAB7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D83B7F-32DA-D322-2BB8-6C047ED72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BA97F-22F0-E3BC-00D1-AF3B094BCCBD}"/>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8" name="Footer Placeholder 7">
            <a:extLst>
              <a:ext uri="{FF2B5EF4-FFF2-40B4-BE49-F238E27FC236}">
                <a16:creationId xmlns:a16="http://schemas.microsoft.com/office/drawing/2014/main" id="{ACC3B0E4-4D2D-68F0-7533-D8E73FED89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57FC6-2797-853A-9621-2B427B0652D3}"/>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748397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2122D-CCF1-F332-1E2C-8E2E337B46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8CCBA2-61F6-4803-1198-830952B82894}"/>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4" name="Footer Placeholder 3">
            <a:extLst>
              <a:ext uri="{FF2B5EF4-FFF2-40B4-BE49-F238E27FC236}">
                <a16:creationId xmlns:a16="http://schemas.microsoft.com/office/drawing/2014/main" id="{D5E65E7F-CEE3-C050-6FFB-C571EDF14F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E07EF-0541-DE24-2137-BE8C22F6EE25}"/>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94157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E78525-9519-4084-B638-C417AE25E46F}"/>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3" name="Footer Placeholder 2">
            <a:extLst>
              <a:ext uri="{FF2B5EF4-FFF2-40B4-BE49-F238E27FC236}">
                <a16:creationId xmlns:a16="http://schemas.microsoft.com/office/drawing/2014/main" id="{49E26FF8-C84B-6051-F0C8-115A36D063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DE51C0-D3B9-C51E-2C0B-83F71ACDEB33}"/>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3264122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097A-456C-8A9C-CC98-FB42B05397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27744E-5058-497F-3311-97EED2D29A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A0B507-D46E-51E5-4360-FFA9CC098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1FE744-D3B8-6BAA-1A8B-A552AAB464E6}"/>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6" name="Footer Placeholder 5">
            <a:extLst>
              <a:ext uri="{FF2B5EF4-FFF2-40B4-BE49-F238E27FC236}">
                <a16:creationId xmlns:a16="http://schemas.microsoft.com/office/drawing/2014/main" id="{0B35A384-E218-77AD-2686-0939CE2C66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7F17B1-4441-E236-E72B-BFC05EDA1C52}"/>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149953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7BE0F-8B71-5C1E-E499-FE4E5FEB2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A7A945-38A0-0B57-7FAB-53112E1C2E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F85464-803E-9182-53D7-136CAB618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CCA10-C8B4-EC2A-AF23-5EFBCCC17F19}"/>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6" name="Footer Placeholder 5">
            <a:extLst>
              <a:ext uri="{FF2B5EF4-FFF2-40B4-BE49-F238E27FC236}">
                <a16:creationId xmlns:a16="http://schemas.microsoft.com/office/drawing/2014/main" id="{D438694B-370B-1CFE-0006-4DD7B083E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2E3D17-4324-66A7-02ED-DB8257300A82}"/>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831656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56DDC-0048-4C08-076C-D634FC6412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7648A-AEC9-E4CE-588F-8AF3AF88D9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64530B-29E3-EF6F-0CA9-8D5A9D34A64C}"/>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7DFD3D93-9E63-34A1-77D8-83E8E78CD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CE488-013B-224F-A3FE-D80A4F58009F}"/>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1275846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09BA3B-9541-205E-75AD-6EFE53B2C8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5DCEE6-59A0-BDA0-A55F-9B25522525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4588E-790A-B2A8-F89A-BF1A53D53CDF}"/>
              </a:ext>
            </a:extLst>
          </p:cNvPr>
          <p:cNvSpPr>
            <a:spLocks noGrp="1"/>
          </p:cNvSpPr>
          <p:nvPr>
            <p:ph type="dt" sz="half" idx="10"/>
          </p:nvPr>
        </p:nvSpPr>
        <p:spPr/>
        <p:txBody>
          <a:body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FF7EC9AE-8C63-84E3-37D9-0D8D21CFE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6987FF-F7D9-939A-029B-62DC91F54762}"/>
              </a:ext>
            </a:extLst>
          </p:cNvPr>
          <p:cNvSpPr>
            <a:spLocks noGrp="1"/>
          </p:cNvSpPr>
          <p:nvPr>
            <p:ph type="sldNum" sz="quarter" idx="12"/>
          </p:nvPr>
        </p:nvSpPr>
        <p:spPr/>
        <p:txBody>
          <a:bodyPr/>
          <a:lstStyle/>
          <a:p>
            <a:fld id="{E0FB09B4-D103-9F44-B254-3492FC893978}" type="slidenum">
              <a:rPr lang="en-US" smtClean="0"/>
              <a:t>‹#›</a:t>
            </a:fld>
            <a:endParaRPr lang="en-US"/>
          </a:p>
        </p:txBody>
      </p:sp>
    </p:spTree>
    <p:extLst>
      <p:ext uri="{BB962C8B-B14F-4D97-AF65-F5344CB8AC3E}">
        <p14:creationId xmlns:p14="http://schemas.microsoft.com/office/powerpoint/2010/main" val="144959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66FCC-93B6-CEFB-AF13-13693BB46A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8776B6-E95D-FC24-A7EB-EA06A619FD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3A35E3-89FA-AA62-83DE-100EF557B4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E1507-F84E-0242-8C6D-90C7F30236AB}" type="datetimeFigureOut">
              <a:rPr lang="en-US" smtClean="0"/>
              <a:t>6/20/24</a:t>
            </a:fld>
            <a:endParaRPr lang="en-US"/>
          </a:p>
        </p:txBody>
      </p:sp>
      <p:sp>
        <p:nvSpPr>
          <p:cNvPr id="5" name="Footer Placeholder 4">
            <a:extLst>
              <a:ext uri="{FF2B5EF4-FFF2-40B4-BE49-F238E27FC236}">
                <a16:creationId xmlns:a16="http://schemas.microsoft.com/office/drawing/2014/main" id="{77A0DD4A-A155-D4E2-CE21-E4FD7D9EE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B66259F-DCD4-3BD5-ECC3-DC3A4BE315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FB09B4-D103-9F44-B254-3492FC893978}" type="slidenum">
              <a:rPr lang="en-US" smtClean="0"/>
              <a:t>‹#›</a:t>
            </a:fld>
            <a:endParaRPr lang="en-US"/>
          </a:p>
        </p:txBody>
      </p:sp>
    </p:spTree>
    <p:extLst>
      <p:ext uri="{BB962C8B-B14F-4D97-AF65-F5344CB8AC3E}">
        <p14:creationId xmlns:p14="http://schemas.microsoft.com/office/powerpoint/2010/main" val="191084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87F3-E94F-9784-B4CF-2F5F596580E0}"/>
              </a:ext>
            </a:extLst>
          </p:cNvPr>
          <p:cNvSpPr>
            <a:spLocks noGrp="1"/>
          </p:cNvSpPr>
          <p:nvPr>
            <p:ph type="ctrTitle"/>
          </p:nvPr>
        </p:nvSpPr>
        <p:spPr/>
        <p:txBody>
          <a:bodyPr>
            <a:normAutofit fontScale="90000"/>
          </a:bodyPr>
          <a:lstStyle/>
          <a:p>
            <a:r>
              <a:rPr lang="en-US" dirty="0"/>
              <a:t>The Role of Context in Memory Storage and Retrieval</a:t>
            </a:r>
          </a:p>
        </p:txBody>
      </p:sp>
      <p:sp>
        <p:nvSpPr>
          <p:cNvPr id="3" name="Subtitle 2">
            <a:extLst>
              <a:ext uri="{FF2B5EF4-FFF2-40B4-BE49-F238E27FC236}">
                <a16:creationId xmlns:a16="http://schemas.microsoft.com/office/drawing/2014/main" id="{E91E5AC8-D199-6EFA-731A-0C02DBE339D9}"/>
              </a:ext>
            </a:extLst>
          </p:cNvPr>
          <p:cNvSpPr>
            <a:spLocks noGrp="1"/>
          </p:cNvSpPr>
          <p:nvPr>
            <p:ph type="subTitle" idx="1"/>
          </p:nvPr>
        </p:nvSpPr>
        <p:spPr/>
        <p:txBody>
          <a:bodyPr>
            <a:normAutofit fontScale="92500" lnSpcReduction="20000"/>
          </a:bodyPr>
          <a:lstStyle/>
          <a:p>
            <a:r>
              <a:rPr lang="en-US" sz="3200" dirty="0">
                <a:solidFill>
                  <a:srgbClr val="C00000"/>
                </a:solidFill>
              </a:rPr>
              <a:t>Lea Lai, Indiana University</a:t>
            </a:r>
          </a:p>
          <a:p>
            <a:r>
              <a:rPr lang="en-US" sz="3200" dirty="0">
                <a:solidFill>
                  <a:srgbClr val="C00000"/>
                </a:solidFill>
              </a:rPr>
              <a:t>Richard Shiffrin, Indiana University</a:t>
            </a:r>
          </a:p>
          <a:p>
            <a:endParaRPr lang="en-US" dirty="0">
              <a:solidFill>
                <a:srgbClr val="C00000"/>
              </a:solidFill>
            </a:endParaRPr>
          </a:p>
          <a:p>
            <a:r>
              <a:rPr lang="en-US" dirty="0">
                <a:solidFill>
                  <a:srgbClr val="C00000"/>
                </a:solidFill>
              </a:rPr>
              <a:t>ASIC 2024</a:t>
            </a:r>
          </a:p>
        </p:txBody>
      </p:sp>
    </p:spTree>
    <p:extLst>
      <p:ext uri="{BB962C8B-B14F-4D97-AF65-F5344CB8AC3E}">
        <p14:creationId xmlns:p14="http://schemas.microsoft.com/office/powerpoint/2010/main" val="52965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DECC64-A61E-CADF-686F-08F14CB674DA}"/>
              </a:ext>
            </a:extLst>
          </p:cNvPr>
          <p:cNvSpPr>
            <a:spLocks noGrp="1"/>
          </p:cNvSpPr>
          <p:nvPr>
            <p:ph idx="1"/>
          </p:nvPr>
        </p:nvSpPr>
        <p:spPr>
          <a:xfrm>
            <a:off x="838200" y="212651"/>
            <a:ext cx="10515600" cy="5964312"/>
          </a:xfrm>
        </p:spPr>
        <p:txBody>
          <a:bodyPr>
            <a:normAutofit/>
          </a:bodyPr>
          <a:lstStyle/>
          <a:p>
            <a:r>
              <a:rPr lang="en-US" dirty="0"/>
              <a:t>Context plays a fundamental role in theories of memory storage and retrieval.</a:t>
            </a:r>
          </a:p>
          <a:p>
            <a:endParaRPr lang="en-US" dirty="0"/>
          </a:p>
          <a:p>
            <a:r>
              <a:rPr lang="en-US" dirty="0"/>
              <a:t>What is context? How is it different than content?</a:t>
            </a:r>
          </a:p>
          <a:p>
            <a:pPr marL="0" indent="0">
              <a:buNone/>
            </a:pPr>
            <a:endParaRPr lang="en-US" dirty="0"/>
          </a:p>
        </p:txBody>
      </p:sp>
    </p:spTree>
    <p:extLst>
      <p:ext uri="{BB962C8B-B14F-4D97-AF65-F5344CB8AC3E}">
        <p14:creationId xmlns:p14="http://schemas.microsoft.com/office/powerpoint/2010/main" val="255708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620AA-12A1-4503-BC2E-38DF354090AC}"/>
              </a:ext>
            </a:extLst>
          </p:cNvPr>
          <p:cNvSpPr>
            <a:spLocks noGrp="1"/>
          </p:cNvSpPr>
          <p:nvPr>
            <p:ph idx="1"/>
          </p:nvPr>
        </p:nvSpPr>
        <p:spPr>
          <a:xfrm>
            <a:off x="838200" y="244549"/>
            <a:ext cx="10515600" cy="5932414"/>
          </a:xfrm>
        </p:spPr>
        <p:txBody>
          <a:bodyPr/>
          <a:lstStyle/>
          <a:p>
            <a:r>
              <a:rPr lang="en-US" dirty="0"/>
              <a:t>Content:</a:t>
            </a:r>
          </a:p>
          <a:p>
            <a:endParaRPr lang="en-US" dirty="0"/>
          </a:p>
          <a:p>
            <a:r>
              <a:rPr lang="en-US" dirty="0"/>
              <a:t>When an event is stored in memory some of the information is called ‘content’ and refers to information that distinguishes this event from other similar events that may have occurred in the same setting. Thus during study of a list of words one might encounter “TABLE” and store the visual form, the spelling and the meaning of this word. This content information distinguishes this work from another word studied on the same list, “BOOK”. </a:t>
            </a:r>
          </a:p>
          <a:p>
            <a:endParaRPr lang="en-US" dirty="0"/>
          </a:p>
          <a:p>
            <a:r>
              <a:rPr lang="en-US" dirty="0"/>
              <a:t>Both were studied in the same ‘context’.</a:t>
            </a:r>
          </a:p>
        </p:txBody>
      </p:sp>
    </p:spTree>
    <p:extLst>
      <p:ext uri="{BB962C8B-B14F-4D97-AF65-F5344CB8AC3E}">
        <p14:creationId xmlns:p14="http://schemas.microsoft.com/office/powerpoint/2010/main" val="347887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D4EB83-5CBF-671A-368A-F3AC86B619D9}"/>
              </a:ext>
            </a:extLst>
          </p:cNvPr>
          <p:cNvSpPr>
            <a:spLocks noGrp="1"/>
          </p:cNvSpPr>
          <p:nvPr>
            <p:ph idx="1"/>
          </p:nvPr>
        </p:nvSpPr>
        <p:spPr>
          <a:xfrm>
            <a:off x="838200" y="244549"/>
            <a:ext cx="10515600" cy="5932414"/>
          </a:xfrm>
        </p:spPr>
        <p:txBody>
          <a:bodyPr/>
          <a:lstStyle/>
          <a:p>
            <a:r>
              <a:rPr lang="en-US" dirty="0"/>
              <a:t>Context:</a:t>
            </a:r>
          </a:p>
          <a:p>
            <a:endParaRPr lang="en-US" dirty="0"/>
          </a:p>
          <a:p>
            <a:r>
              <a:rPr lang="en-US" dirty="0"/>
              <a:t>An event stored in memory also includes information about the context in which the event occurs. Thus during study of TABLE the memory stored can include information about the room in which the list was presented, the equipment, the weather, one’s mood, one’s bodily feelings and reactions, any sounds at the time, any other people nearby, and much more along these lines.</a:t>
            </a:r>
          </a:p>
        </p:txBody>
      </p:sp>
    </p:spTree>
    <p:extLst>
      <p:ext uri="{BB962C8B-B14F-4D97-AF65-F5344CB8AC3E}">
        <p14:creationId xmlns:p14="http://schemas.microsoft.com/office/powerpoint/2010/main" val="11952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775B0-3760-368C-8605-494CE11AC648}"/>
              </a:ext>
            </a:extLst>
          </p:cNvPr>
          <p:cNvSpPr>
            <a:spLocks noGrp="1"/>
          </p:cNvSpPr>
          <p:nvPr>
            <p:ph idx="1"/>
          </p:nvPr>
        </p:nvSpPr>
        <p:spPr>
          <a:xfrm>
            <a:off x="838200" y="318977"/>
            <a:ext cx="10515600" cy="5857986"/>
          </a:xfrm>
        </p:spPr>
        <p:txBody>
          <a:bodyPr/>
          <a:lstStyle/>
          <a:p>
            <a:r>
              <a:rPr lang="en-US" dirty="0"/>
              <a:t>Context is critical to enable one to focus retrieval upon events of interest (event storage and retrieval is also called episodic memory). </a:t>
            </a:r>
          </a:p>
          <a:p>
            <a:endParaRPr lang="en-US" dirty="0"/>
          </a:p>
          <a:p>
            <a:r>
              <a:rPr lang="en-US" dirty="0"/>
              <a:t>E.g. if you are asked to recognize whether the word TABLE had been on the list just presented, it is context that will enable you to focus retrieval on the recent occurrence of TABLE rather than the millions of other lifetime events containing that word.</a:t>
            </a:r>
          </a:p>
          <a:p>
            <a:endParaRPr lang="en-US" dirty="0"/>
          </a:p>
          <a:p>
            <a:r>
              <a:rPr lang="en-US" dirty="0"/>
              <a:t>Context is generally assumed to change as time passes and other events intervene (e.g. Mensink &amp; </a:t>
            </a:r>
            <a:r>
              <a:rPr lang="en-US" dirty="0" err="1"/>
              <a:t>Raaijmakers</a:t>
            </a:r>
            <a:r>
              <a:rPr lang="en-US" dirty="0"/>
              <a:t>, 1988).</a:t>
            </a:r>
          </a:p>
        </p:txBody>
      </p:sp>
    </p:spTree>
    <p:extLst>
      <p:ext uri="{BB962C8B-B14F-4D97-AF65-F5344CB8AC3E}">
        <p14:creationId xmlns:p14="http://schemas.microsoft.com/office/powerpoint/2010/main" val="211614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A04D5-EBD8-7C33-8CE5-C6A109804C84}"/>
              </a:ext>
            </a:extLst>
          </p:cNvPr>
          <p:cNvSpPr>
            <a:spLocks noGrp="1"/>
          </p:cNvSpPr>
          <p:nvPr>
            <p:ph idx="1"/>
          </p:nvPr>
        </p:nvSpPr>
        <p:spPr>
          <a:xfrm>
            <a:off x="838200" y="212651"/>
            <a:ext cx="10515600" cy="5964312"/>
          </a:xfrm>
        </p:spPr>
        <p:txBody>
          <a:bodyPr/>
          <a:lstStyle/>
          <a:p>
            <a:r>
              <a:rPr lang="en-US" dirty="0"/>
              <a:t>A few things we know about context from laboratory experiments:</a:t>
            </a:r>
          </a:p>
          <a:p>
            <a:endParaRPr lang="en-US" dirty="0"/>
          </a:p>
          <a:p>
            <a:r>
              <a:rPr lang="en-US" dirty="0"/>
              <a:t>It changes little during study of a list of items, but changes between list study and test. Also likely changes as testing continues: I.e. Testing changes context more than study.</a:t>
            </a:r>
          </a:p>
          <a:p>
            <a:endParaRPr lang="en-US" dirty="0"/>
          </a:p>
          <a:p>
            <a:r>
              <a:rPr lang="en-US" dirty="0"/>
              <a:t>Context is usually stored automatically for a second or two and additional study time is spent on storing content (like meaning): (</a:t>
            </a:r>
            <a:r>
              <a:rPr lang="en-US" dirty="0" err="1"/>
              <a:t>Malmberg</a:t>
            </a:r>
            <a:r>
              <a:rPr lang="en-US" dirty="0"/>
              <a:t> &amp; Shiffrin, 2005). </a:t>
            </a:r>
          </a:p>
          <a:p>
            <a:endParaRPr lang="en-US" dirty="0"/>
          </a:p>
          <a:p>
            <a:r>
              <a:rPr lang="en-US" dirty="0"/>
              <a:t>Context may be stored in a way that integrates it with content, or separately from content (Murnane, Phelps &amp; </a:t>
            </a:r>
            <a:r>
              <a:rPr lang="en-US" dirty="0" err="1"/>
              <a:t>Malmberg</a:t>
            </a:r>
            <a:r>
              <a:rPr lang="en-US" dirty="0"/>
              <a:t> 1999).</a:t>
            </a:r>
          </a:p>
        </p:txBody>
      </p:sp>
    </p:spTree>
    <p:extLst>
      <p:ext uri="{BB962C8B-B14F-4D97-AF65-F5344CB8AC3E}">
        <p14:creationId xmlns:p14="http://schemas.microsoft.com/office/powerpoint/2010/main" val="1706101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CE231-A8F8-3F11-A9EB-76063AFCC8C4}"/>
              </a:ext>
            </a:extLst>
          </p:cNvPr>
          <p:cNvSpPr>
            <a:spLocks noGrp="1"/>
          </p:cNvSpPr>
          <p:nvPr>
            <p:ph idx="1"/>
          </p:nvPr>
        </p:nvSpPr>
        <p:spPr>
          <a:xfrm>
            <a:off x="838200" y="340242"/>
            <a:ext cx="10515600" cy="5836721"/>
          </a:xfrm>
        </p:spPr>
        <p:txBody>
          <a:bodyPr/>
          <a:lstStyle/>
          <a:p>
            <a:r>
              <a:rPr lang="en-US" dirty="0"/>
              <a:t>In most memory studies memory retrieval is probed with current context at the time of test. This focuses retrieval on recent events.</a:t>
            </a:r>
          </a:p>
          <a:p>
            <a:endParaRPr lang="en-US" dirty="0"/>
          </a:p>
          <a:p>
            <a:r>
              <a:rPr lang="en-US" dirty="0"/>
              <a:t>If one desires to retrieve events in the past, can this be facilitated by reconstructing the context at the time of storage? There is not much research, but </a:t>
            </a:r>
            <a:r>
              <a:rPr lang="en-US" dirty="0" err="1"/>
              <a:t>Bauml</a:t>
            </a:r>
            <a:r>
              <a:rPr lang="en-US" dirty="0"/>
              <a:t> and colleagues have recently published such evidence (e.g. </a:t>
            </a:r>
            <a:r>
              <a:rPr lang="en-US" dirty="0" err="1"/>
              <a:t>Bauml</a:t>
            </a:r>
            <a:r>
              <a:rPr lang="en-US" dirty="0"/>
              <a:t> &amp; </a:t>
            </a:r>
            <a:r>
              <a:rPr lang="en-US" dirty="0" err="1"/>
              <a:t>Trissl</a:t>
            </a:r>
            <a:r>
              <a:rPr lang="en-US" dirty="0"/>
              <a:t>, 2022).</a:t>
            </a:r>
          </a:p>
        </p:txBody>
      </p:sp>
    </p:spTree>
    <p:extLst>
      <p:ext uri="{BB962C8B-B14F-4D97-AF65-F5344CB8AC3E}">
        <p14:creationId xmlns:p14="http://schemas.microsoft.com/office/powerpoint/2010/main" val="3547916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EE277-E3CC-FFAF-7750-8E5D86C10D41}"/>
              </a:ext>
            </a:extLst>
          </p:cNvPr>
          <p:cNvSpPr>
            <a:spLocks noGrp="1"/>
          </p:cNvSpPr>
          <p:nvPr>
            <p:ph idx="1"/>
          </p:nvPr>
        </p:nvSpPr>
        <p:spPr>
          <a:xfrm>
            <a:off x="838199" y="265814"/>
            <a:ext cx="10644963" cy="5911149"/>
          </a:xfrm>
        </p:spPr>
        <p:txBody>
          <a:bodyPr/>
          <a:lstStyle/>
          <a:p>
            <a:r>
              <a:rPr lang="en-US" dirty="0"/>
              <a:t>Context is seldom varied in memory experiments.</a:t>
            </a:r>
          </a:p>
          <a:p>
            <a:endParaRPr lang="en-US" dirty="0"/>
          </a:p>
          <a:p>
            <a:r>
              <a:rPr lang="en-US" dirty="0"/>
              <a:t>Occasionally attempts are made to do so, for example by changing the room in which events are studied to a different room for testing.</a:t>
            </a:r>
          </a:p>
          <a:p>
            <a:endParaRPr lang="en-US" dirty="0"/>
          </a:p>
          <a:p>
            <a:r>
              <a:rPr lang="en-US" dirty="0"/>
              <a:t>These attempts generally produce very small effects, probably because the aspect of context manipulated is just one of hundreds of elements that make up context. </a:t>
            </a:r>
          </a:p>
          <a:p>
            <a:endParaRPr lang="en-US" dirty="0"/>
          </a:p>
          <a:p>
            <a:r>
              <a:rPr lang="en-US" dirty="0"/>
              <a:t>Models of context are very primitive, generally assuming little more than the fact that context changes over time and in different settings. </a:t>
            </a:r>
          </a:p>
        </p:txBody>
      </p:sp>
    </p:spTree>
    <p:extLst>
      <p:ext uri="{BB962C8B-B14F-4D97-AF65-F5344CB8AC3E}">
        <p14:creationId xmlns:p14="http://schemas.microsoft.com/office/powerpoint/2010/main" val="2072581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7AD0F-1727-D4E5-3B93-0BB19B6F498C}"/>
              </a:ext>
            </a:extLst>
          </p:cNvPr>
          <p:cNvSpPr>
            <a:spLocks noGrp="1"/>
          </p:cNvSpPr>
          <p:nvPr>
            <p:ph idx="1"/>
          </p:nvPr>
        </p:nvSpPr>
        <p:spPr>
          <a:xfrm>
            <a:off x="838200" y="265814"/>
            <a:ext cx="10515600" cy="5911149"/>
          </a:xfrm>
        </p:spPr>
        <p:txBody>
          <a:bodyPr/>
          <a:lstStyle/>
          <a:p>
            <a:r>
              <a:rPr lang="en-US" dirty="0"/>
              <a:t>The present study was therefore designed to shed light on context and hopefully lead to a detailed model of its role in memory (a model instantiated in the REM framework, given how well REM works).</a:t>
            </a:r>
          </a:p>
          <a:p>
            <a:endParaRPr lang="en-US" dirty="0"/>
          </a:p>
          <a:p>
            <a:r>
              <a:rPr lang="en-US" dirty="0"/>
              <a:t>Participants in Study 1 were tested with recognition for pictures.</a:t>
            </a:r>
          </a:p>
          <a:p>
            <a:endParaRPr lang="en-US" dirty="0"/>
          </a:p>
          <a:p>
            <a:r>
              <a:rPr lang="en-US" dirty="0"/>
              <a:t>Participants in one Study 2 were tested with cued recall for words.</a:t>
            </a:r>
          </a:p>
          <a:p>
            <a:endParaRPr lang="en-US" dirty="0"/>
          </a:p>
          <a:p>
            <a:r>
              <a:rPr lang="en-US" dirty="0"/>
              <a:t>The designs were similar, and accuracy and response time were measured. Today’s talk will focus only on accuracy results in recognition of pictures.</a:t>
            </a:r>
          </a:p>
          <a:p>
            <a:endParaRPr lang="en-US" dirty="0"/>
          </a:p>
        </p:txBody>
      </p:sp>
    </p:spTree>
    <p:extLst>
      <p:ext uri="{BB962C8B-B14F-4D97-AF65-F5344CB8AC3E}">
        <p14:creationId xmlns:p14="http://schemas.microsoft.com/office/powerpoint/2010/main" val="2199227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FD26F-1AD4-FFDE-5BCB-3E226031E0E2}"/>
              </a:ext>
            </a:extLst>
          </p:cNvPr>
          <p:cNvSpPr>
            <a:spLocks noGrp="1"/>
          </p:cNvSpPr>
          <p:nvPr>
            <p:ph idx="1"/>
          </p:nvPr>
        </p:nvSpPr>
        <p:spPr>
          <a:xfrm>
            <a:off x="838200" y="116958"/>
            <a:ext cx="10515600" cy="6060005"/>
          </a:xfrm>
        </p:spPr>
        <p:txBody>
          <a:bodyPr/>
          <a:lstStyle/>
          <a:p>
            <a:r>
              <a:rPr lang="en-US" dirty="0"/>
              <a:t>Participants studied a list of 20 pictures and were then tested for OLD/NEW recognition of ten of the studied pictures (‘Targets’) and ten new pictures (‘Foils’). </a:t>
            </a:r>
          </a:p>
          <a:p>
            <a:endParaRPr lang="en-US" dirty="0"/>
          </a:p>
          <a:p>
            <a:r>
              <a:rPr lang="en-US" dirty="0"/>
              <a:t>They studied and were tested on ten such lists in succession, knowing that targets were only from the list just studied, and foils were always totally new. </a:t>
            </a:r>
          </a:p>
          <a:p>
            <a:endParaRPr lang="en-US" dirty="0"/>
          </a:p>
          <a:p>
            <a:pPr marL="457200" lvl="1" indent="0">
              <a:buNone/>
            </a:pPr>
            <a:endParaRPr lang="en-US" dirty="0"/>
          </a:p>
        </p:txBody>
      </p:sp>
    </p:spTree>
    <p:extLst>
      <p:ext uri="{BB962C8B-B14F-4D97-AF65-F5344CB8AC3E}">
        <p14:creationId xmlns:p14="http://schemas.microsoft.com/office/powerpoint/2010/main" val="124699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7B4E0-8EA1-E6CE-01AF-E93559A1E620}"/>
              </a:ext>
            </a:extLst>
          </p:cNvPr>
          <p:cNvSpPr>
            <a:spLocks noGrp="1"/>
          </p:cNvSpPr>
          <p:nvPr>
            <p:ph idx="1"/>
          </p:nvPr>
        </p:nvSpPr>
        <p:spPr>
          <a:xfrm>
            <a:off x="838200" y="180753"/>
            <a:ext cx="10515600" cy="5996210"/>
          </a:xfrm>
        </p:spPr>
        <p:txBody>
          <a:bodyPr/>
          <a:lstStyle/>
          <a:p>
            <a:r>
              <a:rPr lang="en-US" dirty="0"/>
              <a:t>There was then a brief break for instructions and there was a final recognition test.</a:t>
            </a:r>
          </a:p>
          <a:p>
            <a:endParaRPr lang="en-US" dirty="0"/>
          </a:p>
          <a:p>
            <a:r>
              <a:rPr lang="en-US" dirty="0"/>
              <a:t>In this test, every picture encountered in the first part of the session (termed </a:t>
            </a:r>
            <a:r>
              <a:rPr lang="en-US" b="1" i="1" dirty="0"/>
              <a:t>Initial</a:t>
            </a:r>
            <a:r>
              <a:rPr lang="en-US" dirty="0"/>
              <a:t>) was now a target and required an OLD response. These final targets were all items studied initially but not tested (ten per list), all targets tested initially (ten per list), and all foils tested initially (ten per list). These 300 final targets were mixed with 300 totally new foils, requiring a NEW response.</a:t>
            </a:r>
          </a:p>
        </p:txBody>
      </p:sp>
    </p:spTree>
    <p:extLst>
      <p:ext uri="{BB962C8B-B14F-4D97-AF65-F5344CB8AC3E}">
        <p14:creationId xmlns:p14="http://schemas.microsoft.com/office/powerpoint/2010/main" val="4202297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BF9B3-5C0F-8A92-A365-07F8998843F4}"/>
              </a:ext>
            </a:extLst>
          </p:cNvPr>
          <p:cNvSpPr>
            <a:spLocks noGrp="1"/>
          </p:cNvSpPr>
          <p:nvPr>
            <p:ph idx="1"/>
          </p:nvPr>
        </p:nvSpPr>
        <p:spPr>
          <a:xfrm>
            <a:off x="148856" y="255181"/>
            <a:ext cx="11770242" cy="5921782"/>
          </a:xfrm>
        </p:spPr>
        <p:txBody>
          <a:bodyPr>
            <a:normAutofit lnSpcReduction="10000"/>
          </a:bodyPr>
          <a:lstStyle/>
          <a:p>
            <a:r>
              <a:rPr lang="en-US" dirty="0"/>
              <a:t>There were three groups that differed in the way that final testing was carried out:</a:t>
            </a:r>
          </a:p>
          <a:p>
            <a:endParaRPr lang="en-US" dirty="0"/>
          </a:p>
          <a:p>
            <a:r>
              <a:rPr lang="en-US" dirty="0"/>
              <a:t>The ‘Random’ group had all final targets and foils randomly mixed.</a:t>
            </a:r>
          </a:p>
          <a:p>
            <a:endParaRPr lang="en-US" dirty="0"/>
          </a:p>
          <a:p>
            <a:r>
              <a:rPr lang="en-US" dirty="0"/>
              <a:t>The ‘Forward’ group started final testing with targets from the first list studied: ten pictures studied and not tested, ten pictures studied and tested, and ten foils, 30 final targets mixed with 30 new foils. Then the next initial list, and so on until all pictures were tested. </a:t>
            </a:r>
          </a:p>
          <a:p>
            <a:endParaRPr lang="en-US" dirty="0"/>
          </a:p>
          <a:p>
            <a:r>
              <a:rPr lang="en-US" dirty="0"/>
              <a:t>The ‘Backward’ group started final testing with targets from the last list studied: ten pictures studied and not tested, ten pictures studied and tested, and ten foils, 30 final targets mixed with 30 new foils. Then the next to last initial list, and so on until all pictures were tested. </a:t>
            </a:r>
          </a:p>
          <a:p>
            <a:endParaRPr lang="en-US" dirty="0"/>
          </a:p>
        </p:txBody>
      </p:sp>
    </p:spTree>
    <p:extLst>
      <p:ext uri="{BB962C8B-B14F-4D97-AF65-F5344CB8AC3E}">
        <p14:creationId xmlns:p14="http://schemas.microsoft.com/office/powerpoint/2010/main" val="4192724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64B6D6-F724-7DC5-38C3-8D7157E0F276}"/>
              </a:ext>
            </a:extLst>
          </p:cNvPr>
          <p:cNvSpPr>
            <a:spLocks noGrp="1"/>
          </p:cNvSpPr>
          <p:nvPr>
            <p:ph idx="1"/>
          </p:nvPr>
        </p:nvSpPr>
        <p:spPr>
          <a:xfrm>
            <a:off x="838200" y="255181"/>
            <a:ext cx="10515600" cy="5921782"/>
          </a:xfrm>
        </p:spPr>
        <p:txBody>
          <a:bodyPr/>
          <a:lstStyle/>
          <a:p>
            <a:r>
              <a:rPr lang="en-US" dirty="0"/>
              <a:t>The participants were recruited on the web from Prolific. </a:t>
            </a:r>
          </a:p>
          <a:p>
            <a:endParaRPr lang="en-US" dirty="0"/>
          </a:p>
          <a:p>
            <a:r>
              <a:rPr lang="en-US" dirty="0"/>
              <a:t>The Forward and Backward groups were informed about the order of final testing: Before each of the groups of 60 tests they were told which initial list the new targets were coming from.</a:t>
            </a:r>
          </a:p>
          <a:p>
            <a:endParaRPr lang="en-US" dirty="0"/>
          </a:p>
          <a:p>
            <a:r>
              <a:rPr lang="en-US" dirty="0"/>
              <a:t>These Forward and Backward groups were designed to assess the possibility that knowledge of what earlier list was being tested would enable the probe of memory to use context appropriate for that list, producing different and better retrieval than the random condition.</a:t>
            </a:r>
          </a:p>
        </p:txBody>
      </p:sp>
    </p:spTree>
    <p:extLst>
      <p:ext uri="{BB962C8B-B14F-4D97-AF65-F5344CB8AC3E}">
        <p14:creationId xmlns:p14="http://schemas.microsoft.com/office/powerpoint/2010/main" val="4084846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A0699-69C8-F31B-A4E2-6FBBC1D6EB2D}"/>
              </a:ext>
            </a:extLst>
          </p:cNvPr>
          <p:cNvSpPr>
            <a:spLocks noGrp="1"/>
          </p:cNvSpPr>
          <p:nvPr>
            <p:ph idx="1"/>
          </p:nvPr>
        </p:nvSpPr>
        <p:spPr>
          <a:xfrm>
            <a:off x="838200" y="222422"/>
            <a:ext cx="10515600" cy="5954541"/>
          </a:xfrm>
        </p:spPr>
        <p:txBody>
          <a:bodyPr/>
          <a:lstStyle/>
          <a:p>
            <a:r>
              <a:rPr lang="en-US" b="1" i="1" dirty="0"/>
              <a:t>Within list </a:t>
            </a:r>
            <a:r>
              <a:rPr lang="en-US" dirty="0"/>
              <a:t>results during </a:t>
            </a:r>
            <a:r>
              <a:rPr lang="en-US" b="1" i="1" dirty="0"/>
              <a:t>Initial Testing:</a:t>
            </a:r>
          </a:p>
        </p:txBody>
      </p:sp>
      <p:pic>
        <p:nvPicPr>
          <p:cNvPr id="7" name="Picture 6" descr="A graph of different colored lines&#10;&#10;Description automatically generated with medium confidence">
            <a:extLst>
              <a:ext uri="{FF2B5EF4-FFF2-40B4-BE49-F238E27FC236}">
                <a16:creationId xmlns:a16="http://schemas.microsoft.com/office/drawing/2014/main" id="{9094A468-6A0D-82ED-2913-97E98CD11502}"/>
              </a:ext>
            </a:extLst>
          </p:cNvPr>
          <p:cNvPicPr>
            <a:picLocks noChangeAspect="1"/>
          </p:cNvPicPr>
          <p:nvPr/>
        </p:nvPicPr>
        <p:blipFill>
          <a:blip r:embed="rId2"/>
          <a:stretch>
            <a:fillRect/>
          </a:stretch>
        </p:blipFill>
        <p:spPr>
          <a:xfrm>
            <a:off x="1377950" y="889000"/>
            <a:ext cx="10192264" cy="5487086"/>
          </a:xfrm>
          <a:prstGeom prst="rect">
            <a:avLst/>
          </a:prstGeom>
        </p:spPr>
      </p:pic>
    </p:spTree>
    <p:extLst>
      <p:ext uri="{BB962C8B-B14F-4D97-AF65-F5344CB8AC3E}">
        <p14:creationId xmlns:p14="http://schemas.microsoft.com/office/powerpoint/2010/main" val="687938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A0699-69C8-F31B-A4E2-6FBBC1D6EB2D}"/>
              </a:ext>
            </a:extLst>
          </p:cNvPr>
          <p:cNvSpPr>
            <a:spLocks noGrp="1"/>
          </p:cNvSpPr>
          <p:nvPr>
            <p:ph idx="1"/>
          </p:nvPr>
        </p:nvSpPr>
        <p:spPr>
          <a:xfrm>
            <a:off x="130585" y="1158949"/>
            <a:ext cx="11852308" cy="5411972"/>
          </a:xfrm>
        </p:spPr>
        <p:txBody>
          <a:bodyPr>
            <a:normAutofit fontScale="77500" lnSpcReduction="20000"/>
          </a:bodyPr>
          <a:lstStyle/>
          <a:p>
            <a:r>
              <a:rPr lang="en-US" dirty="0"/>
              <a:t>Within list results during Initial Testing:</a:t>
            </a:r>
          </a:p>
          <a:p>
            <a:endParaRPr lang="en-US" dirty="0"/>
          </a:p>
          <a:p>
            <a:r>
              <a:rPr lang="en-US" dirty="0"/>
              <a:t>There is some primacy and a small</a:t>
            </a:r>
          </a:p>
          <a:p>
            <a:pPr marL="0" indent="0">
              <a:buNone/>
            </a:pPr>
            <a:r>
              <a:rPr lang="en-US" dirty="0"/>
              <a:t>     amount of recency when</a:t>
            </a:r>
          </a:p>
          <a:p>
            <a:pPr marL="0" indent="0">
              <a:buNone/>
            </a:pPr>
            <a:r>
              <a:rPr lang="en-US" dirty="0"/>
              <a:t>    we analyze by study position. </a:t>
            </a:r>
          </a:p>
          <a:p>
            <a:endParaRPr lang="en-US" dirty="0"/>
          </a:p>
          <a:p>
            <a:r>
              <a:rPr lang="en-US" dirty="0"/>
              <a:t>There is no evidence for output interference (OI) when we analyze by test position for the 10 target tests and ten foil tests for our pictures. Previous research found strong OI for words and for many more tests than ten. Our new REM model might explain this if it includes a first stage filter that only activates sufficiently strong traces (see comment below), and context changes during testing. </a:t>
            </a:r>
          </a:p>
          <a:p>
            <a:endParaRPr lang="en-US" dirty="0"/>
          </a:p>
          <a:p>
            <a:r>
              <a:rPr lang="en-US" dirty="0"/>
              <a:t>Overall there are higher correct responses to foils (‘correct rejections’ or CRs) than to targets (‘hits’ or Hs). However the difference decreases as testing continues. Our current best model to explain these results stores traces judged new during testing and strengthens traces judged old. It also has a first stage filter that only activates traces similar to both context and content in the probe of memory. This selectively activates traces more similar to the probe than would occur without testing effects.</a:t>
            </a:r>
          </a:p>
        </p:txBody>
      </p:sp>
      <p:pic>
        <p:nvPicPr>
          <p:cNvPr id="7" name="Picture 6" descr="A graph of different colored lines&#10;&#10;Description automatically generated with medium confidence">
            <a:extLst>
              <a:ext uri="{FF2B5EF4-FFF2-40B4-BE49-F238E27FC236}">
                <a16:creationId xmlns:a16="http://schemas.microsoft.com/office/drawing/2014/main" id="{FECA2ACD-9F43-AE03-B983-DE028BEDCA8A}"/>
              </a:ext>
            </a:extLst>
          </p:cNvPr>
          <p:cNvPicPr>
            <a:picLocks noChangeAspect="1"/>
          </p:cNvPicPr>
          <p:nvPr/>
        </p:nvPicPr>
        <p:blipFill>
          <a:blip r:embed="rId2"/>
          <a:stretch>
            <a:fillRect/>
          </a:stretch>
        </p:blipFill>
        <p:spPr>
          <a:xfrm>
            <a:off x="6781025" y="407087"/>
            <a:ext cx="5280390" cy="2842740"/>
          </a:xfrm>
          <a:prstGeom prst="rect">
            <a:avLst/>
          </a:prstGeom>
        </p:spPr>
      </p:pic>
    </p:spTree>
    <p:extLst>
      <p:ext uri="{BB962C8B-B14F-4D97-AF65-F5344CB8AC3E}">
        <p14:creationId xmlns:p14="http://schemas.microsoft.com/office/powerpoint/2010/main" val="1204225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05D0BA-A38F-EA0F-E1B8-583E8E66FF21}"/>
              </a:ext>
            </a:extLst>
          </p:cNvPr>
          <p:cNvSpPr>
            <a:spLocks noGrp="1"/>
          </p:cNvSpPr>
          <p:nvPr>
            <p:ph idx="1"/>
          </p:nvPr>
        </p:nvSpPr>
        <p:spPr>
          <a:xfrm>
            <a:off x="838200" y="234778"/>
            <a:ext cx="10515600" cy="5942185"/>
          </a:xfrm>
        </p:spPr>
        <p:txBody>
          <a:bodyPr>
            <a:normAutofit fontScale="92500" lnSpcReduction="20000"/>
          </a:bodyPr>
          <a:lstStyle/>
          <a:p>
            <a:r>
              <a:rPr lang="en-US" dirty="0"/>
              <a:t>To elaborate: We must add storage of information in memory during periods of recognition testing. Tests judged NEW cause storage of a new trace. Tests judged OLD are sometimes (perhaps most times) accompanied by trace recall. That recalled trace is strengthened by adding information from the test item. </a:t>
            </a:r>
          </a:p>
          <a:p>
            <a:endParaRPr lang="en-US" dirty="0"/>
          </a:p>
          <a:p>
            <a:r>
              <a:rPr lang="en-US" dirty="0"/>
              <a:t>According to REM 1997, strengthening a trace reduces its similarity to any different test item tested later. This shift increases the odds for a foil or different target tested later, increasing correct rejections and decreasing hits.</a:t>
            </a:r>
          </a:p>
          <a:p>
            <a:endParaRPr lang="en-US" dirty="0"/>
          </a:p>
          <a:p>
            <a:r>
              <a:rPr lang="en-US" dirty="0"/>
              <a:t>To ‘fix’ these predictions we add a filter that will prevent activation of traces that match the probe too poorly on the basis of both context features and content features. This filter will tend </a:t>
            </a:r>
            <a:r>
              <a:rPr lang="en-US" b="1" i="1" u="sng" dirty="0"/>
              <a:t>not</a:t>
            </a:r>
            <a:r>
              <a:rPr lang="en-US" dirty="0"/>
              <a:t> to activate strengthened traces because they become less similar.  Removing these traces increases the odds, lowers correct rejections and increases hits, and will do so more and more as testing continues, producing the results shown.</a:t>
            </a:r>
          </a:p>
        </p:txBody>
      </p:sp>
    </p:spTree>
    <p:extLst>
      <p:ext uri="{BB962C8B-B14F-4D97-AF65-F5344CB8AC3E}">
        <p14:creationId xmlns:p14="http://schemas.microsoft.com/office/powerpoint/2010/main" val="89702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31867-1FF0-FF51-13C3-25E6096A0920}"/>
              </a:ext>
            </a:extLst>
          </p:cNvPr>
          <p:cNvSpPr>
            <a:spLocks noGrp="1"/>
          </p:cNvSpPr>
          <p:nvPr>
            <p:ph idx="1"/>
          </p:nvPr>
        </p:nvSpPr>
        <p:spPr>
          <a:xfrm>
            <a:off x="838200" y="202019"/>
            <a:ext cx="10515600" cy="5974944"/>
          </a:xfrm>
        </p:spPr>
        <p:txBody>
          <a:bodyPr/>
          <a:lstStyle/>
          <a:p>
            <a:r>
              <a:rPr lang="en-US" b="1" i="1" dirty="0"/>
              <a:t>Final test results by study and test position within list initially. </a:t>
            </a:r>
            <a:endParaRPr lang="en-US" dirty="0"/>
          </a:p>
        </p:txBody>
      </p:sp>
      <p:pic>
        <p:nvPicPr>
          <p:cNvPr id="6" name="Picture 5" descr="A graph of different colored lines&#10;&#10;Description automatically generated">
            <a:extLst>
              <a:ext uri="{FF2B5EF4-FFF2-40B4-BE49-F238E27FC236}">
                <a16:creationId xmlns:a16="http://schemas.microsoft.com/office/drawing/2014/main" id="{96A0142F-489C-9A8B-492E-AE13539EDC1D}"/>
              </a:ext>
            </a:extLst>
          </p:cNvPr>
          <p:cNvPicPr>
            <a:picLocks noChangeAspect="1"/>
          </p:cNvPicPr>
          <p:nvPr/>
        </p:nvPicPr>
        <p:blipFill>
          <a:blip r:embed="rId2"/>
          <a:stretch>
            <a:fillRect/>
          </a:stretch>
        </p:blipFill>
        <p:spPr>
          <a:xfrm>
            <a:off x="609771" y="681037"/>
            <a:ext cx="7772400" cy="3448680"/>
          </a:xfrm>
          <a:prstGeom prst="rect">
            <a:avLst/>
          </a:prstGeom>
        </p:spPr>
      </p:pic>
      <p:sp>
        <p:nvSpPr>
          <p:cNvPr id="7" name="TextBox 6">
            <a:extLst>
              <a:ext uri="{FF2B5EF4-FFF2-40B4-BE49-F238E27FC236}">
                <a16:creationId xmlns:a16="http://schemas.microsoft.com/office/drawing/2014/main" id="{29D73689-97FE-C2CA-F096-D92DE3DD75CF}"/>
              </a:ext>
            </a:extLst>
          </p:cNvPr>
          <p:cNvSpPr txBox="1"/>
          <p:nvPr/>
        </p:nvSpPr>
        <p:spPr>
          <a:xfrm>
            <a:off x="737956" y="3993182"/>
            <a:ext cx="10615844" cy="2893100"/>
          </a:xfrm>
          <a:prstGeom prst="rect">
            <a:avLst/>
          </a:prstGeom>
          <a:noFill/>
        </p:spPr>
        <p:txBody>
          <a:bodyPr wrap="square" rtlCol="0">
            <a:spAutoFit/>
          </a:bodyPr>
          <a:lstStyle/>
          <a:p>
            <a:r>
              <a:rPr lang="en-US" sz="2600" dirty="0"/>
              <a:t>1)Initial study position matters little in final testing.</a:t>
            </a:r>
          </a:p>
          <a:p>
            <a:endParaRPr lang="en-US" sz="2600" dirty="0"/>
          </a:p>
          <a:p>
            <a:r>
              <a:rPr lang="en-US" sz="2600" dirty="0"/>
              <a:t>2) The later an item is tested initially, after each list, the better it is recognized in final testing. </a:t>
            </a:r>
          </a:p>
          <a:p>
            <a:r>
              <a:rPr lang="en-US" sz="2600" dirty="0"/>
              <a:t>      One possibility: Targets tested later might have an increased probability of ‘recalling’ its trace, due perhaps to associations with pictures recalled earlier in testing. </a:t>
            </a:r>
          </a:p>
        </p:txBody>
      </p:sp>
    </p:spTree>
    <p:extLst>
      <p:ext uri="{BB962C8B-B14F-4D97-AF65-F5344CB8AC3E}">
        <p14:creationId xmlns:p14="http://schemas.microsoft.com/office/powerpoint/2010/main" val="2461206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3C95BA-25CD-85F4-2AEC-F35DB1FF58E0}"/>
              </a:ext>
            </a:extLst>
          </p:cNvPr>
          <p:cNvPicPr>
            <a:picLocks noGrp="1" noChangeAspect="1"/>
          </p:cNvPicPr>
          <p:nvPr>
            <p:ph idx="1"/>
          </p:nvPr>
        </p:nvPicPr>
        <p:blipFill>
          <a:blip r:embed="rId2"/>
          <a:stretch>
            <a:fillRect/>
          </a:stretch>
        </p:blipFill>
        <p:spPr>
          <a:xfrm>
            <a:off x="4301226" y="467544"/>
            <a:ext cx="7846344" cy="4242679"/>
          </a:xfrm>
        </p:spPr>
      </p:pic>
      <p:sp>
        <p:nvSpPr>
          <p:cNvPr id="6" name="TextBox 5">
            <a:extLst>
              <a:ext uri="{FF2B5EF4-FFF2-40B4-BE49-F238E27FC236}">
                <a16:creationId xmlns:a16="http://schemas.microsoft.com/office/drawing/2014/main" id="{B51D87B3-62E5-7CF7-E248-95F236E60E9A}"/>
              </a:ext>
            </a:extLst>
          </p:cNvPr>
          <p:cNvSpPr txBox="1"/>
          <p:nvPr/>
        </p:nvSpPr>
        <p:spPr>
          <a:xfrm>
            <a:off x="753762" y="296562"/>
            <a:ext cx="10708136" cy="523220"/>
          </a:xfrm>
          <a:prstGeom prst="rect">
            <a:avLst/>
          </a:prstGeom>
          <a:noFill/>
        </p:spPr>
        <p:txBody>
          <a:bodyPr wrap="square" rtlCol="0">
            <a:spAutoFit/>
          </a:bodyPr>
          <a:lstStyle/>
          <a:p>
            <a:r>
              <a:rPr lang="en-US" sz="2800" dirty="0"/>
              <a:t>Final Test Results by Initial List Position:  </a:t>
            </a:r>
          </a:p>
        </p:txBody>
      </p:sp>
      <p:sp>
        <p:nvSpPr>
          <p:cNvPr id="2" name="TextBox 1">
            <a:extLst>
              <a:ext uri="{FF2B5EF4-FFF2-40B4-BE49-F238E27FC236}">
                <a16:creationId xmlns:a16="http://schemas.microsoft.com/office/drawing/2014/main" id="{E9CDEAD2-B7D8-EC68-C951-1F59662AD624}"/>
              </a:ext>
            </a:extLst>
          </p:cNvPr>
          <p:cNvSpPr txBox="1"/>
          <p:nvPr/>
        </p:nvSpPr>
        <p:spPr>
          <a:xfrm>
            <a:off x="68091" y="819782"/>
            <a:ext cx="4233136" cy="4524315"/>
          </a:xfrm>
          <a:prstGeom prst="rect">
            <a:avLst/>
          </a:prstGeom>
          <a:noFill/>
        </p:spPr>
        <p:txBody>
          <a:bodyPr wrap="square" rtlCol="0">
            <a:spAutoFit/>
          </a:bodyPr>
          <a:lstStyle/>
          <a:p>
            <a:r>
              <a:rPr lang="en-US" sz="2400" dirty="0"/>
              <a:t>REM generally predicts correct rejections to be higher than hits, on average.</a:t>
            </a:r>
          </a:p>
          <a:p>
            <a:endParaRPr lang="en-US" sz="2400" dirty="0"/>
          </a:p>
          <a:p>
            <a:r>
              <a:rPr lang="en-US" sz="2400" dirty="0"/>
              <a:t>The decrease in both hits and</a:t>
            </a:r>
          </a:p>
          <a:p>
            <a:r>
              <a:rPr lang="en-US" sz="2400" dirty="0"/>
              <a:t> performance as lists continue</a:t>
            </a:r>
          </a:p>
          <a:p>
            <a:r>
              <a:rPr lang="en-US" sz="2400" dirty="0"/>
              <a:t> could be due to activation of</a:t>
            </a:r>
          </a:p>
          <a:p>
            <a:r>
              <a:rPr lang="en-US" sz="2400" dirty="0"/>
              <a:t> traces from prior lists. Why</a:t>
            </a:r>
          </a:p>
          <a:p>
            <a:r>
              <a:rPr lang="en-US" sz="2400" dirty="0"/>
              <a:t> this is seen for hits only</a:t>
            </a:r>
          </a:p>
          <a:p>
            <a:r>
              <a:rPr lang="en-US" sz="2400" dirty="0"/>
              <a:t> depends on the details of how</a:t>
            </a:r>
          </a:p>
          <a:p>
            <a:r>
              <a:rPr lang="en-US" sz="2400" dirty="0"/>
              <a:t> REM is extended.</a:t>
            </a:r>
          </a:p>
          <a:p>
            <a:endParaRPr lang="en-US" sz="2400" dirty="0"/>
          </a:p>
        </p:txBody>
      </p:sp>
    </p:spTree>
    <p:extLst>
      <p:ext uri="{BB962C8B-B14F-4D97-AF65-F5344CB8AC3E}">
        <p14:creationId xmlns:p14="http://schemas.microsoft.com/office/powerpoint/2010/main" val="3781900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different colored lines&#10;&#10;Description automatically generated">
            <a:extLst>
              <a:ext uri="{FF2B5EF4-FFF2-40B4-BE49-F238E27FC236}">
                <a16:creationId xmlns:a16="http://schemas.microsoft.com/office/drawing/2014/main" id="{BA22BD4E-8BD2-AD26-33A8-CB7AF3C9C035}"/>
              </a:ext>
            </a:extLst>
          </p:cNvPr>
          <p:cNvPicPr>
            <a:picLocks noGrp="1" noChangeAspect="1"/>
          </p:cNvPicPr>
          <p:nvPr>
            <p:ph idx="1"/>
          </p:nvPr>
        </p:nvPicPr>
        <p:blipFill>
          <a:blip r:embed="rId2"/>
          <a:stretch>
            <a:fillRect/>
          </a:stretch>
        </p:blipFill>
        <p:spPr>
          <a:xfrm>
            <a:off x="1168400" y="2211604"/>
            <a:ext cx="8346303" cy="4646395"/>
          </a:xfrm>
        </p:spPr>
      </p:pic>
      <p:sp>
        <p:nvSpPr>
          <p:cNvPr id="6" name="TextBox 5">
            <a:extLst>
              <a:ext uri="{FF2B5EF4-FFF2-40B4-BE49-F238E27FC236}">
                <a16:creationId xmlns:a16="http://schemas.microsoft.com/office/drawing/2014/main" id="{1952A291-8F5C-D4A2-954D-C10A385C53C0}"/>
              </a:ext>
            </a:extLst>
          </p:cNvPr>
          <p:cNvSpPr txBox="1"/>
          <p:nvPr/>
        </p:nvSpPr>
        <p:spPr>
          <a:xfrm>
            <a:off x="159489" y="166960"/>
            <a:ext cx="13469694" cy="2246769"/>
          </a:xfrm>
          <a:prstGeom prst="rect">
            <a:avLst/>
          </a:prstGeom>
          <a:noFill/>
        </p:spPr>
        <p:txBody>
          <a:bodyPr wrap="square" rtlCol="0">
            <a:spAutoFit/>
          </a:bodyPr>
          <a:lstStyle/>
          <a:p>
            <a:r>
              <a:rPr lang="en-US" sz="2000" dirty="0"/>
              <a:t>Final test performance as a function of initial list position (1-10) is best seen in the</a:t>
            </a:r>
          </a:p>
          <a:p>
            <a:r>
              <a:rPr lang="en-US" sz="2000" dirty="0"/>
              <a:t> random order testing condition. There is some modest primacy and recency. </a:t>
            </a:r>
          </a:p>
          <a:p>
            <a:endParaRPr lang="en-US" sz="2000" dirty="0"/>
          </a:p>
          <a:p>
            <a:r>
              <a:rPr lang="en-US" sz="2000" dirty="0"/>
              <a:t>Most striking, pictures studied only and foils tested only are similar and exhibit poor</a:t>
            </a:r>
          </a:p>
          <a:p>
            <a:r>
              <a:rPr lang="en-US" sz="2000" dirty="0"/>
              <a:t> performance, suggesting each have produced a similar strength trace, one during study and the other</a:t>
            </a:r>
          </a:p>
          <a:p>
            <a:r>
              <a:rPr lang="en-US" sz="2000" dirty="0"/>
              <a:t> during testing. The much better performance for items both studied and tested is likely due to trace </a:t>
            </a:r>
          </a:p>
          <a:p>
            <a:r>
              <a:rPr lang="en-US" sz="2000" dirty="0"/>
              <a:t> storage and strengthening during testing.</a:t>
            </a:r>
          </a:p>
        </p:txBody>
      </p:sp>
    </p:spTree>
    <p:extLst>
      <p:ext uri="{BB962C8B-B14F-4D97-AF65-F5344CB8AC3E}">
        <p14:creationId xmlns:p14="http://schemas.microsoft.com/office/powerpoint/2010/main" val="1523562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of different colored lines&#10;&#10;Description automatically generated">
            <a:extLst>
              <a:ext uri="{FF2B5EF4-FFF2-40B4-BE49-F238E27FC236}">
                <a16:creationId xmlns:a16="http://schemas.microsoft.com/office/drawing/2014/main" id="{CBC75EB6-AB7D-256D-9D99-87005F5EE28A}"/>
              </a:ext>
            </a:extLst>
          </p:cNvPr>
          <p:cNvPicPr>
            <a:picLocks noGrp="1" noChangeAspect="1"/>
          </p:cNvPicPr>
          <p:nvPr>
            <p:ph idx="1"/>
          </p:nvPr>
        </p:nvPicPr>
        <p:blipFill>
          <a:blip r:embed="rId2"/>
          <a:stretch>
            <a:fillRect/>
          </a:stretch>
        </p:blipFill>
        <p:spPr>
          <a:xfrm>
            <a:off x="5593547" y="155018"/>
            <a:ext cx="6774483" cy="5984875"/>
          </a:xfrm>
        </p:spPr>
      </p:pic>
      <p:sp>
        <p:nvSpPr>
          <p:cNvPr id="7" name="TextBox 6">
            <a:extLst>
              <a:ext uri="{FF2B5EF4-FFF2-40B4-BE49-F238E27FC236}">
                <a16:creationId xmlns:a16="http://schemas.microsoft.com/office/drawing/2014/main" id="{E15839DB-2B33-FDA2-1AD2-D9716BBF7A0F}"/>
              </a:ext>
            </a:extLst>
          </p:cNvPr>
          <p:cNvSpPr txBox="1"/>
          <p:nvPr/>
        </p:nvSpPr>
        <p:spPr>
          <a:xfrm>
            <a:off x="383059" y="469557"/>
            <a:ext cx="5332742" cy="4524315"/>
          </a:xfrm>
          <a:prstGeom prst="rect">
            <a:avLst/>
          </a:prstGeom>
          <a:noFill/>
        </p:spPr>
        <p:txBody>
          <a:bodyPr wrap="none" rtlCol="0">
            <a:spAutoFit/>
          </a:bodyPr>
          <a:lstStyle/>
          <a:p>
            <a:r>
              <a:rPr lang="en-US" sz="2400" dirty="0"/>
              <a:t>Analysis by final testing position shows</a:t>
            </a:r>
          </a:p>
          <a:p>
            <a:r>
              <a:rPr lang="en-US" sz="2400" dirty="0"/>
              <a:t> output interference (OI), as expected. </a:t>
            </a:r>
          </a:p>
          <a:p>
            <a:endParaRPr lang="en-US" sz="2400" dirty="0"/>
          </a:p>
          <a:p>
            <a:r>
              <a:rPr lang="en-US" sz="2400" dirty="0"/>
              <a:t>There appear to be some differences in</a:t>
            </a:r>
          </a:p>
          <a:p>
            <a:r>
              <a:rPr lang="en-US" sz="2400" dirty="0"/>
              <a:t> the amount of OI between random, </a:t>
            </a:r>
          </a:p>
          <a:p>
            <a:r>
              <a:rPr lang="en-US" sz="2400" dirty="0"/>
              <a:t> forward, and backward conditions,</a:t>
            </a:r>
          </a:p>
          <a:p>
            <a:r>
              <a:rPr lang="en-US" sz="2400" dirty="0"/>
              <a:t> and if so that might suggest different</a:t>
            </a:r>
          </a:p>
          <a:p>
            <a:r>
              <a:rPr lang="en-US" sz="2400" dirty="0"/>
              <a:t> context cues used in these conditions.</a:t>
            </a:r>
          </a:p>
          <a:p>
            <a:endParaRPr lang="en-US" sz="2400" dirty="0"/>
          </a:p>
          <a:p>
            <a:r>
              <a:rPr lang="en-US" sz="2400" dirty="0"/>
              <a:t>However, the existence of such effects</a:t>
            </a:r>
          </a:p>
          <a:p>
            <a:r>
              <a:rPr lang="en-US" sz="2400" dirty="0"/>
              <a:t> needs to be established with careful</a:t>
            </a:r>
          </a:p>
          <a:p>
            <a:r>
              <a:rPr lang="en-US" sz="2400" dirty="0"/>
              <a:t> modeling. </a:t>
            </a:r>
          </a:p>
        </p:txBody>
      </p:sp>
    </p:spTree>
    <p:extLst>
      <p:ext uri="{BB962C8B-B14F-4D97-AF65-F5344CB8AC3E}">
        <p14:creationId xmlns:p14="http://schemas.microsoft.com/office/powerpoint/2010/main" val="1372219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95BA8-85C0-A941-52F7-0753D3599AC5}"/>
              </a:ext>
            </a:extLst>
          </p:cNvPr>
          <p:cNvSpPr>
            <a:spLocks noGrp="1"/>
          </p:cNvSpPr>
          <p:nvPr>
            <p:ph idx="1"/>
          </p:nvPr>
        </p:nvSpPr>
        <p:spPr>
          <a:xfrm>
            <a:off x="838200" y="347700"/>
            <a:ext cx="10515600" cy="4351338"/>
          </a:xfrm>
        </p:spPr>
        <p:txBody>
          <a:bodyPr/>
          <a:lstStyle/>
          <a:p>
            <a:r>
              <a:rPr lang="en-US" dirty="0"/>
              <a:t>Thank you.</a:t>
            </a:r>
          </a:p>
        </p:txBody>
      </p:sp>
    </p:spTree>
    <p:extLst>
      <p:ext uri="{BB962C8B-B14F-4D97-AF65-F5344CB8AC3E}">
        <p14:creationId xmlns:p14="http://schemas.microsoft.com/office/powerpoint/2010/main" val="2887466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4291</TotalTime>
  <Words>1732</Words>
  <Application>Microsoft Macintosh PowerPoint</Application>
  <PresentationFormat>Widescreen</PresentationFormat>
  <Paragraphs>113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The Role of Context in Memory Storage and Retrieval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Shiffrin, Richard M.</dc:creator>
  <cp:lastModifiedBy>Shiffrin, Richard M.</cp:lastModifiedBy>
  <cp:revision>34</cp:revision>
  <dcterms:created xsi:type="dcterms:W3CDTF">2024-06-03T18:23:09Z</dcterms:created>
  <dcterms:modified xsi:type="dcterms:W3CDTF">2024-06-20T18:33:38Z</dcterms:modified>
</cp:coreProperties>
</file>