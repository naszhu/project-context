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y="6858000" cx="12192000"/>
  <p:notesSz cx="6858000" cy="9144000"/>
  <p:embeddedFontLst>
    <p:embeddedFont>
      <p:font typeface="Play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ju8ZwvRd/I3/S4WfEJDpa9cpmv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lay-regular.fntdata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customschemas.google.com/relationships/presentationmetadata" Target="metadata"/><Relationship Id="rId10" Type="http://schemas.openxmlformats.org/officeDocument/2006/relationships/slide" Target="slides/slide6.xml"/><Relationship Id="rId32" Type="http://schemas.openxmlformats.org/officeDocument/2006/relationships/font" Target="fonts/Play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746d354e6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8746d354e6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28746d354e6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8746d354e6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8746d354e6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28746d354e6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8747c234f3_0_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8747c234f3_0_1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28747c234f3_0_1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8747c234f3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8747c234f3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28747c234f3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Foil studied origianll, now targets</a:t>
            </a:r>
            <a:endParaRPr/>
          </a:p>
        </p:txBody>
      </p:sp>
      <p:sp>
        <p:nvSpPr>
          <p:cNvPr id="254" name="Google Shape;25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8747c234f3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28747c234f3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28747c234f3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8747c234f3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28747c234f3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28747c234f3_0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8747c234f3_0_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28747c234f3_0_1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28747c234f3_0_1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Point to the dot while presenting the left column panel, make sure say black is average</a:t>
            </a:r>
            <a:endParaRPr/>
          </a:p>
        </p:txBody>
      </p:sp>
      <p:sp>
        <p:nvSpPr>
          <p:cNvPr id="382" name="Google Shape;38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Strengthening predict output interference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Reasons to strengthen: answer list strengthen effect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(Criss, Malmberg, Shiffrin, 2011)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(Kilic, Criss, Malmberg, Shiffrin, 2017) </a:t>
            </a:r>
            <a:endParaRPr/>
          </a:p>
        </p:txBody>
      </p:sp>
      <p:sp>
        <p:nvSpPr>
          <p:cNvPr id="389" name="Google Shape;38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Intiial lack an “L” here.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Fix the plot here.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Osth, Denis, have been looking list length effect, and this kind of interference is called by “context noise” from prior lists.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Our model assume accumulated tarces, activate item from prior lists</a:t>
            </a:r>
            <a:endParaRPr/>
          </a:p>
        </p:txBody>
      </p:sp>
      <p:sp>
        <p:nvSpPr>
          <p:cNvPr id="413" name="Google Shape;41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Ask for potential interpretations , (FIT Kahana group’s work) </a:t>
            </a:r>
            <a:endParaRPr/>
          </a:p>
        </p:txBody>
      </p:sp>
      <p:sp>
        <p:nvSpPr>
          <p:cNvPr id="423" name="Google Shape;42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28747c234f3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28747c234f3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g28747c234f3_0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28747c234f3_0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28747c234f3_0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g28747c234f3_0_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28747c234f3_0_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28747c234f3_0_1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g28747c234f3_0_1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7" name="Google Shape;3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/>
              <a:t>The Role of Context in Memory Storage and Retrieval  </a:t>
            </a:r>
            <a:br>
              <a:rPr lang="en-US" sz="4000"/>
            </a:br>
            <a:r>
              <a:rPr lang="en-US" sz="4000"/>
              <a:t>-- </a:t>
            </a:r>
            <a:r>
              <a:rPr lang="en-US" sz="2800"/>
              <a:t>Insights from Recognition and Recall Studies through Computational Modeling</a:t>
            </a:r>
            <a:endParaRPr sz="4000"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440873" y="457185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0000"/>
              </a:buClr>
              <a:buSzPts val="1600"/>
              <a:buNone/>
            </a:pPr>
            <a:r>
              <a:rPr lang="en-US" sz="1600">
                <a:solidFill>
                  <a:srgbClr val="8E0000"/>
                </a:solidFill>
              </a:rPr>
              <a:t>Lea (Shuchun) Lai, Indiana University</a:t>
            </a:r>
            <a:endParaRPr sz="1600">
              <a:solidFill>
                <a:srgbClr val="8E0000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E0000"/>
              </a:buClr>
              <a:buSzPts val="1600"/>
              <a:buNone/>
            </a:pPr>
            <a:r>
              <a:rPr lang="en-US" sz="1600">
                <a:solidFill>
                  <a:srgbClr val="8E0000"/>
                </a:solidFill>
              </a:rPr>
              <a:t>Committee members: Richard Shiffrin, Rob Nosofsky, Jerome Busemeyer, Michael Trosset</a:t>
            </a:r>
            <a:endParaRPr sz="1600">
              <a:solidFill>
                <a:srgbClr val="8E0000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E0000"/>
              </a:buClr>
              <a:buSzPts val="1600"/>
              <a:buNone/>
            </a:pPr>
            <a:r>
              <a:rPr lang="en-US" sz="1600">
                <a:solidFill>
                  <a:srgbClr val="8E0000"/>
                </a:solidFill>
              </a:rPr>
              <a:t>Sep 6, 2024</a:t>
            </a:r>
            <a:endParaRPr sz="1600">
              <a:solidFill>
                <a:srgbClr val="8E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Memory Components</a:t>
            </a:r>
            <a:endParaRPr/>
          </a:p>
        </p:txBody>
      </p:sp>
      <p:sp>
        <p:nvSpPr>
          <p:cNvPr id="95" name="Google Shape;95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/>
              <a:t>Memory Components</a:t>
            </a:r>
            <a:endParaRPr b="1" sz="2100"/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b="1" lang="en-US" sz="2100"/>
              <a:t>Content</a:t>
            </a:r>
            <a:r>
              <a:rPr lang="en-US" sz="2100"/>
              <a:t>: Specific details distinguishing one memory from another.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-US" sz="2100"/>
              <a:t>Context</a:t>
            </a:r>
            <a:r>
              <a:rPr lang="en-US" sz="2100"/>
              <a:t>: Situational details surrounding events, often consistent for nearby events.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/>
              <a:t>Role of Context in Retrieval</a:t>
            </a:r>
            <a:endParaRPr b="1" sz="2100"/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Focuses retrieval on specific events, fundamental to episodic memory.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Example: Studying a word list produces content and shared context traces.</a:t>
            </a:r>
            <a:endParaRPr sz="3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8746d354e6_0_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Contextual Dynamics in Memory</a:t>
            </a:r>
            <a:endParaRPr/>
          </a:p>
        </p:txBody>
      </p:sp>
      <p:sp>
        <p:nvSpPr>
          <p:cNvPr id="102" name="Google Shape;102;g28746d354e6_0_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/>
              <a:t>Context Change Over Time</a:t>
            </a:r>
            <a:endParaRPr b="1"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Gradual change with time and new events (Mensink &amp; Raaijmakers, 1988).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Context shifts more during testing than during study phases.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/>
              <a:t>Temporal Features of Context and Memory Storage</a:t>
            </a:r>
            <a:endParaRPr b="1"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Context are stored automatically for a brief time.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Content (e.g., item meaning) requires more study time (Malmberg &amp; Shiffrin, 2005).</a:t>
            </a:r>
            <a:endParaRPr sz="3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8746d354e6_0_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Theories and Open Questions in Memory</a:t>
            </a:r>
            <a:endParaRPr/>
          </a:p>
        </p:txBody>
      </p:sp>
      <p:sp>
        <p:nvSpPr>
          <p:cNvPr id="109" name="Google Shape;109;g28746d354e6_0_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/>
              <a:t>Integration of Content and Context</a:t>
            </a:r>
            <a:endParaRPr b="1"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Unclear if context is integrated or stored separately (Murnane, Phelps &amp; Malmberg, 1999).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Retrieval often uses current context, focusing on recent events.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/>
              <a:t>Key Research Question</a:t>
            </a:r>
            <a:endParaRPr b="1"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Can reconstructing original context improve retrieval of past events? Evidence suggests it’s possible (Bauml &amp; Trissl, 2022).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300"/>
              <a:t>Experimental Challenges</a:t>
            </a:r>
            <a:endParaRPr b="1" sz="2300"/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Char char="●"/>
            </a:pPr>
            <a:r>
              <a:rPr lang="en-US" sz="2300"/>
              <a:t>Varying context in memory studies often yields minimal effects.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US" sz="2300"/>
              <a:t>Need for more detailed models of context change over time</a:t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115" name="Google Shape;115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9400" lvl="0" marL="2286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600"/>
              <a:buFont typeface="Play"/>
              <a:buAutoNum type="arabicPeriod"/>
            </a:pPr>
            <a:r>
              <a:rPr b="1" lang="en-US" sz="2600">
                <a:latin typeface="Times New Roman"/>
                <a:ea typeface="Times New Roman"/>
                <a:cs typeface="Times New Roman"/>
                <a:sym typeface="Times New Roman"/>
              </a:rPr>
              <a:t>Using refined experimental design 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to investigate the role of context in memory storage and retrieval.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2286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600"/>
              <a:buFont typeface="Play"/>
              <a:buAutoNum type="arabicPeriod"/>
            </a:pPr>
            <a:r>
              <a:rPr b="1" lang="en-US" sz="2600">
                <a:latin typeface="Times New Roman"/>
                <a:ea typeface="Times New Roman"/>
                <a:cs typeface="Times New Roman"/>
                <a:sym typeface="Times New Roman"/>
              </a:rPr>
              <a:t>Develop and refine a computational model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 of event memory that captures context's influence.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2286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600"/>
              <a:buFont typeface="Play"/>
              <a:buAutoNum type="arabicPeriod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Produce a model that explains differences between different memory tasks in recognition and cued recall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 performance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8747c234f3_0_1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/>
              <a:t>Published Study</a:t>
            </a:r>
            <a:r>
              <a:rPr lang="en-US" sz="1600"/>
              <a:t>: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Recently published research on joint use of </a:t>
            </a:r>
            <a:r>
              <a:rPr b="1" lang="en-US" sz="1600"/>
              <a:t>long-term</a:t>
            </a:r>
            <a:r>
              <a:rPr lang="en-US" sz="1600"/>
              <a:t> and </a:t>
            </a:r>
            <a:r>
              <a:rPr b="1" lang="en-US" sz="1600"/>
              <a:t>short-term memory</a:t>
            </a:r>
            <a:r>
              <a:rPr lang="en-US" sz="1600"/>
              <a:t> in short-term probe recognition (Lai, Cao &amp; Shiffrin, 2024).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Model emphasizes the important role of context in memory.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This study will not be covered in detail in the presentation.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/>
              <a:t>Two studies</a:t>
            </a:r>
            <a:r>
              <a:rPr lang="en-US" sz="1600"/>
              <a:t>: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/>
              <a:t>Study 1</a:t>
            </a:r>
            <a:r>
              <a:rPr lang="en-US" sz="1600"/>
              <a:t>: Participants tested on </a:t>
            </a:r>
            <a:r>
              <a:rPr b="1" lang="en-US" sz="1600"/>
              <a:t>picture recognition</a:t>
            </a:r>
            <a:r>
              <a:rPr lang="en-US" sz="1600"/>
              <a:t>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/>
              <a:t>Study 2</a:t>
            </a:r>
            <a:r>
              <a:rPr lang="en-US" sz="1600"/>
              <a:t>: Participants tested on </a:t>
            </a:r>
            <a:r>
              <a:rPr b="1" lang="en-US" sz="1600"/>
              <a:t>cued recall for words</a:t>
            </a:r>
            <a:r>
              <a:rPr lang="en-US" sz="1600"/>
              <a:t>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Both studies used </a:t>
            </a:r>
            <a:r>
              <a:rPr b="1" lang="en-US" sz="1600"/>
              <a:t>accuracy</a:t>
            </a:r>
            <a:r>
              <a:rPr lang="en-US" sz="1600"/>
              <a:t> and </a:t>
            </a:r>
            <a:r>
              <a:rPr b="1" lang="en-US" sz="1600"/>
              <a:t>response time</a:t>
            </a:r>
            <a:r>
              <a:rPr lang="en-US" sz="1600"/>
              <a:t> as key measures.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/>
              <a:t>Future Work</a:t>
            </a:r>
            <a:r>
              <a:rPr lang="en-US" sz="1600"/>
              <a:t>: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At least one additional study is planned to further investigate these issues.</a:t>
            </a:r>
            <a:endParaRPr sz="3300"/>
          </a:p>
        </p:txBody>
      </p:sp>
      <p:sp>
        <p:nvSpPr>
          <p:cNvPr id="122" name="Google Shape;122;g28747c234f3_0_1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Structure of the Dissertation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/>
          <p:nvPr>
            <p:ph type="title"/>
          </p:nvPr>
        </p:nvSpPr>
        <p:spPr>
          <a:xfrm>
            <a:off x="894175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Modeling Objectives (on basis of REM)</a:t>
            </a:r>
            <a:endParaRPr/>
          </a:p>
        </p:txBody>
      </p:sp>
      <p:sp>
        <p:nvSpPr>
          <p:cNvPr id="128" name="Google Shape;128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AutoNum type="arabicPeriod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The focus will be on variants of the REM model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(Retrieving Effectively from Memory), because it has been one of the most 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simplest and successful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model of recognition memory for events. 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AutoNum type="arabicPeriod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REM was designed to produce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optimal decisions 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for recognition of items studied on lists;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the dissertation will explore its ability to predict cued recall.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AutoNum type="arabicPeriod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Other models will be discussed 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and to the extent possible compared to REM. 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AutoNum type="arabicPeriod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The primary goal will be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 prediction of the form of data patterns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from many studies, not just predicting the results from our new studies quantitatively.  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9400" lvl="0" marL="2286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2600"/>
              <a:buFont typeface="Play"/>
              <a:buAutoNum type="arabicPeriod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Participants tested on recognition and/or cued recall in two phases of study.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2286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2600"/>
              <a:buFont typeface="Play"/>
              <a:buAutoNum type="arabicPeriod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First, several lists of words or pictures are studied, each followed by tests of cued recall or recognition.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2286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2600"/>
              <a:buFont typeface="Play"/>
              <a:buAutoNum type="arabicPeriod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Second, at session end there will be recognition or cued recall tests of all items seen during session.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2286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2600"/>
              <a:buFont typeface="Play"/>
              <a:buAutoNum type="arabicPeriod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Some groups of the end session will be provided information about the prior studied list of the test item. Other groups will not.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2286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2600"/>
              <a:buFont typeface="Play"/>
              <a:buAutoNum type="arabicPeriod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Key measures: accuracy and response time.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Methodology of the current studies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Current Progress</a:t>
            </a:r>
            <a:endParaRPr/>
          </a:p>
        </p:txBody>
      </p:sp>
      <p:sp>
        <p:nvSpPr>
          <p:cNvPr id="140" name="Google Shape;140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Two studies using web participants have been completed thus far.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There are 200 participants recruited for study 1, and 375 participants recruited for study 2.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Analysis of study 1 mostly finished, modeling of study 1 ongoing.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8747c234f3_0_1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Study 1 – Recognition for Pictures (Overview)</a:t>
            </a:r>
            <a:endParaRPr/>
          </a:p>
        </p:txBody>
      </p:sp>
      <p:sp>
        <p:nvSpPr>
          <p:cNvPr id="147" name="Google Shape;147;g28747c234f3_0_1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600"/>
              <a:t>Objective</a:t>
            </a:r>
            <a:r>
              <a:rPr lang="en-US" sz="1600"/>
              <a:t>: To examine how context affects recognition of pictures.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600"/>
              <a:t>Participants</a:t>
            </a:r>
            <a:r>
              <a:rPr lang="en-US" sz="1600"/>
              <a:t>: 150 participants recruited from Prolific. 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/>
              <a:t>Design</a:t>
            </a:r>
            <a:r>
              <a:rPr lang="en-US" sz="1700"/>
              <a:t>: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10 lists of 20 pictures each (200 total).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Digital counting task used between study lists to clear short-term memory.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Two phases of tests: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b="1" lang="en-US" sz="1700"/>
              <a:t>Phase 1 (Initial test)</a:t>
            </a:r>
            <a:r>
              <a:rPr lang="en-US" sz="1700"/>
              <a:t>: Immediate recognition test with 10 target pictures (from the study list) and 10 foils.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b="1" lang="en-US" sz="1700"/>
              <a:t>Phase 2 (Final test)</a:t>
            </a:r>
            <a:r>
              <a:rPr lang="en-US" sz="1700"/>
              <a:t>: Final test with 210 targets and 210 new foils.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/>
              <a:t>Picture Recognition Study Procedure (Overview)</a:t>
            </a:r>
            <a:endParaRPr/>
          </a:p>
        </p:txBody>
      </p:sp>
      <p:grpSp>
        <p:nvGrpSpPr>
          <p:cNvPr id="154" name="Google Shape;154;p11"/>
          <p:cNvGrpSpPr/>
          <p:nvPr/>
        </p:nvGrpSpPr>
        <p:grpSpPr>
          <a:xfrm>
            <a:off x="5727553" y="1627533"/>
            <a:ext cx="6146163" cy="4853603"/>
            <a:chOff x="5727553" y="1627533"/>
            <a:chExt cx="6146163" cy="4853603"/>
          </a:xfrm>
        </p:grpSpPr>
        <p:sp>
          <p:nvSpPr>
            <p:cNvPr id="155" name="Google Shape;155;p11"/>
            <p:cNvSpPr txBox="1"/>
            <p:nvPr/>
          </p:nvSpPr>
          <p:spPr>
            <a:xfrm>
              <a:off x="5778482" y="1627533"/>
              <a:ext cx="6095234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Final Test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(Testing only):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Continuous tests of all from initial</a:t>
              </a:r>
              <a:endParaRPr/>
            </a:p>
          </p:txBody>
        </p:sp>
        <p:sp>
          <p:nvSpPr>
            <p:cNvPr id="156" name="Google Shape;156;p11"/>
            <p:cNvSpPr/>
            <p:nvPr/>
          </p:nvSpPr>
          <p:spPr>
            <a:xfrm>
              <a:off x="5727554" y="2655501"/>
              <a:ext cx="6029183" cy="1108056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Forward group</a:t>
              </a:r>
              <a:endParaRPr/>
            </a:p>
          </p:txBody>
        </p:sp>
        <p:sp>
          <p:nvSpPr>
            <p:cNvPr id="157" name="Google Shape;157;p11"/>
            <p:cNvSpPr/>
            <p:nvPr/>
          </p:nvSpPr>
          <p:spPr>
            <a:xfrm>
              <a:off x="5727554" y="4060577"/>
              <a:ext cx="6029183" cy="1100105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Backward group</a:t>
              </a: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>
              <a:off x="5727553" y="5373080"/>
              <a:ext cx="6029183" cy="1108056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Random group</a:t>
              </a:r>
              <a:endParaRPr/>
            </a:p>
          </p:txBody>
        </p:sp>
        <p:grpSp>
          <p:nvGrpSpPr>
            <p:cNvPr id="159" name="Google Shape;159;p11"/>
            <p:cNvGrpSpPr/>
            <p:nvPr/>
          </p:nvGrpSpPr>
          <p:grpSpPr>
            <a:xfrm>
              <a:off x="8577379" y="5771829"/>
              <a:ext cx="2644865" cy="586736"/>
              <a:chOff x="6571310" y="2538794"/>
              <a:chExt cx="2644865" cy="586736"/>
            </a:xfrm>
          </p:grpSpPr>
          <p:sp>
            <p:nvSpPr>
              <p:cNvPr id="160" name="Google Shape;160;p11"/>
              <p:cNvSpPr/>
              <p:nvPr/>
            </p:nvSpPr>
            <p:spPr>
              <a:xfrm>
                <a:off x="7662617" y="2964705"/>
                <a:ext cx="225154" cy="160825"/>
              </a:xfrm>
              <a:prstGeom prst="rect">
                <a:avLst/>
              </a:prstGeom>
              <a:solidFill>
                <a:schemeClr val="accent6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>
                <a:off x="7298848" y="2964705"/>
                <a:ext cx="225154" cy="160825"/>
              </a:xfrm>
              <a:prstGeom prst="rect">
                <a:avLst/>
              </a:prstGeom>
              <a:solidFill>
                <a:srgbClr val="FFC000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>
                <a:off x="6935079" y="2964705"/>
                <a:ext cx="225154" cy="160825"/>
              </a:xfrm>
              <a:prstGeom prst="rect">
                <a:avLst/>
              </a:prstGeom>
              <a:solidFill>
                <a:schemeClr val="accent1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11"/>
              <p:cNvSpPr/>
              <p:nvPr/>
            </p:nvSpPr>
            <p:spPr>
              <a:xfrm>
                <a:off x="6571310" y="2964705"/>
                <a:ext cx="225154" cy="160825"/>
              </a:xfrm>
              <a:prstGeom prst="rect">
                <a:avLst/>
              </a:prstGeom>
              <a:solidFill>
                <a:schemeClr val="accent6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11"/>
              <p:cNvSpPr/>
              <p:nvPr/>
            </p:nvSpPr>
            <p:spPr>
              <a:xfrm>
                <a:off x="8026386" y="2964705"/>
                <a:ext cx="225154" cy="160825"/>
              </a:xfrm>
              <a:prstGeom prst="rect">
                <a:avLst/>
              </a:prstGeom>
              <a:solidFill>
                <a:schemeClr val="accent4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65" name="Google Shape;165;p11"/>
              <p:cNvCxnSpPr/>
              <p:nvPr/>
            </p:nvCxnSpPr>
            <p:spPr>
              <a:xfrm>
                <a:off x="8469069" y="2967769"/>
                <a:ext cx="0" cy="183799"/>
              </a:xfrm>
              <a:prstGeom prst="straightConnector1">
                <a:avLst/>
              </a:prstGeom>
              <a:noFill/>
              <a:ln cap="rnd" cmpd="sng" w="38100">
                <a:solidFill>
                  <a:schemeClr val="accent1"/>
                </a:solidFill>
                <a:prstDash val="dot"/>
                <a:bevel/>
                <a:headEnd len="sm" w="sm" type="none"/>
                <a:tailEnd len="sm" w="sm" type="none"/>
              </a:ln>
            </p:spPr>
          </p:cxnSp>
          <p:cxnSp>
            <p:nvCxnSpPr>
              <p:cNvPr id="166" name="Google Shape;166;p11"/>
              <p:cNvCxnSpPr/>
              <p:nvPr/>
            </p:nvCxnSpPr>
            <p:spPr>
              <a:xfrm>
                <a:off x="8842623" y="2967912"/>
                <a:ext cx="0" cy="183799"/>
              </a:xfrm>
              <a:prstGeom prst="straightConnector1">
                <a:avLst/>
              </a:prstGeom>
              <a:noFill/>
              <a:ln cap="rnd" cmpd="sng" w="38100">
                <a:solidFill>
                  <a:schemeClr val="accent1"/>
                </a:solidFill>
                <a:prstDash val="dot"/>
                <a:bevel/>
                <a:headEnd len="sm" w="sm" type="none"/>
                <a:tailEnd len="sm" w="sm" type="none"/>
              </a:ln>
            </p:spPr>
          </p:cxnSp>
          <p:cxnSp>
            <p:nvCxnSpPr>
              <p:cNvPr id="167" name="Google Shape;167;p11"/>
              <p:cNvCxnSpPr/>
              <p:nvPr/>
            </p:nvCxnSpPr>
            <p:spPr>
              <a:xfrm>
                <a:off x="9124276" y="2958414"/>
                <a:ext cx="0" cy="183799"/>
              </a:xfrm>
              <a:prstGeom prst="straightConnector1">
                <a:avLst/>
              </a:prstGeom>
              <a:noFill/>
              <a:ln cap="rnd" cmpd="sng" w="38100">
                <a:solidFill>
                  <a:schemeClr val="accent1"/>
                </a:solidFill>
                <a:prstDash val="dot"/>
                <a:bevel/>
                <a:headEnd len="sm" w="sm" type="none"/>
                <a:tailEnd len="sm" w="sm" type="none"/>
              </a:ln>
            </p:spPr>
          </p:cxnSp>
          <p:sp>
            <p:nvSpPr>
              <p:cNvPr id="168" name="Google Shape;168;p11"/>
              <p:cNvSpPr txBox="1"/>
              <p:nvPr/>
            </p:nvSpPr>
            <p:spPr>
              <a:xfrm>
                <a:off x="6994658" y="2538794"/>
                <a:ext cx="1847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7183642" y="3039639"/>
              <a:ext cx="4068315" cy="675825"/>
              <a:chOff x="5752132" y="3037933"/>
              <a:chExt cx="4068315" cy="675825"/>
            </a:xfrm>
          </p:grpSpPr>
          <p:grpSp>
            <p:nvGrpSpPr>
              <p:cNvPr id="170" name="Google Shape;170;p11"/>
              <p:cNvGrpSpPr/>
              <p:nvPr/>
            </p:nvGrpSpPr>
            <p:grpSpPr>
              <a:xfrm>
                <a:off x="5752132" y="3037933"/>
                <a:ext cx="3954471" cy="586736"/>
                <a:chOff x="5187185" y="2538794"/>
                <a:chExt cx="3954471" cy="586736"/>
              </a:xfrm>
            </p:grpSpPr>
            <p:sp>
              <p:nvSpPr>
                <p:cNvPr id="171" name="Google Shape;171;p11"/>
                <p:cNvSpPr/>
                <p:nvPr/>
              </p:nvSpPr>
              <p:spPr>
                <a:xfrm>
                  <a:off x="7662617" y="2964705"/>
                  <a:ext cx="225154" cy="160825"/>
                </a:xfrm>
                <a:prstGeom prst="rect">
                  <a:avLst/>
                </a:prstGeom>
                <a:solidFill>
                  <a:schemeClr val="accent6"/>
                </a:solidFill>
                <a:ln cap="flat" cmpd="sng" w="19050">
                  <a:solidFill>
                    <a:srgbClr val="08283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2" name="Google Shape;172;p11"/>
                <p:cNvSpPr/>
                <p:nvPr/>
              </p:nvSpPr>
              <p:spPr>
                <a:xfrm>
                  <a:off x="7298848" y="2964705"/>
                  <a:ext cx="225154" cy="160825"/>
                </a:xfrm>
                <a:prstGeom prst="rect">
                  <a:avLst/>
                </a:prstGeom>
                <a:solidFill>
                  <a:srgbClr val="FFC000"/>
                </a:solidFill>
                <a:ln cap="flat" cmpd="sng" w="19050">
                  <a:solidFill>
                    <a:srgbClr val="08283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" name="Google Shape;173;p11"/>
                <p:cNvSpPr/>
                <p:nvPr/>
              </p:nvSpPr>
              <p:spPr>
                <a:xfrm>
                  <a:off x="6935079" y="2964705"/>
                  <a:ext cx="225154" cy="160825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9050">
                  <a:solidFill>
                    <a:srgbClr val="08283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" name="Google Shape;174;p11"/>
                <p:cNvSpPr/>
                <p:nvPr/>
              </p:nvSpPr>
              <p:spPr>
                <a:xfrm>
                  <a:off x="6571310" y="2964705"/>
                  <a:ext cx="225154" cy="160825"/>
                </a:xfrm>
                <a:prstGeom prst="rect">
                  <a:avLst/>
                </a:prstGeom>
                <a:solidFill>
                  <a:schemeClr val="accent6"/>
                </a:solidFill>
                <a:ln cap="flat" cmpd="sng" w="19050">
                  <a:solidFill>
                    <a:srgbClr val="08283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" name="Google Shape;175;p11"/>
                <p:cNvSpPr/>
                <p:nvPr/>
              </p:nvSpPr>
              <p:spPr>
                <a:xfrm>
                  <a:off x="8026386" y="2964705"/>
                  <a:ext cx="225154" cy="160825"/>
                </a:xfrm>
                <a:prstGeom prst="rect">
                  <a:avLst/>
                </a:prstGeom>
                <a:solidFill>
                  <a:schemeClr val="accent4"/>
                </a:solidFill>
                <a:ln cap="flat" cmpd="sng" w="19050">
                  <a:solidFill>
                    <a:srgbClr val="08283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76" name="Google Shape;176;p11"/>
                <p:cNvCxnSpPr/>
                <p:nvPr/>
              </p:nvCxnSpPr>
              <p:spPr>
                <a:xfrm>
                  <a:off x="8469069" y="2967769"/>
                  <a:ext cx="0" cy="183799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1"/>
                  </a:solidFill>
                  <a:prstDash val="dot"/>
                  <a:bevel/>
                  <a:headEnd len="sm" w="sm" type="none"/>
                  <a:tailEnd len="sm" w="sm" type="none"/>
                </a:ln>
              </p:spPr>
            </p:cxnSp>
            <p:cxnSp>
              <p:nvCxnSpPr>
                <p:cNvPr id="177" name="Google Shape;177;p11"/>
                <p:cNvCxnSpPr/>
                <p:nvPr/>
              </p:nvCxnSpPr>
              <p:spPr>
                <a:xfrm>
                  <a:off x="8842623" y="2967912"/>
                  <a:ext cx="0" cy="183799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1"/>
                  </a:solidFill>
                  <a:prstDash val="dot"/>
                  <a:bevel/>
                  <a:headEnd len="sm" w="sm" type="none"/>
                  <a:tailEnd len="sm" w="sm" type="none"/>
                </a:ln>
              </p:spPr>
            </p:cxnSp>
            <p:sp>
              <p:nvSpPr>
                <p:cNvPr id="178" name="Google Shape;178;p11"/>
                <p:cNvSpPr txBox="1"/>
                <p:nvPr/>
              </p:nvSpPr>
              <p:spPr>
                <a:xfrm>
                  <a:off x="5187185" y="2538794"/>
                  <a:ext cx="3954471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rgbClr val="1F5C99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List 1   2     ...</a:t>
                  </a:r>
                  <a:endParaRPr/>
                </a:p>
              </p:txBody>
            </p:sp>
          </p:grpSp>
          <p:cxnSp>
            <p:nvCxnSpPr>
              <p:cNvPr id="179" name="Google Shape;179;p11"/>
              <p:cNvCxnSpPr/>
              <p:nvPr/>
            </p:nvCxnSpPr>
            <p:spPr>
              <a:xfrm>
                <a:off x="8892988" y="3119718"/>
                <a:ext cx="0" cy="59404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0" name="Google Shape;180;p11"/>
              <p:cNvCxnSpPr/>
              <p:nvPr/>
            </p:nvCxnSpPr>
            <p:spPr>
              <a:xfrm>
                <a:off x="9728548" y="3466908"/>
                <a:ext cx="0" cy="183799"/>
              </a:xfrm>
              <a:prstGeom prst="straightConnector1">
                <a:avLst/>
              </a:prstGeom>
              <a:noFill/>
              <a:ln cap="rnd" cmpd="sng" w="38100">
                <a:solidFill>
                  <a:schemeClr val="accent1"/>
                </a:solidFill>
                <a:prstDash val="dot"/>
                <a:bevel/>
                <a:headEnd len="sm" w="sm" type="none"/>
                <a:tailEnd len="sm" w="sm" type="none"/>
              </a:ln>
            </p:spPr>
          </p:cxnSp>
          <p:cxnSp>
            <p:nvCxnSpPr>
              <p:cNvPr id="181" name="Google Shape;181;p11"/>
              <p:cNvCxnSpPr/>
              <p:nvPr/>
            </p:nvCxnSpPr>
            <p:spPr>
              <a:xfrm>
                <a:off x="9224682" y="3110245"/>
                <a:ext cx="0" cy="59404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2" name="Google Shape;182;p11"/>
              <p:cNvCxnSpPr/>
              <p:nvPr/>
            </p:nvCxnSpPr>
            <p:spPr>
              <a:xfrm>
                <a:off x="9606935" y="3110245"/>
                <a:ext cx="0" cy="59404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83" name="Google Shape;183;p11"/>
            <p:cNvGrpSpPr/>
            <p:nvPr/>
          </p:nvGrpSpPr>
          <p:grpSpPr>
            <a:xfrm>
              <a:off x="7339752" y="4440351"/>
              <a:ext cx="3945383" cy="603513"/>
              <a:chOff x="5875064" y="3110245"/>
              <a:chExt cx="3945383" cy="603513"/>
            </a:xfrm>
          </p:grpSpPr>
          <p:grpSp>
            <p:nvGrpSpPr>
              <p:cNvPr id="184" name="Google Shape;184;p11"/>
              <p:cNvGrpSpPr/>
              <p:nvPr/>
            </p:nvGrpSpPr>
            <p:grpSpPr>
              <a:xfrm>
                <a:off x="5875064" y="3131957"/>
                <a:ext cx="3758934" cy="492712"/>
                <a:chOff x="5310117" y="2632818"/>
                <a:chExt cx="3758934" cy="492712"/>
              </a:xfrm>
            </p:grpSpPr>
            <p:sp>
              <p:nvSpPr>
                <p:cNvPr id="185" name="Google Shape;185;p11"/>
                <p:cNvSpPr/>
                <p:nvPr/>
              </p:nvSpPr>
              <p:spPr>
                <a:xfrm>
                  <a:off x="7662617" y="2964705"/>
                  <a:ext cx="225154" cy="160825"/>
                </a:xfrm>
                <a:prstGeom prst="rect">
                  <a:avLst/>
                </a:prstGeom>
                <a:solidFill>
                  <a:schemeClr val="accent6"/>
                </a:solidFill>
                <a:ln cap="flat" cmpd="sng" w="19050">
                  <a:solidFill>
                    <a:srgbClr val="08283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6" name="Google Shape;186;p11"/>
                <p:cNvSpPr/>
                <p:nvPr/>
              </p:nvSpPr>
              <p:spPr>
                <a:xfrm>
                  <a:off x="7298848" y="2964705"/>
                  <a:ext cx="225154" cy="160825"/>
                </a:xfrm>
                <a:prstGeom prst="rect">
                  <a:avLst/>
                </a:prstGeom>
                <a:solidFill>
                  <a:srgbClr val="FFC000"/>
                </a:solidFill>
                <a:ln cap="flat" cmpd="sng" w="19050">
                  <a:solidFill>
                    <a:srgbClr val="08283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7" name="Google Shape;187;p11"/>
                <p:cNvSpPr/>
                <p:nvPr/>
              </p:nvSpPr>
              <p:spPr>
                <a:xfrm>
                  <a:off x="6935079" y="2964705"/>
                  <a:ext cx="225154" cy="160825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9050">
                  <a:solidFill>
                    <a:srgbClr val="08283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8" name="Google Shape;188;p11"/>
                <p:cNvSpPr/>
                <p:nvPr/>
              </p:nvSpPr>
              <p:spPr>
                <a:xfrm>
                  <a:off x="6571310" y="2964705"/>
                  <a:ext cx="225154" cy="160825"/>
                </a:xfrm>
                <a:prstGeom prst="rect">
                  <a:avLst/>
                </a:prstGeom>
                <a:solidFill>
                  <a:schemeClr val="accent6"/>
                </a:solidFill>
                <a:ln cap="flat" cmpd="sng" w="19050">
                  <a:solidFill>
                    <a:srgbClr val="08283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9" name="Google Shape;189;p11"/>
                <p:cNvSpPr/>
                <p:nvPr/>
              </p:nvSpPr>
              <p:spPr>
                <a:xfrm>
                  <a:off x="8026386" y="2964705"/>
                  <a:ext cx="225154" cy="160825"/>
                </a:xfrm>
                <a:prstGeom prst="rect">
                  <a:avLst/>
                </a:prstGeom>
                <a:solidFill>
                  <a:schemeClr val="accent4"/>
                </a:solidFill>
                <a:ln cap="flat" cmpd="sng" w="19050">
                  <a:solidFill>
                    <a:srgbClr val="08283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90" name="Google Shape;190;p11"/>
                <p:cNvCxnSpPr/>
                <p:nvPr/>
              </p:nvCxnSpPr>
              <p:spPr>
                <a:xfrm>
                  <a:off x="8469069" y="2967769"/>
                  <a:ext cx="0" cy="183799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1"/>
                  </a:solidFill>
                  <a:prstDash val="dot"/>
                  <a:bevel/>
                  <a:headEnd len="sm" w="sm" type="none"/>
                  <a:tailEnd len="sm" w="sm" type="none"/>
                </a:ln>
              </p:spPr>
            </p:cxnSp>
            <p:cxnSp>
              <p:nvCxnSpPr>
                <p:cNvPr id="191" name="Google Shape;191;p11"/>
                <p:cNvCxnSpPr/>
                <p:nvPr/>
              </p:nvCxnSpPr>
              <p:spPr>
                <a:xfrm>
                  <a:off x="8842623" y="2967912"/>
                  <a:ext cx="0" cy="183799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1"/>
                  </a:solidFill>
                  <a:prstDash val="dot"/>
                  <a:bevel/>
                  <a:headEnd len="sm" w="sm" type="none"/>
                  <a:tailEnd len="sm" w="sm" type="none"/>
                </a:ln>
              </p:spPr>
            </p:cxnSp>
            <p:sp>
              <p:nvSpPr>
                <p:cNvPr id="192" name="Google Shape;192;p11"/>
                <p:cNvSpPr txBox="1"/>
                <p:nvPr/>
              </p:nvSpPr>
              <p:spPr>
                <a:xfrm>
                  <a:off x="5310117" y="2632818"/>
                  <a:ext cx="375893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rgbClr val="1F5C99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List 10</a:t>
                  </a:r>
                  <a:r>
                    <a:rPr lang="en-US" sz="1800">
                      <a:solidFill>
                        <a:srgbClr val="1F5C99"/>
                      </a:solidFill>
                    </a:rPr>
                    <a:t>, </a:t>
                  </a:r>
                  <a:r>
                    <a:rPr lang="en-US" sz="1800">
                      <a:solidFill>
                        <a:srgbClr val="1F5C99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9    ...</a:t>
                  </a:r>
                  <a:endParaRPr/>
                </a:p>
              </p:txBody>
            </p:sp>
          </p:grpSp>
          <p:cxnSp>
            <p:nvCxnSpPr>
              <p:cNvPr id="193" name="Google Shape;193;p11"/>
              <p:cNvCxnSpPr/>
              <p:nvPr/>
            </p:nvCxnSpPr>
            <p:spPr>
              <a:xfrm>
                <a:off x="8892988" y="3119718"/>
                <a:ext cx="0" cy="59404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4" name="Google Shape;194;p11"/>
              <p:cNvCxnSpPr/>
              <p:nvPr/>
            </p:nvCxnSpPr>
            <p:spPr>
              <a:xfrm>
                <a:off x="9728548" y="3466908"/>
                <a:ext cx="0" cy="183799"/>
              </a:xfrm>
              <a:prstGeom prst="straightConnector1">
                <a:avLst/>
              </a:prstGeom>
              <a:noFill/>
              <a:ln cap="rnd" cmpd="sng" w="38100">
                <a:solidFill>
                  <a:schemeClr val="accent1"/>
                </a:solidFill>
                <a:prstDash val="dot"/>
                <a:bevel/>
                <a:headEnd len="sm" w="sm" type="none"/>
                <a:tailEnd len="sm" w="sm" type="none"/>
              </a:ln>
            </p:spPr>
          </p:cxnSp>
          <p:cxnSp>
            <p:nvCxnSpPr>
              <p:cNvPr id="195" name="Google Shape;195;p11"/>
              <p:cNvCxnSpPr/>
              <p:nvPr/>
            </p:nvCxnSpPr>
            <p:spPr>
              <a:xfrm>
                <a:off x="9224682" y="3110245"/>
                <a:ext cx="0" cy="59404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6" name="Google Shape;196;p11"/>
              <p:cNvCxnSpPr/>
              <p:nvPr/>
            </p:nvCxnSpPr>
            <p:spPr>
              <a:xfrm>
                <a:off x="9606935" y="3110245"/>
                <a:ext cx="0" cy="59404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97" name="Google Shape;197;p11"/>
            <p:cNvSpPr txBox="1"/>
            <p:nvPr/>
          </p:nvSpPr>
          <p:spPr>
            <a:xfrm>
              <a:off x="7033842" y="5767676"/>
              <a:ext cx="344129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1F5C99"/>
                  </a:solidFill>
                  <a:latin typeface="Arial"/>
                  <a:ea typeface="Arial"/>
                  <a:cs typeface="Arial"/>
                  <a:sym typeface="Arial"/>
                </a:rPr>
                <a:t>Randomly mixed across list</a:t>
              </a:r>
              <a:endParaRPr/>
            </a:p>
          </p:txBody>
        </p:sp>
        <p:sp>
          <p:nvSpPr>
            <p:cNvPr id="198" name="Google Shape;198;p11"/>
            <p:cNvSpPr/>
            <p:nvPr/>
          </p:nvSpPr>
          <p:spPr>
            <a:xfrm>
              <a:off x="7826900" y="3463166"/>
              <a:ext cx="225154" cy="160825"/>
            </a:xfrm>
            <a:prstGeom prst="rect">
              <a:avLst/>
            </a:prstGeom>
            <a:solidFill>
              <a:schemeClr val="accent6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1"/>
            <p:cNvSpPr/>
            <p:nvPr/>
          </p:nvSpPr>
          <p:spPr>
            <a:xfrm>
              <a:off x="8201603" y="3463167"/>
              <a:ext cx="225154" cy="160825"/>
            </a:xfrm>
            <a:prstGeom prst="rect">
              <a:avLst/>
            </a:prstGeom>
            <a:solidFill>
              <a:srgbClr val="FFC000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1"/>
            <p:cNvSpPr/>
            <p:nvPr/>
          </p:nvSpPr>
          <p:spPr>
            <a:xfrm>
              <a:off x="7456467" y="3463165"/>
              <a:ext cx="225154" cy="160825"/>
            </a:xfrm>
            <a:prstGeom prst="rect">
              <a:avLst/>
            </a:prstGeom>
            <a:solidFill>
              <a:schemeClr val="accent6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1"/>
            <p:cNvSpPr/>
            <p:nvPr/>
          </p:nvSpPr>
          <p:spPr>
            <a:xfrm>
              <a:off x="7073243" y="3463164"/>
              <a:ext cx="225154" cy="160825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1"/>
            <p:cNvSpPr/>
            <p:nvPr/>
          </p:nvSpPr>
          <p:spPr>
            <a:xfrm>
              <a:off x="6716985" y="3463165"/>
              <a:ext cx="225154" cy="160825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1"/>
            <p:cNvSpPr/>
            <p:nvPr/>
          </p:nvSpPr>
          <p:spPr>
            <a:xfrm>
              <a:off x="6346552" y="3463164"/>
              <a:ext cx="225154" cy="160825"/>
            </a:xfrm>
            <a:prstGeom prst="rect">
              <a:avLst/>
            </a:prstGeom>
            <a:solidFill>
              <a:schemeClr val="accent6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1"/>
            <p:cNvSpPr/>
            <p:nvPr/>
          </p:nvSpPr>
          <p:spPr>
            <a:xfrm>
              <a:off x="5963328" y="3463163"/>
              <a:ext cx="225154" cy="160825"/>
            </a:xfrm>
            <a:prstGeom prst="rect">
              <a:avLst/>
            </a:prstGeom>
            <a:solidFill>
              <a:schemeClr val="accent6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1"/>
            <p:cNvSpPr/>
            <p:nvPr/>
          </p:nvSpPr>
          <p:spPr>
            <a:xfrm>
              <a:off x="7862473" y="4788198"/>
              <a:ext cx="225154" cy="160825"/>
            </a:xfrm>
            <a:prstGeom prst="rect">
              <a:avLst/>
            </a:prstGeom>
            <a:solidFill>
              <a:schemeClr val="accent6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1"/>
            <p:cNvSpPr/>
            <p:nvPr/>
          </p:nvSpPr>
          <p:spPr>
            <a:xfrm>
              <a:off x="8237176" y="4788199"/>
              <a:ext cx="225154" cy="160825"/>
            </a:xfrm>
            <a:prstGeom prst="rect">
              <a:avLst/>
            </a:prstGeom>
            <a:solidFill>
              <a:srgbClr val="FFC000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1"/>
            <p:cNvSpPr/>
            <p:nvPr/>
          </p:nvSpPr>
          <p:spPr>
            <a:xfrm>
              <a:off x="7492040" y="4788197"/>
              <a:ext cx="225154" cy="160825"/>
            </a:xfrm>
            <a:prstGeom prst="rect">
              <a:avLst/>
            </a:prstGeom>
            <a:solidFill>
              <a:schemeClr val="accent6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1"/>
            <p:cNvSpPr/>
            <p:nvPr/>
          </p:nvSpPr>
          <p:spPr>
            <a:xfrm>
              <a:off x="7108816" y="4788196"/>
              <a:ext cx="225154" cy="160825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1"/>
            <p:cNvSpPr/>
            <p:nvPr/>
          </p:nvSpPr>
          <p:spPr>
            <a:xfrm>
              <a:off x="6752558" y="4788197"/>
              <a:ext cx="225154" cy="160825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1"/>
            <p:cNvSpPr/>
            <p:nvPr/>
          </p:nvSpPr>
          <p:spPr>
            <a:xfrm>
              <a:off x="6382125" y="4788196"/>
              <a:ext cx="225154" cy="160825"/>
            </a:xfrm>
            <a:prstGeom prst="rect">
              <a:avLst/>
            </a:prstGeom>
            <a:solidFill>
              <a:schemeClr val="accent6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1"/>
            <p:cNvSpPr/>
            <p:nvPr/>
          </p:nvSpPr>
          <p:spPr>
            <a:xfrm>
              <a:off x="5998901" y="4788195"/>
              <a:ext cx="225154" cy="160825"/>
            </a:xfrm>
            <a:prstGeom prst="rect">
              <a:avLst/>
            </a:prstGeom>
            <a:solidFill>
              <a:schemeClr val="accent6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1"/>
            <p:cNvSpPr/>
            <p:nvPr/>
          </p:nvSpPr>
          <p:spPr>
            <a:xfrm>
              <a:off x="7862473" y="6197739"/>
              <a:ext cx="225154" cy="160825"/>
            </a:xfrm>
            <a:prstGeom prst="rect">
              <a:avLst/>
            </a:prstGeom>
            <a:solidFill>
              <a:schemeClr val="accent6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1"/>
            <p:cNvSpPr/>
            <p:nvPr/>
          </p:nvSpPr>
          <p:spPr>
            <a:xfrm>
              <a:off x="8237176" y="6197740"/>
              <a:ext cx="225154" cy="160825"/>
            </a:xfrm>
            <a:prstGeom prst="rect">
              <a:avLst/>
            </a:prstGeom>
            <a:solidFill>
              <a:srgbClr val="FFC000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1"/>
            <p:cNvSpPr/>
            <p:nvPr/>
          </p:nvSpPr>
          <p:spPr>
            <a:xfrm>
              <a:off x="7492040" y="6197738"/>
              <a:ext cx="225154" cy="160825"/>
            </a:xfrm>
            <a:prstGeom prst="rect">
              <a:avLst/>
            </a:prstGeom>
            <a:solidFill>
              <a:schemeClr val="accent6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1"/>
            <p:cNvSpPr/>
            <p:nvPr/>
          </p:nvSpPr>
          <p:spPr>
            <a:xfrm>
              <a:off x="7108816" y="6197737"/>
              <a:ext cx="225154" cy="160825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1"/>
            <p:cNvSpPr/>
            <p:nvPr/>
          </p:nvSpPr>
          <p:spPr>
            <a:xfrm>
              <a:off x="6752558" y="6197738"/>
              <a:ext cx="225154" cy="160825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1"/>
            <p:cNvSpPr/>
            <p:nvPr/>
          </p:nvSpPr>
          <p:spPr>
            <a:xfrm>
              <a:off x="6382125" y="6197737"/>
              <a:ext cx="225154" cy="160825"/>
            </a:xfrm>
            <a:prstGeom prst="rect">
              <a:avLst/>
            </a:prstGeom>
            <a:solidFill>
              <a:schemeClr val="accent6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1"/>
            <p:cNvSpPr/>
            <p:nvPr/>
          </p:nvSpPr>
          <p:spPr>
            <a:xfrm>
              <a:off x="5998901" y="6197736"/>
              <a:ext cx="225154" cy="160825"/>
            </a:xfrm>
            <a:prstGeom prst="rect">
              <a:avLst/>
            </a:prstGeom>
            <a:solidFill>
              <a:schemeClr val="accent6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9" name="Google Shape;219;p11"/>
          <p:cNvGrpSpPr/>
          <p:nvPr/>
        </p:nvGrpSpPr>
        <p:grpSpPr>
          <a:xfrm>
            <a:off x="4712566" y="3209623"/>
            <a:ext cx="1014900" cy="2717400"/>
            <a:chOff x="4712566" y="3209623"/>
            <a:chExt cx="1014900" cy="2717400"/>
          </a:xfrm>
        </p:grpSpPr>
        <p:cxnSp>
          <p:nvCxnSpPr>
            <p:cNvPr id="220" name="Google Shape;220;p11"/>
            <p:cNvCxnSpPr>
              <a:stCxn id="221" idx="3"/>
              <a:endCxn id="156" idx="1"/>
            </p:cNvCxnSpPr>
            <p:nvPr/>
          </p:nvCxnSpPr>
          <p:spPr>
            <a:xfrm flipH="1" rot="10800000">
              <a:off x="4712566" y="3209623"/>
              <a:ext cx="1014900" cy="1431300"/>
            </a:xfrm>
            <a:prstGeom prst="curvedConnector3">
              <a:avLst>
                <a:gd fmla="val 50000" name="adj1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22" name="Google Shape;222;p11"/>
            <p:cNvCxnSpPr>
              <a:stCxn id="221" idx="3"/>
              <a:endCxn id="157" idx="1"/>
            </p:cNvCxnSpPr>
            <p:nvPr/>
          </p:nvCxnSpPr>
          <p:spPr>
            <a:xfrm flipH="1" rot="10800000">
              <a:off x="4712566" y="4610623"/>
              <a:ext cx="1014900" cy="30300"/>
            </a:xfrm>
            <a:prstGeom prst="curvedConnector3">
              <a:avLst>
                <a:gd fmla="val 50000" name="adj1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23" name="Google Shape;223;p11"/>
            <p:cNvCxnSpPr>
              <a:stCxn id="221" idx="3"/>
              <a:endCxn id="158" idx="1"/>
            </p:cNvCxnSpPr>
            <p:nvPr/>
          </p:nvCxnSpPr>
          <p:spPr>
            <a:xfrm>
              <a:off x="4712566" y="4640923"/>
              <a:ext cx="1014900" cy="1286100"/>
            </a:xfrm>
            <a:prstGeom prst="curvedConnector3">
              <a:avLst>
                <a:gd fmla="val 50000" name="adj1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224" name="Google Shape;224;p11"/>
          <p:cNvGrpSpPr/>
          <p:nvPr/>
        </p:nvGrpSpPr>
        <p:grpSpPr>
          <a:xfrm>
            <a:off x="144329" y="1501965"/>
            <a:ext cx="4792625" cy="4979171"/>
            <a:chOff x="144329" y="1501965"/>
            <a:chExt cx="4792625" cy="4979171"/>
          </a:xfrm>
        </p:grpSpPr>
        <p:grpSp>
          <p:nvGrpSpPr>
            <p:cNvPr id="225" name="Google Shape;225;p11"/>
            <p:cNvGrpSpPr/>
            <p:nvPr/>
          </p:nvGrpSpPr>
          <p:grpSpPr>
            <a:xfrm>
              <a:off x="2428065" y="3147248"/>
              <a:ext cx="952692" cy="160825"/>
              <a:chOff x="2606887" y="3025967"/>
              <a:chExt cx="952692" cy="160825"/>
            </a:xfrm>
          </p:grpSpPr>
          <p:sp>
            <p:nvSpPr>
              <p:cNvPr id="226" name="Google Shape;226;p11"/>
              <p:cNvSpPr/>
              <p:nvPr/>
            </p:nvSpPr>
            <p:spPr>
              <a:xfrm>
                <a:off x="3334425" y="3025967"/>
                <a:ext cx="225154" cy="160825"/>
              </a:xfrm>
              <a:prstGeom prst="rect">
                <a:avLst/>
              </a:prstGeom>
              <a:solidFill>
                <a:schemeClr val="accent4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>
                <a:off x="2606887" y="3025967"/>
                <a:ext cx="225154" cy="160825"/>
              </a:xfrm>
              <a:prstGeom prst="rect">
                <a:avLst/>
              </a:prstGeom>
              <a:solidFill>
                <a:schemeClr val="accent4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8" name="Google Shape;228;p11"/>
            <p:cNvSpPr/>
            <p:nvPr/>
          </p:nvSpPr>
          <p:spPr>
            <a:xfrm>
              <a:off x="1582203" y="3147248"/>
              <a:ext cx="225154" cy="160825"/>
            </a:xfrm>
            <a:prstGeom prst="rect">
              <a:avLst/>
            </a:prstGeom>
            <a:solidFill>
              <a:srgbClr val="43AFE2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1"/>
            <p:cNvSpPr/>
            <p:nvPr/>
          </p:nvSpPr>
          <p:spPr>
            <a:xfrm>
              <a:off x="1218434" y="3147248"/>
              <a:ext cx="225154" cy="160825"/>
            </a:xfrm>
            <a:prstGeom prst="rect">
              <a:avLst/>
            </a:prstGeom>
            <a:solidFill>
              <a:srgbClr val="43AFE2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1"/>
            <p:cNvSpPr txBox="1"/>
            <p:nvPr/>
          </p:nvSpPr>
          <p:spPr>
            <a:xfrm>
              <a:off x="144329" y="1501965"/>
              <a:ext cx="4792625" cy="13234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Initial Test</a:t>
              </a: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(Study and Recognition):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 lists, each including 20 study pictures and 20 tests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sp>
          <p:nvSpPr>
            <p:cNvPr id="231" name="Google Shape;231;p11"/>
            <p:cNvSpPr/>
            <p:nvPr/>
          </p:nvSpPr>
          <p:spPr>
            <a:xfrm>
              <a:off x="854665" y="3147248"/>
              <a:ext cx="225154" cy="160825"/>
            </a:xfrm>
            <a:prstGeom prst="rect">
              <a:avLst/>
            </a:prstGeom>
            <a:solidFill>
              <a:srgbClr val="43AFE2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1"/>
            <p:cNvSpPr/>
            <p:nvPr/>
          </p:nvSpPr>
          <p:spPr>
            <a:xfrm>
              <a:off x="490896" y="3147248"/>
              <a:ext cx="225154" cy="160825"/>
            </a:xfrm>
            <a:prstGeom prst="rect">
              <a:avLst/>
            </a:prstGeom>
            <a:solidFill>
              <a:srgbClr val="43AFE2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3" name="Google Shape;233;p11"/>
            <p:cNvCxnSpPr/>
            <p:nvPr/>
          </p:nvCxnSpPr>
          <p:spPr>
            <a:xfrm>
              <a:off x="2150448" y="3050313"/>
              <a:ext cx="0" cy="3056099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234" name="Google Shape;234;p11"/>
            <p:cNvSpPr/>
            <p:nvPr/>
          </p:nvSpPr>
          <p:spPr>
            <a:xfrm>
              <a:off x="2791834" y="3149722"/>
              <a:ext cx="225154" cy="160825"/>
            </a:xfrm>
            <a:prstGeom prst="rect">
              <a:avLst/>
            </a:prstGeom>
            <a:solidFill>
              <a:srgbClr val="FFC000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1"/>
            <p:cNvSpPr/>
            <p:nvPr/>
          </p:nvSpPr>
          <p:spPr>
            <a:xfrm>
              <a:off x="3519372" y="3149722"/>
              <a:ext cx="225154" cy="160825"/>
            </a:xfrm>
            <a:prstGeom prst="rect">
              <a:avLst/>
            </a:prstGeom>
            <a:solidFill>
              <a:srgbClr val="FFC000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6" name="Google Shape;236;p11"/>
            <p:cNvGrpSpPr/>
            <p:nvPr/>
          </p:nvGrpSpPr>
          <p:grpSpPr>
            <a:xfrm>
              <a:off x="1218434" y="3147248"/>
              <a:ext cx="2162323" cy="163299"/>
              <a:chOff x="1406828" y="3023493"/>
              <a:chExt cx="2162323" cy="163299"/>
            </a:xfrm>
          </p:grpSpPr>
          <p:sp>
            <p:nvSpPr>
              <p:cNvPr id="237" name="Google Shape;237;p11"/>
              <p:cNvSpPr/>
              <p:nvPr/>
            </p:nvSpPr>
            <p:spPr>
              <a:xfrm>
                <a:off x="1406828" y="3023493"/>
                <a:ext cx="225154" cy="160825"/>
              </a:xfrm>
              <a:prstGeom prst="rect">
                <a:avLst/>
              </a:prstGeom>
              <a:solidFill>
                <a:schemeClr val="accent1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>
                <a:off x="1770597" y="3023493"/>
                <a:ext cx="225154" cy="160825"/>
              </a:xfrm>
              <a:prstGeom prst="rect">
                <a:avLst/>
              </a:prstGeom>
              <a:solidFill>
                <a:schemeClr val="accent1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11"/>
              <p:cNvSpPr/>
              <p:nvPr/>
            </p:nvSpPr>
            <p:spPr>
              <a:xfrm>
                <a:off x="3343997" y="3025967"/>
                <a:ext cx="225154" cy="160825"/>
              </a:xfrm>
              <a:prstGeom prst="rect">
                <a:avLst/>
              </a:prstGeom>
              <a:solidFill>
                <a:schemeClr val="accent1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11"/>
              <p:cNvSpPr/>
              <p:nvPr/>
            </p:nvSpPr>
            <p:spPr>
              <a:xfrm>
                <a:off x="2616459" y="3025967"/>
                <a:ext cx="225154" cy="160825"/>
              </a:xfrm>
              <a:prstGeom prst="rect">
                <a:avLst/>
              </a:prstGeom>
              <a:solidFill>
                <a:schemeClr val="accent1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41" name="Google Shape;241;p11"/>
            <p:cNvCxnSpPr/>
            <p:nvPr/>
          </p:nvCxnSpPr>
          <p:spPr>
            <a:xfrm>
              <a:off x="1130364" y="3877849"/>
              <a:ext cx="0" cy="183799"/>
            </a:xfrm>
            <a:prstGeom prst="straightConnector1">
              <a:avLst/>
            </a:prstGeom>
            <a:noFill/>
            <a:ln cap="rnd" cmpd="sng" w="38100">
              <a:solidFill>
                <a:schemeClr val="accent1"/>
              </a:solidFill>
              <a:prstDash val="dot"/>
              <a:bevel/>
              <a:headEnd len="sm" w="sm" type="none"/>
              <a:tailEnd len="sm" w="sm" type="none"/>
            </a:ln>
          </p:spPr>
        </p:cxnSp>
        <p:cxnSp>
          <p:nvCxnSpPr>
            <p:cNvPr id="242" name="Google Shape;242;p11"/>
            <p:cNvCxnSpPr/>
            <p:nvPr/>
          </p:nvCxnSpPr>
          <p:spPr>
            <a:xfrm>
              <a:off x="1130364" y="4494341"/>
              <a:ext cx="0" cy="164654"/>
            </a:xfrm>
            <a:prstGeom prst="straightConnector1">
              <a:avLst/>
            </a:prstGeom>
            <a:noFill/>
            <a:ln cap="rnd" cmpd="sng" w="38100">
              <a:solidFill>
                <a:schemeClr val="accent1"/>
              </a:solidFill>
              <a:prstDash val="dot"/>
              <a:bevel/>
              <a:headEnd len="sm" w="sm" type="none"/>
              <a:tailEnd len="sm" w="sm" type="none"/>
            </a:ln>
          </p:spPr>
        </p:cxnSp>
        <p:cxnSp>
          <p:nvCxnSpPr>
            <p:cNvPr id="243" name="Google Shape;243;p11"/>
            <p:cNvCxnSpPr/>
            <p:nvPr/>
          </p:nvCxnSpPr>
          <p:spPr>
            <a:xfrm>
              <a:off x="3156369" y="3877849"/>
              <a:ext cx="0" cy="183799"/>
            </a:xfrm>
            <a:prstGeom prst="straightConnector1">
              <a:avLst/>
            </a:prstGeom>
            <a:noFill/>
            <a:ln cap="rnd" cmpd="sng" w="38100">
              <a:solidFill>
                <a:schemeClr val="accent1"/>
              </a:solidFill>
              <a:prstDash val="dot"/>
              <a:bevel/>
              <a:headEnd len="sm" w="sm" type="none"/>
              <a:tailEnd len="sm" w="sm" type="none"/>
            </a:ln>
          </p:spPr>
        </p:cxnSp>
        <p:cxnSp>
          <p:nvCxnSpPr>
            <p:cNvPr id="244" name="Google Shape;244;p11"/>
            <p:cNvCxnSpPr/>
            <p:nvPr/>
          </p:nvCxnSpPr>
          <p:spPr>
            <a:xfrm>
              <a:off x="3156369" y="4494341"/>
              <a:ext cx="0" cy="164654"/>
            </a:xfrm>
            <a:prstGeom prst="straightConnector1">
              <a:avLst/>
            </a:prstGeom>
            <a:noFill/>
            <a:ln cap="rnd" cmpd="sng" w="38100">
              <a:solidFill>
                <a:schemeClr val="accent1"/>
              </a:solidFill>
              <a:prstDash val="dot"/>
              <a:bevel/>
              <a:headEnd len="sm" w="sm" type="none"/>
              <a:tailEnd len="sm" w="sm" type="none"/>
            </a:ln>
          </p:spPr>
        </p:cxnSp>
        <p:cxnSp>
          <p:nvCxnSpPr>
            <p:cNvPr id="245" name="Google Shape;245;p11"/>
            <p:cNvCxnSpPr/>
            <p:nvPr/>
          </p:nvCxnSpPr>
          <p:spPr>
            <a:xfrm>
              <a:off x="1130364" y="5051099"/>
              <a:ext cx="0" cy="164654"/>
            </a:xfrm>
            <a:prstGeom prst="straightConnector1">
              <a:avLst/>
            </a:prstGeom>
            <a:noFill/>
            <a:ln cap="rnd" cmpd="sng" w="38100">
              <a:solidFill>
                <a:schemeClr val="accent1"/>
              </a:solidFill>
              <a:prstDash val="dot"/>
              <a:bevel/>
              <a:headEnd len="sm" w="sm" type="none"/>
              <a:tailEnd len="sm" w="sm" type="none"/>
            </a:ln>
          </p:spPr>
        </p:cxnSp>
        <p:cxnSp>
          <p:nvCxnSpPr>
            <p:cNvPr id="246" name="Google Shape;246;p11"/>
            <p:cNvCxnSpPr/>
            <p:nvPr/>
          </p:nvCxnSpPr>
          <p:spPr>
            <a:xfrm>
              <a:off x="3151774" y="5051099"/>
              <a:ext cx="0" cy="164654"/>
            </a:xfrm>
            <a:prstGeom prst="straightConnector1">
              <a:avLst/>
            </a:prstGeom>
            <a:noFill/>
            <a:ln cap="rnd" cmpd="sng" w="38100">
              <a:solidFill>
                <a:schemeClr val="accent1"/>
              </a:solidFill>
              <a:prstDash val="dot"/>
              <a:bevel/>
              <a:headEnd len="sm" w="sm" type="none"/>
              <a:tailEnd len="sm" w="sm" type="none"/>
            </a:ln>
          </p:spPr>
        </p:cxnSp>
        <p:sp>
          <p:nvSpPr>
            <p:cNvPr id="221" name="Google Shape;221;p11"/>
            <p:cNvSpPr/>
            <p:nvPr/>
          </p:nvSpPr>
          <p:spPr>
            <a:xfrm>
              <a:off x="297145" y="2800710"/>
              <a:ext cx="4415421" cy="3680426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1"/>
            <p:cNvSpPr txBox="1"/>
            <p:nvPr/>
          </p:nvSpPr>
          <p:spPr>
            <a:xfrm>
              <a:off x="3910692" y="3059668"/>
              <a:ext cx="71070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List 1</a:t>
              </a:r>
              <a:endParaRPr/>
            </a:p>
          </p:txBody>
        </p:sp>
        <p:sp>
          <p:nvSpPr>
            <p:cNvPr id="248" name="Google Shape;248;p11"/>
            <p:cNvSpPr txBox="1"/>
            <p:nvPr/>
          </p:nvSpPr>
          <p:spPr>
            <a:xfrm>
              <a:off x="3749692" y="5557776"/>
              <a:ext cx="83413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List 10</a:t>
              </a:r>
              <a:endParaRPr/>
            </a:p>
          </p:txBody>
        </p:sp>
        <p:cxnSp>
          <p:nvCxnSpPr>
            <p:cNvPr id="249" name="Google Shape;249;p11"/>
            <p:cNvCxnSpPr/>
            <p:nvPr/>
          </p:nvCxnSpPr>
          <p:spPr>
            <a:xfrm>
              <a:off x="1130364" y="5603022"/>
              <a:ext cx="0" cy="164654"/>
            </a:xfrm>
            <a:prstGeom prst="straightConnector1">
              <a:avLst/>
            </a:prstGeom>
            <a:noFill/>
            <a:ln cap="rnd" cmpd="sng" w="38100">
              <a:solidFill>
                <a:schemeClr val="accent1"/>
              </a:solidFill>
              <a:prstDash val="dot"/>
              <a:bevel/>
              <a:headEnd len="sm" w="sm" type="none"/>
              <a:tailEnd len="sm" w="sm" type="none"/>
            </a:ln>
          </p:spPr>
        </p:cxnSp>
        <p:cxnSp>
          <p:nvCxnSpPr>
            <p:cNvPr id="250" name="Google Shape;250;p11"/>
            <p:cNvCxnSpPr/>
            <p:nvPr/>
          </p:nvCxnSpPr>
          <p:spPr>
            <a:xfrm>
              <a:off x="3151774" y="5603022"/>
              <a:ext cx="0" cy="164654"/>
            </a:xfrm>
            <a:prstGeom prst="straightConnector1">
              <a:avLst/>
            </a:prstGeom>
            <a:noFill/>
            <a:ln cap="rnd" cmpd="sng" w="38100">
              <a:solidFill>
                <a:schemeClr val="accent1"/>
              </a:solidFill>
              <a:prstDash val="dot"/>
              <a:bevel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6" name="Google Shape;256;p13"/>
          <p:cNvCxnSpPr/>
          <p:nvPr/>
        </p:nvCxnSpPr>
        <p:spPr>
          <a:xfrm>
            <a:off x="3365335" y="2632333"/>
            <a:ext cx="8445300" cy="0"/>
          </a:xfrm>
          <a:prstGeom prst="straightConnector1">
            <a:avLst/>
          </a:prstGeom>
          <a:solidFill>
            <a:srgbClr val="2A2CA1"/>
          </a:solidFill>
          <a:ln cap="flat" cmpd="sng" w="19050">
            <a:solidFill>
              <a:srgbClr val="2A2CA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7" name="Google Shape;257;p13"/>
          <p:cNvSpPr/>
          <p:nvPr/>
        </p:nvSpPr>
        <p:spPr>
          <a:xfrm>
            <a:off x="3369459" y="2588558"/>
            <a:ext cx="8437174" cy="2377660"/>
          </a:xfrm>
          <a:custGeom>
            <a:rect b="b" l="l" r="r" t="t"/>
            <a:pathLst>
              <a:path extrusionOk="0" h="2377660" w="8437174">
                <a:moveTo>
                  <a:pt x="0" y="0"/>
                </a:moveTo>
                <a:lnTo>
                  <a:pt x="8437174" y="0"/>
                </a:lnTo>
                <a:lnTo>
                  <a:pt x="8437174" y="2377660"/>
                </a:lnTo>
                <a:lnTo>
                  <a:pt x="0" y="237766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76200" lIns="76200" spcFirstLastPara="1" rIns="76200" wrap="square" tIns="762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 </a:t>
            </a:r>
            <a:r>
              <a:rPr b="1" lang="en-US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TARGETS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 kinds)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Items </a:t>
            </a:r>
            <a:r>
              <a:rPr b="1" i="1" lang="en-US" sz="20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studied but not tested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initially (10 per list, 7 selected).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Items </a:t>
            </a:r>
            <a:r>
              <a:rPr b="1" i="1" lang="en-US" sz="2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studied and tested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initially as targets (10 per list, 7 selected).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Items </a:t>
            </a:r>
            <a:r>
              <a:rPr b="1" i="1"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tested only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initially as foils (10 per list, 7 selected).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210 final targets (3*7*10).</a:t>
            </a:r>
            <a:endParaRPr/>
          </a:p>
        </p:txBody>
      </p:sp>
      <p:cxnSp>
        <p:nvCxnSpPr>
          <p:cNvPr id="258" name="Google Shape;258;p13"/>
          <p:cNvCxnSpPr/>
          <p:nvPr/>
        </p:nvCxnSpPr>
        <p:spPr>
          <a:xfrm>
            <a:off x="3365335" y="5009994"/>
            <a:ext cx="8445300" cy="0"/>
          </a:xfrm>
          <a:prstGeom prst="straightConnector1">
            <a:avLst/>
          </a:prstGeom>
          <a:solidFill>
            <a:srgbClr val="2BA492"/>
          </a:solidFill>
          <a:ln cap="flat" cmpd="sng" w="19050">
            <a:solidFill>
              <a:srgbClr val="2BA49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9" name="Google Shape;259;p13"/>
          <p:cNvSpPr/>
          <p:nvPr/>
        </p:nvSpPr>
        <p:spPr>
          <a:xfrm>
            <a:off x="3365335" y="5009994"/>
            <a:ext cx="8445422" cy="958266"/>
          </a:xfrm>
          <a:custGeom>
            <a:rect b="b" l="l" r="r" t="t"/>
            <a:pathLst>
              <a:path extrusionOk="0" h="958266" w="8445422">
                <a:moveTo>
                  <a:pt x="0" y="0"/>
                </a:moveTo>
                <a:lnTo>
                  <a:pt x="8445422" y="0"/>
                </a:lnTo>
                <a:lnTo>
                  <a:pt x="8445422" y="958266"/>
                </a:lnTo>
                <a:lnTo>
                  <a:pt x="0" y="95826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76200" lIns="76200" spcFirstLastPara="1" rIns="76200" wrap="square" tIns="762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 </a:t>
            </a:r>
            <a:r>
              <a:rPr b="1" lang="en-US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FOILS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210 final targets were mixed with 210 </a:t>
            </a:r>
            <a:r>
              <a:rPr b="1" i="1" lang="en-US" sz="20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entirely new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foils.</a:t>
            </a:r>
            <a:endParaRPr/>
          </a:p>
        </p:txBody>
      </p:sp>
      <p:cxnSp>
        <p:nvCxnSpPr>
          <p:cNvPr id="260" name="Google Shape;260;p13"/>
          <p:cNvCxnSpPr/>
          <p:nvPr/>
        </p:nvCxnSpPr>
        <p:spPr>
          <a:xfrm>
            <a:off x="3365335" y="5968260"/>
            <a:ext cx="8445300" cy="0"/>
          </a:xfrm>
          <a:prstGeom prst="straightConnector1">
            <a:avLst/>
          </a:prstGeom>
          <a:solidFill>
            <a:srgbClr val="4CA62C"/>
          </a:solidFill>
          <a:ln cap="flat" cmpd="sng" w="19050">
            <a:solidFill>
              <a:srgbClr val="4CA62C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61" name="Google Shape;261;p13"/>
          <p:cNvGrpSpPr/>
          <p:nvPr/>
        </p:nvGrpSpPr>
        <p:grpSpPr>
          <a:xfrm>
            <a:off x="81354" y="2098410"/>
            <a:ext cx="2929916" cy="2867814"/>
            <a:chOff x="7572651" y="2276229"/>
            <a:chExt cx="3548403" cy="2957729"/>
          </a:xfrm>
        </p:grpSpPr>
        <p:cxnSp>
          <p:nvCxnSpPr>
            <p:cNvPr id="262" name="Google Shape;262;p13"/>
            <p:cNvCxnSpPr/>
            <p:nvPr/>
          </p:nvCxnSpPr>
          <p:spPr>
            <a:xfrm>
              <a:off x="9062037" y="2476819"/>
              <a:ext cx="0" cy="2455996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dash"/>
              <a:round/>
              <a:headEnd len="sm" w="sm" type="none"/>
              <a:tailEnd len="sm" w="sm" type="none"/>
            </a:ln>
          </p:spPr>
        </p:cxnSp>
        <p:grpSp>
          <p:nvGrpSpPr>
            <p:cNvPr id="263" name="Google Shape;263;p13"/>
            <p:cNvGrpSpPr/>
            <p:nvPr/>
          </p:nvGrpSpPr>
          <p:grpSpPr>
            <a:xfrm>
              <a:off x="7728357" y="2554720"/>
              <a:ext cx="1057958" cy="129245"/>
              <a:chOff x="7728357" y="2554720"/>
              <a:chExt cx="1057958" cy="129245"/>
            </a:xfrm>
          </p:grpSpPr>
          <p:sp>
            <p:nvSpPr>
              <p:cNvPr id="264" name="Google Shape;264;p13"/>
              <p:cNvSpPr/>
              <p:nvPr/>
            </p:nvSpPr>
            <p:spPr>
              <a:xfrm>
                <a:off x="8605373" y="2554720"/>
                <a:ext cx="180942" cy="129245"/>
              </a:xfrm>
              <a:prstGeom prst="rect">
                <a:avLst/>
              </a:prstGeom>
              <a:solidFill>
                <a:srgbClr val="43AFE2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13"/>
              <p:cNvSpPr/>
              <p:nvPr/>
            </p:nvSpPr>
            <p:spPr>
              <a:xfrm>
                <a:off x="8313034" y="2554720"/>
                <a:ext cx="180942" cy="129245"/>
              </a:xfrm>
              <a:prstGeom prst="rect">
                <a:avLst/>
              </a:prstGeom>
              <a:solidFill>
                <a:srgbClr val="43AFE2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13"/>
              <p:cNvSpPr/>
              <p:nvPr/>
            </p:nvSpPr>
            <p:spPr>
              <a:xfrm>
                <a:off x="8020696" y="2554720"/>
                <a:ext cx="180942" cy="129245"/>
              </a:xfrm>
              <a:prstGeom prst="rect">
                <a:avLst/>
              </a:prstGeom>
              <a:solidFill>
                <a:srgbClr val="43AFE2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13"/>
              <p:cNvSpPr/>
              <p:nvPr/>
            </p:nvSpPr>
            <p:spPr>
              <a:xfrm>
                <a:off x="7728357" y="2554720"/>
                <a:ext cx="180942" cy="129245"/>
              </a:xfrm>
              <a:prstGeom prst="rect">
                <a:avLst/>
              </a:prstGeom>
              <a:solidFill>
                <a:srgbClr val="43AFE2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13"/>
              <p:cNvSpPr/>
              <p:nvPr/>
            </p:nvSpPr>
            <p:spPr>
              <a:xfrm>
                <a:off x="8313034" y="2554720"/>
                <a:ext cx="180942" cy="129245"/>
              </a:xfrm>
              <a:prstGeom prst="rect">
                <a:avLst/>
              </a:prstGeom>
              <a:solidFill>
                <a:schemeClr val="accent1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13"/>
              <p:cNvSpPr/>
              <p:nvPr/>
            </p:nvSpPr>
            <p:spPr>
              <a:xfrm>
                <a:off x="8605373" y="2554720"/>
                <a:ext cx="180942" cy="129245"/>
              </a:xfrm>
              <a:prstGeom prst="rect">
                <a:avLst/>
              </a:prstGeom>
              <a:solidFill>
                <a:schemeClr val="accent1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0" name="Google Shape;270;p13"/>
            <p:cNvSpPr/>
            <p:nvPr/>
          </p:nvSpPr>
          <p:spPr>
            <a:xfrm>
              <a:off x="9577480" y="2556708"/>
              <a:ext cx="180942" cy="129245"/>
            </a:xfrm>
            <a:prstGeom prst="rect">
              <a:avLst/>
            </a:prstGeom>
            <a:solidFill>
              <a:srgbClr val="FFC000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13"/>
            <p:cNvSpPr/>
            <p:nvPr/>
          </p:nvSpPr>
          <p:spPr>
            <a:xfrm>
              <a:off x="10162157" y="2556708"/>
              <a:ext cx="180942" cy="129245"/>
            </a:xfrm>
            <a:prstGeom prst="rect">
              <a:avLst/>
            </a:prstGeom>
            <a:solidFill>
              <a:srgbClr val="FFC000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13"/>
            <p:cNvSpPr/>
            <p:nvPr/>
          </p:nvSpPr>
          <p:spPr>
            <a:xfrm>
              <a:off x="9875276" y="2554718"/>
              <a:ext cx="180942" cy="129245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13"/>
            <p:cNvSpPr/>
            <p:nvPr/>
          </p:nvSpPr>
          <p:spPr>
            <a:xfrm>
              <a:off x="9273916" y="2554719"/>
              <a:ext cx="180942" cy="129245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13"/>
            <p:cNvSpPr/>
            <p:nvPr/>
          </p:nvSpPr>
          <p:spPr>
            <a:xfrm>
              <a:off x="7572651" y="2276229"/>
              <a:ext cx="3548403" cy="2957729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13"/>
            <p:cNvSpPr txBox="1"/>
            <p:nvPr/>
          </p:nvSpPr>
          <p:spPr>
            <a:xfrm>
              <a:off x="10476637" y="2484337"/>
              <a:ext cx="571200" cy="5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3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List 1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6" name="Google Shape;276;p13"/>
            <p:cNvGrpSpPr/>
            <p:nvPr/>
          </p:nvGrpSpPr>
          <p:grpSpPr>
            <a:xfrm>
              <a:off x="8242258" y="3141858"/>
              <a:ext cx="2775193" cy="1896953"/>
              <a:chOff x="8242258" y="3141858"/>
              <a:chExt cx="2775193" cy="1896953"/>
            </a:xfrm>
          </p:grpSpPr>
          <p:cxnSp>
            <p:nvCxnSpPr>
              <p:cNvPr id="277" name="Google Shape;277;p13"/>
              <p:cNvCxnSpPr/>
              <p:nvPr/>
            </p:nvCxnSpPr>
            <p:spPr>
              <a:xfrm>
                <a:off x="8242258" y="3141858"/>
                <a:ext cx="0" cy="147708"/>
              </a:xfrm>
              <a:prstGeom prst="straightConnector1">
                <a:avLst/>
              </a:prstGeom>
              <a:noFill/>
              <a:ln cap="rnd" cmpd="sng" w="38100">
                <a:solidFill>
                  <a:schemeClr val="accent1"/>
                </a:solidFill>
                <a:prstDash val="dot"/>
                <a:bevel/>
                <a:headEnd len="sm" w="sm" type="none"/>
                <a:tailEnd len="sm" w="sm" type="none"/>
              </a:ln>
            </p:spPr>
          </p:cxnSp>
          <p:cxnSp>
            <p:nvCxnSpPr>
              <p:cNvPr id="278" name="Google Shape;278;p13"/>
              <p:cNvCxnSpPr/>
              <p:nvPr/>
            </p:nvCxnSpPr>
            <p:spPr>
              <a:xfrm>
                <a:off x="8242258" y="3637295"/>
                <a:ext cx="0" cy="132322"/>
              </a:xfrm>
              <a:prstGeom prst="straightConnector1">
                <a:avLst/>
              </a:prstGeom>
              <a:noFill/>
              <a:ln cap="rnd" cmpd="sng" w="38100">
                <a:solidFill>
                  <a:schemeClr val="accent1"/>
                </a:solidFill>
                <a:prstDash val="dot"/>
                <a:bevel/>
                <a:headEnd len="sm" w="sm" type="none"/>
                <a:tailEnd len="sm" w="sm" type="none"/>
              </a:ln>
            </p:spPr>
          </p:cxnSp>
          <p:cxnSp>
            <p:nvCxnSpPr>
              <p:cNvPr id="279" name="Google Shape;279;p13"/>
              <p:cNvCxnSpPr/>
              <p:nvPr/>
            </p:nvCxnSpPr>
            <p:spPr>
              <a:xfrm>
                <a:off x="9870434" y="3141858"/>
                <a:ext cx="0" cy="147708"/>
              </a:xfrm>
              <a:prstGeom prst="straightConnector1">
                <a:avLst/>
              </a:prstGeom>
              <a:noFill/>
              <a:ln cap="rnd" cmpd="sng" w="38100">
                <a:solidFill>
                  <a:schemeClr val="accent1"/>
                </a:solidFill>
                <a:prstDash val="dot"/>
                <a:bevel/>
                <a:headEnd len="sm" w="sm" type="none"/>
                <a:tailEnd len="sm" w="sm" type="none"/>
              </a:ln>
            </p:spPr>
          </p:cxnSp>
          <p:cxnSp>
            <p:nvCxnSpPr>
              <p:cNvPr id="280" name="Google Shape;280;p13"/>
              <p:cNvCxnSpPr/>
              <p:nvPr/>
            </p:nvCxnSpPr>
            <p:spPr>
              <a:xfrm>
                <a:off x="9870434" y="3637295"/>
                <a:ext cx="0" cy="132322"/>
              </a:xfrm>
              <a:prstGeom prst="straightConnector1">
                <a:avLst/>
              </a:prstGeom>
              <a:noFill/>
              <a:ln cap="rnd" cmpd="sng" w="38100">
                <a:solidFill>
                  <a:schemeClr val="accent1"/>
                </a:solidFill>
                <a:prstDash val="dot"/>
                <a:bevel/>
                <a:headEnd len="sm" w="sm" type="none"/>
                <a:tailEnd len="sm" w="sm" type="none"/>
              </a:ln>
            </p:spPr>
          </p:cxnSp>
          <p:cxnSp>
            <p:nvCxnSpPr>
              <p:cNvPr id="281" name="Google Shape;281;p13"/>
              <p:cNvCxnSpPr/>
              <p:nvPr/>
            </p:nvCxnSpPr>
            <p:spPr>
              <a:xfrm>
                <a:off x="8242258" y="4084726"/>
                <a:ext cx="0" cy="132322"/>
              </a:xfrm>
              <a:prstGeom prst="straightConnector1">
                <a:avLst/>
              </a:prstGeom>
              <a:noFill/>
              <a:ln cap="rnd" cmpd="sng" w="38100">
                <a:solidFill>
                  <a:schemeClr val="accent1"/>
                </a:solidFill>
                <a:prstDash val="dot"/>
                <a:bevel/>
                <a:headEnd len="sm" w="sm" type="none"/>
                <a:tailEnd len="sm" w="sm" type="none"/>
              </a:ln>
            </p:spPr>
          </p:cxnSp>
          <p:cxnSp>
            <p:nvCxnSpPr>
              <p:cNvPr id="282" name="Google Shape;282;p13"/>
              <p:cNvCxnSpPr/>
              <p:nvPr/>
            </p:nvCxnSpPr>
            <p:spPr>
              <a:xfrm>
                <a:off x="9866741" y="4084726"/>
                <a:ext cx="0" cy="132322"/>
              </a:xfrm>
              <a:prstGeom prst="straightConnector1">
                <a:avLst/>
              </a:prstGeom>
              <a:noFill/>
              <a:ln cap="rnd" cmpd="sng" w="38100">
                <a:solidFill>
                  <a:schemeClr val="accent1"/>
                </a:solidFill>
                <a:prstDash val="dot"/>
                <a:bevel/>
                <a:headEnd len="sm" w="sm" type="none"/>
                <a:tailEnd len="sm" w="sm" type="none"/>
              </a:ln>
            </p:spPr>
          </p:cxnSp>
          <p:sp>
            <p:nvSpPr>
              <p:cNvPr id="283" name="Google Shape;283;p13"/>
              <p:cNvSpPr txBox="1"/>
              <p:nvPr/>
            </p:nvSpPr>
            <p:spPr>
              <a:xfrm>
                <a:off x="10347251" y="4491911"/>
                <a:ext cx="670200" cy="5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23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List 10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84" name="Google Shape;284;p13"/>
              <p:cNvCxnSpPr/>
              <p:nvPr/>
            </p:nvCxnSpPr>
            <p:spPr>
              <a:xfrm>
                <a:off x="8242258" y="4528273"/>
                <a:ext cx="0" cy="132322"/>
              </a:xfrm>
              <a:prstGeom prst="straightConnector1">
                <a:avLst/>
              </a:prstGeom>
              <a:noFill/>
              <a:ln cap="rnd" cmpd="sng" w="38100">
                <a:solidFill>
                  <a:schemeClr val="accent1"/>
                </a:solidFill>
                <a:prstDash val="dot"/>
                <a:bevel/>
                <a:headEnd len="sm" w="sm" type="none"/>
                <a:tailEnd len="sm" w="sm" type="none"/>
              </a:ln>
            </p:spPr>
          </p:cxnSp>
          <p:cxnSp>
            <p:nvCxnSpPr>
              <p:cNvPr id="285" name="Google Shape;285;p13"/>
              <p:cNvCxnSpPr/>
              <p:nvPr/>
            </p:nvCxnSpPr>
            <p:spPr>
              <a:xfrm>
                <a:off x="9866741" y="4528273"/>
                <a:ext cx="0" cy="132322"/>
              </a:xfrm>
              <a:prstGeom prst="straightConnector1">
                <a:avLst/>
              </a:prstGeom>
              <a:noFill/>
              <a:ln cap="rnd" cmpd="sng" w="38100">
                <a:solidFill>
                  <a:schemeClr val="accent1"/>
                </a:solidFill>
                <a:prstDash val="dot"/>
                <a:bevel/>
                <a:headEnd len="sm" w="sm" type="none"/>
                <a:tailEnd len="sm" w="sm" type="none"/>
              </a:ln>
            </p:spPr>
          </p:cxnSp>
        </p:grpSp>
      </p:grpSp>
      <p:sp>
        <p:nvSpPr>
          <p:cNvPr id="286" name="Google Shape;286;p13"/>
          <p:cNvSpPr/>
          <p:nvPr/>
        </p:nvSpPr>
        <p:spPr>
          <a:xfrm>
            <a:off x="3365335" y="1683110"/>
            <a:ext cx="8445422" cy="949203"/>
          </a:xfrm>
          <a:custGeom>
            <a:rect b="b" l="l" r="r" t="t"/>
            <a:pathLst>
              <a:path extrusionOk="0" h="949203" w="8445422">
                <a:moveTo>
                  <a:pt x="0" y="0"/>
                </a:moveTo>
                <a:lnTo>
                  <a:pt x="8445422" y="0"/>
                </a:lnTo>
                <a:lnTo>
                  <a:pt x="8445422" y="949203"/>
                </a:lnTo>
                <a:lnTo>
                  <a:pt x="0" y="94920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76200" lIns="76200" spcFirstLastPara="1" rIns="76200" wrap="square" tIns="762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Participants needed to respond "OLD" for final TARGETS and "NEW" for new FOILS.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"/>
          <p:cNvSpPr txBox="1"/>
          <p:nvPr>
            <p:ph type="title"/>
          </p:nvPr>
        </p:nvSpPr>
        <p:spPr>
          <a:xfrm>
            <a:off x="244446" y="-333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Study 1 – Testing Conditions</a:t>
            </a:r>
            <a:endParaRPr/>
          </a:p>
        </p:txBody>
      </p:sp>
      <p:sp>
        <p:nvSpPr>
          <p:cNvPr id="293" name="Google Shape;293;p14"/>
          <p:cNvSpPr txBox="1"/>
          <p:nvPr>
            <p:ph idx="1" type="body"/>
          </p:nvPr>
        </p:nvSpPr>
        <p:spPr>
          <a:xfrm>
            <a:off x="130632" y="1979090"/>
            <a:ext cx="6196800" cy="47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Random Group</a:t>
            </a:r>
            <a:r>
              <a:rPr lang="en-US" sz="2000"/>
              <a:t>: Final targets and foils were randomly mixed across lists. </a:t>
            </a:r>
            <a:r>
              <a:rPr lang="en-US" sz="1900"/>
              <a:t>No list number provided.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Forward Group</a:t>
            </a:r>
            <a:r>
              <a:rPr lang="en-US" sz="2000"/>
              <a:t>: </a:t>
            </a:r>
            <a:r>
              <a:rPr lang="en-US" sz="1900"/>
              <a:t>Pictures tested in the order they were originally studied.</a:t>
            </a:r>
            <a:endParaRPr sz="2000"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70C0"/>
                </a:solidFill>
              </a:rPr>
              <a:t>Testing began with targets from the first list </a:t>
            </a:r>
            <a:r>
              <a:rPr lang="en-US" sz="2000"/>
              <a:t>studied.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70C0"/>
                </a:solidFill>
              </a:rPr>
              <a:t>Proceeded with the next initial list </a:t>
            </a:r>
            <a:r>
              <a:rPr lang="en-US" sz="2000"/>
              <a:t>until all pictures were tested.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Backward Group</a:t>
            </a:r>
            <a:r>
              <a:rPr lang="en-US" sz="2000"/>
              <a:t>: </a:t>
            </a:r>
            <a:r>
              <a:rPr lang="en-US" sz="1900"/>
              <a:t>Pictures tested in reverse order from the study phase.</a:t>
            </a:r>
            <a:endParaRPr sz="2000"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70C0"/>
                </a:solidFill>
              </a:rPr>
              <a:t>Testing began with targets from the last list</a:t>
            </a:r>
            <a:r>
              <a:rPr lang="en-US" sz="2000"/>
              <a:t> studied.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70C0"/>
                </a:solidFill>
              </a:rPr>
              <a:t>Proceeded with the next-to-last initial list </a:t>
            </a:r>
            <a:r>
              <a:rPr lang="en-US" sz="2000"/>
              <a:t>until all pictures were tested.</a:t>
            </a:r>
            <a:endParaRPr/>
          </a:p>
        </p:txBody>
      </p:sp>
      <p:grpSp>
        <p:nvGrpSpPr>
          <p:cNvPr id="294" name="Google Shape;294;p14"/>
          <p:cNvGrpSpPr/>
          <p:nvPr/>
        </p:nvGrpSpPr>
        <p:grpSpPr>
          <a:xfrm>
            <a:off x="6311792" y="1975389"/>
            <a:ext cx="5680820" cy="4751863"/>
            <a:chOff x="6352180" y="545732"/>
            <a:chExt cx="5680820" cy="4751863"/>
          </a:xfrm>
        </p:grpSpPr>
        <p:sp>
          <p:nvSpPr>
            <p:cNvPr id="295" name="Google Shape;295;p14"/>
            <p:cNvSpPr/>
            <p:nvPr/>
          </p:nvSpPr>
          <p:spPr>
            <a:xfrm>
              <a:off x="6352180" y="1811935"/>
              <a:ext cx="5661991" cy="1108056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Forward group</a:t>
              </a:r>
              <a:endParaRPr/>
            </a:p>
          </p:txBody>
        </p:sp>
        <p:sp>
          <p:nvSpPr>
            <p:cNvPr id="296" name="Google Shape;296;p14"/>
            <p:cNvSpPr/>
            <p:nvPr/>
          </p:nvSpPr>
          <p:spPr>
            <a:xfrm>
              <a:off x="6352180" y="3217011"/>
              <a:ext cx="5661991" cy="1100105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Backward group</a:t>
              </a:r>
              <a:endParaRPr/>
            </a:p>
          </p:txBody>
        </p:sp>
        <p:sp>
          <p:nvSpPr>
            <p:cNvPr id="297" name="Google Shape;297;p14"/>
            <p:cNvSpPr/>
            <p:nvPr/>
          </p:nvSpPr>
          <p:spPr>
            <a:xfrm>
              <a:off x="6371009" y="545732"/>
              <a:ext cx="5661991" cy="1108056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Random group</a:t>
              </a:r>
              <a:endParaRPr/>
            </a:p>
          </p:txBody>
        </p:sp>
        <p:grpSp>
          <p:nvGrpSpPr>
            <p:cNvPr id="298" name="Google Shape;298;p14"/>
            <p:cNvGrpSpPr/>
            <p:nvPr/>
          </p:nvGrpSpPr>
          <p:grpSpPr>
            <a:xfrm>
              <a:off x="9166432" y="1253119"/>
              <a:ext cx="2644866" cy="4044476"/>
              <a:chOff x="6535737" y="-1136350"/>
              <a:chExt cx="2644865" cy="4044476"/>
            </a:xfrm>
          </p:grpSpPr>
          <p:sp>
            <p:nvSpPr>
              <p:cNvPr id="299" name="Google Shape;299;p14"/>
              <p:cNvSpPr/>
              <p:nvPr/>
            </p:nvSpPr>
            <p:spPr>
              <a:xfrm>
                <a:off x="7627044" y="-1136350"/>
                <a:ext cx="225154" cy="160825"/>
              </a:xfrm>
              <a:prstGeom prst="rect">
                <a:avLst/>
              </a:prstGeom>
              <a:solidFill>
                <a:schemeClr val="accent6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7263275" y="-1136350"/>
                <a:ext cx="225154" cy="160825"/>
              </a:xfrm>
              <a:prstGeom prst="rect">
                <a:avLst/>
              </a:prstGeom>
              <a:solidFill>
                <a:srgbClr val="FFC000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6899506" y="-1136350"/>
                <a:ext cx="225154" cy="160825"/>
              </a:xfrm>
              <a:prstGeom prst="rect">
                <a:avLst/>
              </a:prstGeom>
              <a:solidFill>
                <a:schemeClr val="accent1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14"/>
              <p:cNvSpPr/>
              <p:nvPr/>
            </p:nvSpPr>
            <p:spPr>
              <a:xfrm>
                <a:off x="6535737" y="-1136350"/>
                <a:ext cx="225154" cy="160825"/>
              </a:xfrm>
              <a:prstGeom prst="rect">
                <a:avLst/>
              </a:prstGeom>
              <a:solidFill>
                <a:schemeClr val="accent6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14"/>
              <p:cNvSpPr/>
              <p:nvPr/>
            </p:nvSpPr>
            <p:spPr>
              <a:xfrm>
                <a:off x="7990813" y="-1136350"/>
                <a:ext cx="225154" cy="160825"/>
              </a:xfrm>
              <a:prstGeom prst="rect">
                <a:avLst/>
              </a:prstGeom>
              <a:solidFill>
                <a:schemeClr val="accent4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04" name="Google Shape;304;p14"/>
              <p:cNvCxnSpPr/>
              <p:nvPr/>
            </p:nvCxnSpPr>
            <p:spPr>
              <a:xfrm>
                <a:off x="8433496" y="-1133286"/>
                <a:ext cx="0" cy="183799"/>
              </a:xfrm>
              <a:prstGeom prst="straightConnector1">
                <a:avLst/>
              </a:prstGeom>
              <a:noFill/>
              <a:ln cap="rnd" cmpd="sng" w="38100">
                <a:solidFill>
                  <a:schemeClr val="accent1"/>
                </a:solidFill>
                <a:prstDash val="dot"/>
                <a:bevel/>
                <a:headEnd len="sm" w="sm" type="none"/>
                <a:tailEnd len="sm" w="sm" type="none"/>
              </a:ln>
            </p:spPr>
          </p:cxnSp>
          <p:cxnSp>
            <p:nvCxnSpPr>
              <p:cNvPr id="305" name="Google Shape;305;p14"/>
              <p:cNvCxnSpPr/>
              <p:nvPr/>
            </p:nvCxnSpPr>
            <p:spPr>
              <a:xfrm>
                <a:off x="8807050" y="-1133143"/>
                <a:ext cx="0" cy="183799"/>
              </a:xfrm>
              <a:prstGeom prst="straightConnector1">
                <a:avLst/>
              </a:prstGeom>
              <a:noFill/>
              <a:ln cap="rnd" cmpd="sng" w="38100">
                <a:solidFill>
                  <a:schemeClr val="accent1"/>
                </a:solidFill>
                <a:prstDash val="dot"/>
                <a:bevel/>
                <a:headEnd len="sm" w="sm" type="none"/>
                <a:tailEnd len="sm" w="sm" type="none"/>
              </a:ln>
            </p:spPr>
          </p:cxnSp>
          <p:cxnSp>
            <p:nvCxnSpPr>
              <p:cNvPr id="306" name="Google Shape;306;p14"/>
              <p:cNvCxnSpPr/>
              <p:nvPr/>
            </p:nvCxnSpPr>
            <p:spPr>
              <a:xfrm>
                <a:off x="9088703" y="-1142641"/>
                <a:ext cx="0" cy="183799"/>
              </a:xfrm>
              <a:prstGeom prst="straightConnector1">
                <a:avLst/>
              </a:prstGeom>
              <a:noFill/>
              <a:ln cap="rnd" cmpd="sng" w="38100">
                <a:solidFill>
                  <a:schemeClr val="accent1"/>
                </a:solidFill>
                <a:prstDash val="dot"/>
                <a:bevel/>
                <a:headEnd len="sm" w="sm" type="none"/>
                <a:tailEnd len="sm" w="sm" type="none"/>
              </a:ln>
            </p:spPr>
          </p:cxnSp>
          <p:sp>
            <p:nvSpPr>
              <p:cNvPr id="307" name="Google Shape;307;p14"/>
              <p:cNvSpPr txBox="1"/>
              <p:nvPr/>
            </p:nvSpPr>
            <p:spPr>
              <a:xfrm>
                <a:off x="6994658" y="2538794"/>
                <a:ext cx="1847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8" name="Google Shape;308;p14"/>
            <p:cNvGrpSpPr/>
            <p:nvPr/>
          </p:nvGrpSpPr>
          <p:grpSpPr>
            <a:xfrm>
              <a:off x="7808268" y="2196073"/>
              <a:ext cx="4068316" cy="675825"/>
              <a:chOff x="5752132" y="3037933"/>
              <a:chExt cx="4068315" cy="675825"/>
            </a:xfrm>
          </p:grpSpPr>
          <p:grpSp>
            <p:nvGrpSpPr>
              <p:cNvPr id="309" name="Google Shape;309;p14"/>
              <p:cNvGrpSpPr/>
              <p:nvPr/>
            </p:nvGrpSpPr>
            <p:grpSpPr>
              <a:xfrm>
                <a:off x="5752132" y="3037933"/>
                <a:ext cx="3954471" cy="586736"/>
                <a:chOff x="5187185" y="2538794"/>
                <a:chExt cx="3954471" cy="586736"/>
              </a:xfrm>
            </p:grpSpPr>
            <p:sp>
              <p:nvSpPr>
                <p:cNvPr id="310" name="Google Shape;310;p14"/>
                <p:cNvSpPr/>
                <p:nvPr/>
              </p:nvSpPr>
              <p:spPr>
                <a:xfrm>
                  <a:off x="7662617" y="2964705"/>
                  <a:ext cx="225154" cy="160825"/>
                </a:xfrm>
                <a:prstGeom prst="rect">
                  <a:avLst/>
                </a:prstGeom>
                <a:solidFill>
                  <a:schemeClr val="accent6"/>
                </a:solidFill>
                <a:ln cap="flat" cmpd="sng" w="19050">
                  <a:solidFill>
                    <a:srgbClr val="08283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" name="Google Shape;311;p14"/>
                <p:cNvSpPr/>
                <p:nvPr/>
              </p:nvSpPr>
              <p:spPr>
                <a:xfrm>
                  <a:off x="7298848" y="2964705"/>
                  <a:ext cx="225154" cy="160825"/>
                </a:xfrm>
                <a:prstGeom prst="rect">
                  <a:avLst/>
                </a:prstGeom>
                <a:solidFill>
                  <a:srgbClr val="FFC000"/>
                </a:solidFill>
                <a:ln cap="flat" cmpd="sng" w="19050">
                  <a:solidFill>
                    <a:srgbClr val="08283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" name="Google Shape;312;p14"/>
                <p:cNvSpPr/>
                <p:nvPr/>
              </p:nvSpPr>
              <p:spPr>
                <a:xfrm>
                  <a:off x="6935079" y="2964705"/>
                  <a:ext cx="225154" cy="160825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9050">
                  <a:solidFill>
                    <a:srgbClr val="08283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" name="Google Shape;313;p14"/>
                <p:cNvSpPr/>
                <p:nvPr/>
              </p:nvSpPr>
              <p:spPr>
                <a:xfrm>
                  <a:off x="6571310" y="2964705"/>
                  <a:ext cx="225154" cy="160825"/>
                </a:xfrm>
                <a:prstGeom prst="rect">
                  <a:avLst/>
                </a:prstGeom>
                <a:solidFill>
                  <a:schemeClr val="accent6"/>
                </a:solidFill>
                <a:ln cap="flat" cmpd="sng" w="19050">
                  <a:solidFill>
                    <a:srgbClr val="08283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4" name="Google Shape;314;p14"/>
                <p:cNvSpPr/>
                <p:nvPr/>
              </p:nvSpPr>
              <p:spPr>
                <a:xfrm>
                  <a:off x="8026386" y="2964705"/>
                  <a:ext cx="225154" cy="160825"/>
                </a:xfrm>
                <a:prstGeom prst="rect">
                  <a:avLst/>
                </a:prstGeom>
                <a:solidFill>
                  <a:schemeClr val="accent4"/>
                </a:solidFill>
                <a:ln cap="flat" cmpd="sng" w="19050">
                  <a:solidFill>
                    <a:srgbClr val="08283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5" name="Google Shape;315;p14"/>
                <p:cNvCxnSpPr/>
                <p:nvPr/>
              </p:nvCxnSpPr>
              <p:spPr>
                <a:xfrm>
                  <a:off x="8469069" y="2967769"/>
                  <a:ext cx="0" cy="183799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1"/>
                  </a:solidFill>
                  <a:prstDash val="dot"/>
                  <a:bevel/>
                  <a:headEnd len="sm" w="sm" type="none"/>
                  <a:tailEnd len="sm" w="sm" type="none"/>
                </a:ln>
              </p:spPr>
            </p:cxnSp>
            <p:cxnSp>
              <p:nvCxnSpPr>
                <p:cNvPr id="316" name="Google Shape;316;p14"/>
                <p:cNvCxnSpPr/>
                <p:nvPr/>
              </p:nvCxnSpPr>
              <p:spPr>
                <a:xfrm>
                  <a:off x="8842623" y="2967912"/>
                  <a:ext cx="0" cy="183799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1"/>
                  </a:solidFill>
                  <a:prstDash val="dot"/>
                  <a:bevel/>
                  <a:headEnd len="sm" w="sm" type="none"/>
                  <a:tailEnd len="sm" w="sm" type="none"/>
                </a:ln>
              </p:spPr>
            </p:cxnSp>
            <p:sp>
              <p:nvSpPr>
                <p:cNvPr id="317" name="Google Shape;317;p14"/>
                <p:cNvSpPr txBox="1"/>
                <p:nvPr/>
              </p:nvSpPr>
              <p:spPr>
                <a:xfrm>
                  <a:off x="5187185" y="2538794"/>
                  <a:ext cx="3954471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rgbClr val="1F5C99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List 1</a:t>
                  </a:r>
                  <a:r>
                    <a:rPr lang="en-US" sz="1800">
                      <a:solidFill>
                        <a:srgbClr val="1F5C99"/>
                      </a:solidFill>
                    </a:rPr>
                    <a:t> </a:t>
                  </a:r>
                  <a:r>
                    <a:rPr lang="en-US" sz="1800">
                      <a:solidFill>
                        <a:srgbClr val="1F5C99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2     ...</a:t>
                  </a:r>
                  <a:endParaRPr/>
                </a:p>
              </p:txBody>
            </p:sp>
          </p:grpSp>
          <p:cxnSp>
            <p:nvCxnSpPr>
              <p:cNvPr id="318" name="Google Shape;318;p14"/>
              <p:cNvCxnSpPr/>
              <p:nvPr/>
            </p:nvCxnSpPr>
            <p:spPr>
              <a:xfrm>
                <a:off x="8892988" y="3119718"/>
                <a:ext cx="0" cy="59404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9" name="Google Shape;319;p14"/>
              <p:cNvCxnSpPr/>
              <p:nvPr/>
            </p:nvCxnSpPr>
            <p:spPr>
              <a:xfrm>
                <a:off x="9728548" y="3466908"/>
                <a:ext cx="0" cy="183799"/>
              </a:xfrm>
              <a:prstGeom prst="straightConnector1">
                <a:avLst/>
              </a:prstGeom>
              <a:noFill/>
              <a:ln cap="rnd" cmpd="sng" w="38100">
                <a:solidFill>
                  <a:schemeClr val="accent1"/>
                </a:solidFill>
                <a:prstDash val="dot"/>
                <a:bevel/>
                <a:headEnd len="sm" w="sm" type="none"/>
                <a:tailEnd len="sm" w="sm" type="none"/>
              </a:ln>
            </p:spPr>
          </p:cxnSp>
          <p:cxnSp>
            <p:nvCxnSpPr>
              <p:cNvPr id="320" name="Google Shape;320;p14"/>
              <p:cNvCxnSpPr/>
              <p:nvPr/>
            </p:nvCxnSpPr>
            <p:spPr>
              <a:xfrm>
                <a:off x="9224682" y="3110245"/>
                <a:ext cx="0" cy="59404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1" name="Google Shape;321;p14"/>
              <p:cNvCxnSpPr/>
              <p:nvPr/>
            </p:nvCxnSpPr>
            <p:spPr>
              <a:xfrm>
                <a:off x="9606935" y="3110245"/>
                <a:ext cx="0" cy="59404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22" name="Google Shape;322;p14"/>
            <p:cNvGrpSpPr/>
            <p:nvPr/>
          </p:nvGrpSpPr>
          <p:grpSpPr>
            <a:xfrm>
              <a:off x="7964378" y="3596785"/>
              <a:ext cx="3945383" cy="603513"/>
              <a:chOff x="5875064" y="3110245"/>
              <a:chExt cx="3945383" cy="603513"/>
            </a:xfrm>
          </p:grpSpPr>
          <p:grpSp>
            <p:nvGrpSpPr>
              <p:cNvPr id="323" name="Google Shape;323;p14"/>
              <p:cNvGrpSpPr/>
              <p:nvPr/>
            </p:nvGrpSpPr>
            <p:grpSpPr>
              <a:xfrm>
                <a:off x="5875064" y="3131957"/>
                <a:ext cx="3758934" cy="492712"/>
                <a:chOff x="5310117" y="2632818"/>
                <a:chExt cx="3758934" cy="492712"/>
              </a:xfrm>
            </p:grpSpPr>
            <p:sp>
              <p:nvSpPr>
                <p:cNvPr id="324" name="Google Shape;324;p14"/>
                <p:cNvSpPr/>
                <p:nvPr/>
              </p:nvSpPr>
              <p:spPr>
                <a:xfrm>
                  <a:off x="7662617" y="2964705"/>
                  <a:ext cx="225154" cy="160825"/>
                </a:xfrm>
                <a:prstGeom prst="rect">
                  <a:avLst/>
                </a:prstGeom>
                <a:solidFill>
                  <a:schemeClr val="accent6"/>
                </a:solidFill>
                <a:ln cap="flat" cmpd="sng" w="19050">
                  <a:solidFill>
                    <a:srgbClr val="08283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5" name="Google Shape;325;p14"/>
                <p:cNvSpPr/>
                <p:nvPr/>
              </p:nvSpPr>
              <p:spPr>
                <a:xfrm>
                  <a:off x="7298848" y="2964705"/>
                  <a:ext cx="225154" cy="160825"/>
                </a:xfrm>
                <a:prstGeom prst="rect">
                  <a:avLst/>
                </a:prstGeom>
                <a:solidFill>
                  <a:srgbClr val="FFC000"/>
                </a:solidFill>
                <a:ln cap="flat" cmpd="sng" w="19050">
                  <a:solidFill>
                    <a:srgbClr val="08283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6" name="Google Shape;326;p14"/>
                <p:cNvSpPr/>
                <p:nvPr/>
              </p:nvSpPr>
              <p:spPr>
                <a:xfrm>
                  <a:off x="6935079" y="2964705"/>
                  <a:ext cx="225154" cy="160825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9050">
                  <a:solidFill>
                    <a:srgbClr val="08283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7" name="Google Shape;327;p14"/>
                <p:cNvSpPr/>
                <p:nvPr/>
              </p:nvSpPr>
              <p:spPr>
                <a:xfrm>
                  <a:off x="6571310" y="2964705"/>
                  <a:ext cx="225154" cy="160825"/>
                </a:xfrm>
                <a:prstGeom prst="rect">
                  <a:avLst/>
                </a:prstGeom>
                <a:solidFill>
                  <a:schemeClr val="accent6"/>
                </a:solidFill>
                <a:ln cap="flat" cmpd="sng" w="19050">
                  <a:solidFill>
                    <a:srgbClr val="08283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8" name="Google Shape;328;p14"/>
                <p:cNvSpPr/>
                <p:nvPr/>
              </p:nvSpPr>
              <p:spPr>
                <a:xfrm>
                  <a:off x="8026386" y="2964705"/>
                  <a:ext cx="225154" cy="160825"/>
                </a:xfrm>
                <a:prstGeom prst="rect">
                  <a:avLst/>
                </a:prstGeom>
                <a:solidFill>
                  <a:schemeClr val="accent4"/>
                </a:solidFill>
                <a:ln cap="flat" cmpd="sng" w="19050">
                  <a:solidFill>
                    <a:srgbClr val="08283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29" name="Google Shape;329;p14"/>
                <p:cNvCxnSpPr/>
                <p:nvPr/>
              </p:nvCxnSpPr>
              <p:spPr>
                <a:xfrm>
                  <a:off x="8469069" y="2967769"/>
                  <a:ext cx="0" cy="183799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1"/>
                  </a:solidFill>
                  <a:prstDash val="dot"/>
                  <a:bevel/>
                  <a:headEnd len="sm" w="sm" type="none"/>
                  <a:tailEnd len="sm" w="sm" type="none"/>
                </a:ln>
              </p:spPr>
            </p:cxnSp>
            <p:cxnSp>
              <p:nvCxnSpPr>
                <p:cNvPr id="330" name="Google Shape;330;p14"/>
                <p:cNvCxnSpPr/>
                <p:nvPr/>
              </p:nvCxnSpPr>
              <p:spPr>
                <a:xfrm>
                  <a:off x="8842623" y="2967912"/>
                  <a:ext cx="0" cy="183799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1"/>
                  </a:solidFill>
                  <a:prstDash val="dot"/>
                  <a:bevel/>
                  <a:headEnd len="sm" w="sm" type="none"/>
                  <a:tailEnd len="sm" w="sm" type="none"/>
                </a:ln>
              </p:spPr>
            </p:cxnSp>
            <p:sp>
              <p:nvSpPr>
                <p:cNvPr id="331" name="Google Shape;331;p14"/>
                <p:cNvSpPr txBox="1"/>
                <p:nvPr/>
              </p:nvSpPr>
              <p:spPr>
                <a:xfrm>
                  <a:off x="5310117" y="2632818"/>
                  <a:ext cx="375893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rgbClr val="1F5C99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List 10</a:t>
                  </a:r>
                  <a:r>
                    <a:rPr lang="en-US" sz="1800">
                      <a:solidFill>
                        <a:srgbClr val="1F5C99"/>
                      </a:solidFill>
                    </a:rPr>
                    <a:t> </a:t>
                  </a:r>
                  <a:r>
                    <a:rPr lang="en-US" sz="1800">
                      <a:solidFill>
                        <a:srgbClr val="1F5C99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9    ...</a:t>
                  </a:r>
                  <a:endParaRPr/>
                </a:p>
              </p:txBody>
            </p:sp>
          </p:grpSp>
          <p:cxnSp>
            <p:nvCxnSpPr>
              <p:cNvPr id="332" name="Google Shape;332;p14"/>
              <p:cNvCxnSpPr/>
              <p:nvPr/>
            </p:nvCxnSpPr>
            <p:spPr>
              <a:xfrm>
                <a:off x="8892988" y="3119718"/>
                <a:ext cx="0" cy="59404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3" name="Google Shape;333;p14"/>
              <p:cNvCxnSpPr/>
              <p:nvPr/>
            </p:nvCxnSpPr>
            <p:spPr>
              <a:xfrm>
                <a:off x="9728548" y="3466908"/>
                <a:ext cx="0" cy="183799"/>
              </a:xfrm>
              <a:prstGeom prst="straightConnector1">
                <a:avLst/>
              </a:prstGeom>
              <a:noFill/>
              <a:ln cap="rnd" cmpd="sng" w="38100">
                <a:solidFill>
                  <a:schemeClr val="accent1"/>
                </a:solidFill>
                <a:prstDash val="dot"/>
                <a:bevel/>
                <a:headEnd len="sm" w="sm" type="none"/>
                <a:tailEnd len="sm" w="sm" type="none"/>
              </a:ln>
            </p:spPr>
          </p:cxnSp>
          <p:cxnSp>
            <p:nvCxnSpPr>
              <p:cNvPr id="334" name="Google Shape;334;p14"/>
              <p:cNvCxnSpPr/>
              <p:nvPr/>
            </p:nvCxnSpPr>
            <p:spPr>
              <a:xfrm>
                <a:off x="9224682" y="3110245"/>
                <a:ext cx="0" cy="59404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5" name="Google Shape;335;p14"/>
              <p:cNvCxnSpPr/>
              <p:nvPr/>
            </p:nvCxnSpPr>
            <p:spPr>
              <a:xfrm>
                <a:off x="9606935" y="3110245"/>
                <a:ext cx="0" cy="59404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336" name="Google Shape;336;p14"/>
            <p:cNvSpPr txBox="1"/>
            <p:nvPr/>
          </p:nvSpPr>
          <p:spPr>
            <a:xfrm>
              <a:off x="7622895" y="823055"/>
              <a:ext cx="344129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1F5C99"/>
                  </a:solidFill>
                  <a:latin typeface="Arial"/>
                  <a:ea typeface="Arial"/>
                  <a:cs typeface="Arial"/>
                  <a:sym typeface="Arial"/>
                </a:rPr>
                <a:t>Randomly mixed across lists</a:t>
              </a:r>
              <a:endParaRPr/>
            </a:p>
          </p:txBody>
        </p:sp>
        <p:sp>
          <p:nvSpPr>
            <p:cNvPr id="337" name="Google Shape;337;p14"/>
            <p:cNvSpPr/>
            <p:nvPr/>
          </p:nvSpPr>
          <p:spPr>
            <a:xfrm>
              <a:off x="8451526" y="2619600"/>
              <a:ext cx="225154" cy="160825"/>
            </a:xfrm>
            <a:prstGeom prst="rect">
              <a:avLst/>
            </a:prstGeom>
            <a:solidFill>
              <a:schemeClr val="accent6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14"/>
            <p:cNvSpPr/>
            <p:nvPr/>
          </p:nvSpPr>
          <p:spPr>
            <a:xfrm>
              <a:off x="8826229" y="2619601"/>
              <a:ext cx="225154" cy="160825"/>
            </a:xfrm>
            <a:prstGeom prst="rect">
              <a:avLst/>
            </a:prstGeom>
            <a:solidFill>
              <a:srgbClr val="FFC000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14"/>
            <p:cNvSpPr/>
            <p:nvPr/>
          </p:nvSpPr>
          <p:spPr>
            <a:xfrm>
              <a:off x="8081093" y="2619599"/>
              <a:ext cx="225154" cy="160825"/>
            </a:xfrm>
            <a:prstGeom prst="rect">
              <a:avLst/>
            </a:prstGeom>
            <a:solidFill>
              <a:schemeClr val="accent6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14"/>
            <p:cNvSpPr/>
            <p:nvPr/>
          </p:nvSpPr>
          <p:spPr>
            <a:xfrm>
              <a:off x="7697869" y="2619598"/>
              <a:ext cx="225154" cy="160825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14"/>
            <p:cNvSpPr/>
            <p:nvPr/>
          </p:nvSpPr>
          <p:spPr>
            <a:xfrm>
              <a:off x="7341611" y="2619599"/>
              <a:ext cx="225154" cy="160825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14"/>
            <p:cNvSpPr/>
            <p:nvPr/>
          </p:nvSpPr>
          <p:spPr>
            <a:xfrm>
              <a:off x="6971178" y="2619598"/>
              <a:ext cx="225154" cy="160825"/>
            </a:xfrm>
            <a:prstGeom prst="rect">
              <a:avLst/>
            </a:prstGeom>
            <a:solidFill>
              <a:schemeClr val="accent6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4"/>
            <p:cNvSpPr/>
            <p:nvPr/>
          </p:nvSpPr>
          <p:spPr>
            <a:xfrm>
              <a:off x="6587954" y="2619597"/>
              <a:ext cx="225154" cy="160825"/>
            </a:xfrm>
            <a:prstGeom prst="rect">
              <a:avLst/>
            </a:prstGeom>
            <a:solidFill>
              <a:schemeClr val="accent6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4"/>
            <p:cNvSpPr/>
            <p:nvPr/>
          </p:nvSpPr>
          <p:spPr>
            <a:xfrm>
              <a:off x="8487099" y="3944632"/>
              <a:ext cx="225154" cy="160825"/>
            </a:xfrm>
            <a:prstGeom prst="rect">
              <a:avLst/>
            </a:prstGeom>
            <a:solidFill>
              <a:schemeClr val="accent6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4"/>
            <p:cNvSpPr/>
            <p:nvPr/>
          </p:nvSpPr>
          <p:spPr>
            <a:xfrm>
              <a:off x="8861802" y="3944633"/>
              <a:ext cx="225154" cy="160825"/>
            </a:xfrm>
            <a:prstGeom prst="rect">
              <a:avLst/>
            </a:prstGeom>
            <a:solidFill>
              <a:srgbClr val="FFC000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4"/>
            <p:cNvSpPr/>
            <p:nvPr/>
          </p:nvSpPr>
          <p:spPr>
            <a:xfrm>
              <a:off x="8116666" y="3944631"/>
              <a:ext cx="225154" cy="160825"/>
            </a:xfrm>
            <a:prstGeom prst="rect">
              <a:avLst/>
            </a:prstGeom>
            <a:solidFill>
              <a:schemeClr val="accent6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4"/>
            <p:cNvSpPr/>
            <p:nvPr/>
          </p:nvSpPr>
          <p:spPr>
            <a:xfrm>
              <a:off x="7733442" y="3944630"/>
              <a:ext cx="225154" cy="160825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4"/>
            <p:cNvSpPr/>
            <p:nvPr/>
          </p:nvSpPr>
          <p:spPr>
            <a:xfrm>
              <a:off x="7377184" y="3944631"/>
              <a:ext cx="225154" cy="160825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14"/>
            <p:cNvSpPr/>
            <p:nvPr/>
          </p:nvSpPr>
          <p:spPr>
            <a:xfrm>
              <a:off x="7006751" y="3944630"/>
              <a:ext cx="225154" cy="160825"/>
            </a:xfrm>
            <a:prstGeom prst="rect">
              <a:avLst/>
            </a:prstGeom>
            <a:solidFill>
              <a:schemeClr val="accent6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4"/>
            <p:cNvSpPr/>
            <p:nvPr/>
          </p:nvSpPr>
          <p:spPr>
            <a:xfrm>
              <a:off x="6623527" y="3944629"/>
              <a:ext cx="225154" cy="160825"/>
            </a:xfrm>
            <a:prstGeom prst="rect">
              <a:avLst/>
            </a:prstGeom>
            <a:solidFill>
              <a:schemeClr val="accent6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14"/>
            <p:cNvSpPr/>
            <p:nvPr/>
          </p:nvSpPr>
          <p:spPr>
            <a:xfrm>
              <a:off x="8451526" y="1253118"/>
              <a:ext cx="225154" cy="160825"/>
            </a:xfrm>
            <a:prstGeom prst="rect">
              <a:avLst/>
            </a:prstGeom>
            <a:solidFill>
              <a:schemeClr val="accent6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14"/>
            <p:cNvSpPr/>
            <p:nvPr/>
          </p:nvSpPr>
          <p:spPr>
            <a:xfrm>
              <a:off x="8826229" y="1253119"/>
              <a:ext cx="225154" cy="160825"/>
            </a:xfrm>
            <a:prstGeom prst="rect">
              <a:avLst/>
            </a:prstGeom>
            <a:solidFill>
              <a:srgbClr val="FFC000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4"/>
            <p:cNvSpPr/>
            <p:nvPr/>
          </p:nvSpPr>
          <p:spPr>
            <a:xfrm>
              <a:off x="8081093" y="1253117"/>
              <a:ext cx="225154" cy="160825"/>
            </a:xfrm>
            <a:prstGeom prst="rect">
              <a:avLst/>
            </a:prstGeom>
            <a:solidFill>
              <a:schemeClr val="accent6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14"/>
            <p:cNvSpPr/>
            <p:nvPr/>
          </p:nvSpPr>
          <p:spPr>
            <a:xfrm>
              <a:off x="7697869" y="1253116"/>
              <a:ext cx="225154" cy="160825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14"/>
            <p:cNvSpPr/>
            <p:nvPr/>
          </p:nvSpPr>
          <p:spPr>
            <a:xfrm>
              <a:off x="7341611" y="1253117"/>
              <a:ext cx="225154" cy="160825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4"/>
            <p:cNvSpPr/>
            <p:nvPr/>
          </p:nvSpPr>
          <p:spPr>
            <a:xfrm>
              <a:off x="6971178" y="1253116"/>
              <a:ext cx="225154" cy="160825"/>
            </a:xfrm>
            <a:prstGeom prst="rect">
              <a:avLst/>
            </a:prstGeom>
            <a:solidFill>
              <a:schemeClr val="accent6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4"/>
            <p:cNvSpPr/>
            <p:nvPr/>
          </p:nvSpPr>
          <p:spPr>
            <a:xfrm>
              <a:off x="6587954" y="1253115"/>
              <a:ext cx="225154" cy="160825"/>
            </a:xfrm>
            <a:prstGeom prst="rect">
              <a:avLst/>
            </a:prstGeom>
            <a:solidFill>
              <a:schemeClr val="accent6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8747c234f3_0_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Study 2 – Cued Recall of Words (Overview)</a:t>
            </a:r>
            <a:endParaRPr/>
          </a:p>
        </p:txBody>
      </p:sp>
      <p:sp>
        <p:nvSpPr>
          <p:cNvPr id="364" name="Google Shape;364;g28747c234f3_0_2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/>
              <a:t>Objective</a:t>
            </a:r>
            <a:r>
              <a:rPr lang="en-US" sz="1700"/>
              <a:t>: To explore how context influences cued recall using word lists.</a:t>
            </a:r>
            <a:endParaRPr sz="1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/>
              <a:t>Participants</a:t>
            </a:r>
            <a:r>
              <a:rPr lang="en-US" sz="1700"/>
              <a:t>: 375 participants recruited from Prolific.</a:t>
            </a:r>
            <a:endParaRPr sz="1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/>
              <a:t>Design</a:t>
            </a:r>
            <a:r>
              <a:rPr lang="en-US" sz="1700"/>
              <a:t>: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10 lists of 20 words each (200 total).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Digital counting task to clear short-term memory between lists.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Immediate cued recall test with first two letters as cues.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/>
              <a:t>Word Structure</a:t>
            </a:r>
            <a:r>
              <a:rPr lang="en-US" sz="1700"/>
              <a:t>: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10 words per list share the same first two letters (</a:t>
            </a:r>
            <a:r>
              <a:rPr b="1" lang="en-US" sz="1700"/>
              <a:t>paired</a:t>
            </a:r>
            <a:r>
              <a:rPr lang="en-US" sz="1700"/>
              <a:t>), making 50 first-letter pairs (10 first-letter-pair *5 lists)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10 words are </a:t>
            </a:r>
            <a:r>
              <a:rPr b="1" lang="en-US" sz="1700"/>
              <a:t>unique </a:t>
            </a:r>
            <a:r>
              <a:rPr lang="en-US" sz="1700"/>
              <a:t>in their first two letters,</a:t>
            </a:r>
            <a:r>
              <a:rPr lang="en-US" sz="1700"/>
              <a:t> making 100 first-letter pairs (10 first-letter-pair *10 lists)</a:t>
            </a:r>
            <a:endParaRPr sz="17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150 first-letter pairs in total.</a:t>
            </a:r>
            <a:endParaRPr sz="3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8747c234f3_0_4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Study 2 – Final Cued Recall Test</a:t>
            </a:r>
            <a:endParaRPr/>
          </a:p>
        </p:txBody>
      </p:sp>
      <p:sp>
        <p:nvSpPr>
          <p:cNvPr id="371" name="Google Shape;371;g28747c234f3_0_4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/>
              <a:t>Final Test</a:t>
            </a:r>
            <a:r>
              <a:rPr lang="en-US" sz="1800"/>
              <a:t>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150 first-letter pairs used from the study phase. Two words (in paired condition) could potentially share the same first two letters.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Participants must recall a word that begins with the given first two letters.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If two words share the same letters, participants must recall the most recently studied one.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/>
              <a:t>Testing Groups</a:t>
            </a:r>
            <a:r>
              <a:rPr lang="en-US" sz="1800"/>
              <a:t>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Forward Group</a:t>
            </a:r>
            <a:r>
              <a:rPr lang="en-US" sz="1800"/>
              <a:t>: Tested in the order of study lists (list 1 to 10).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Backward Group</a:t>
            </a:r>
            <a:r>
              <a:rPr lang="en-US" sz="1800"/>
              <a:t>: Tested in reverse order (list 10 to 1).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Forward Random Group</a:t>
            </a:r>
            <a:r>
              <a:rPr lang="en-US" sz="1800"/>
              <a:t>: Tested in an alternating pattern (first, last, second, etc.).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Backward Random Group</a:t>
            </a:r>
            <a:r>
              <a:rPr lang="en-US" sz="1800"/>
              <a:t>: Reverse alternating pattern (last, first, second last, etc.).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Random Group</a:t>
            </a:r>
            <a:r>
              <a:rPr lang="en-US" sz="1800"/>
              <a:t>: Completely random order of word recall with no list number provided.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/>
              <a:t>Final test item: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studied only; studied and tested</a:t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28747c234f3_0_1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4600"/>
              <a:t>Results and modeling overview for study 1</a:t>
            </a:r>
            <a:endParaRPr sz="4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28747c234f3_0_12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500"/>
              <a:buChar char="●"/>
            </a:pPr>
            <a:r>
              <a:rPr b="1" lang="en-US" sz="2500"/>
              <a:t>Within </a:t>
            </a:r>
            <a:r>
              <a:rPr lang="en-US" sz="2500"/>
              <a:t>list results during </a:t>
            </a:r>
            <a:r>
              <a:rPr b="1" lang="en-US" sz="2500"/>
              <a:t>Initial </a:t>
            </a:r>
            <a:r>
              <a:rPr lang="en-US" sz="2500"/>
              <a:t>Testing</a:t>
            </a:r>
            <a:endParaRPr sz="2500"/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n-US" sz="2500"/>
              <a:t>Between</a:t>
            </a:r>
            <a:r>
              <a:rPr lang="en-US" sz="2500"/>
              <a:t> List Results during </a:t>
            </a:r>
            <a:r>
              <a:rPr b="1" lang="en-US" sz="2500"/>
              <a:t>Initial </a:t>
            </a:r>
            <a:r>
              <a:rPr lang="en-US" sz="2500"/>
              <a:t>Testing</a:t>
            </a:r>
            <a:endParaRPr sz="2500"/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n-US" sz="2500"/>
              <a:t>Within </a:t>
            </a:r>
            <a:r>
              <a:rPr lang="en-US" sz="2500"/>
              <a:t>list results during </a:t>
            </a:r>
            <a:r>
              <a:rPr b="1" lang="en-US" sz="2500"/>
              <a:t>Final </a:t>
            </a:r>
            <a:r>
              <a:rPr lang="en-US" sz="2500"/>
              <a:t>Testing</a:t>
            </a:r>
            <a:endParaRPr sz="2500"/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n-US" sz="2500"/>
              <a:t>Between </a:t>
            </a:r>
            <a:r>
              <a:rPr lang="en-US" sz="2500"/>
              <a:t>list results during </a:t>
            </a:r>
            <a:r>
              <a:rPr b="1" lang="en-US" sz="2500"/>
              <a:t>Initial </a:t>
            </a:r>
            <a:r>
              <a:rPr lang="en-US" sz="2500"/>
              <a:t>Testing</a:t>
            </a:r>
            <a:endParaRPr i="1" sz="3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6"/>
          <p:cNvSpPr txBox="1"/>
          <p:nvPr>
            <p:ph idx="1" type="body"/>
          </p:nvPr>
        </p:nvSpPr>
        <p:spPr>
          <a:xfrm>
            <a:off x="838200" y="222422"/>
            <a:ext cx="10515600" cy="5954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i="1" lang="en-US"/>
              <a:t>Within list </a:t>
            </a:r>
            <a:r>
              <a:rPr lang="en-US"/>
              <a:t>results during </a:t>
            </a:r>
            <a:r>
              <a:rPr b="1" i="1" lang="en-US"/>
              <a:t>Initial Testing:</a:t>
            </a:r>
            <a:endParaRPr/>
          </a:p>
        </p:txBody>
      </p:sp>
      <p:pic>
        <p:nvPicPr>
          <p:cNvPr id="385" name="Google Shape;385;p16"/>
          <p:cNvPicPr preferRelativeResize="0"/>
          <p:nvPr/>
        </p:nvPicPr>
        <p:blipFill rotWithShape="1">
          <a:blip r:embed="rId3">
            <a:alphaModFix/>
          </a:blip>
          <a:srcRect b="10721" l="0" r="0" t="3987"/>
          <a:stretch/>
        </p:blipFill>
        <p:spPr>
          <a:xfrm>
            <a:off x="405911" y="882124"/>
            <a:ext cx="10325100" cy="5093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7"/>
          <p:cNvSpPr/>
          <p:nvPr/>
        </p:nvSpPr>
        <p:spPr>
          <a:xfrm>
            <a:off x="5037393" y="1720416"/>
            <a:ext cx="6654800" cy="3417168"/>
          </a:xfrm>
          <a:prstGeom prst="rect">
            <a:avLst/>
          </a:prstGeom>
          <a:solidFill>
            <a:srgbClr val="CACACA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7"/>
          <p:cNvSpPr/>
          <p:nvPr/>
        </p:nvSpPr>
        <p:spPr>
          <a:xfrm>
            <a:off x="5208633" y="2458808"/>
            <a:ext cx="2031398" cy="2608890"/>
          </a:xfrm>
          <a:custGeom>
            <a:rect b="b" l="l" r="r" t="t"/>
            <a:pathLst>
              <a:path extrusionOk="0" h="2608890" w="2031398">
                <a:moveTo>
                  <a:pt x="0" y="0"/>
                </a:moveTo>
                <a:lnTo>
                  <a:pt x="2031398" y="0"/>
                </a:lnTo>
                <a:lnTo>
                  <a:pt x="2031398" y="2608890"/>
                </a:lnTo>
                <a:lnTo>
                  <a:pt x="0" y="260889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Primacy and Recency Effects (S</a:t>
            </a:r>
            <a:r>
              <a:rPr b="1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tudy </a:t>
            </a:r>
            <a:r>
              <a:rPr b="1" i="0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position)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1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Analysis by study position shows some primacy and a small amount of recency.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7"/>
          <p:cNvSpPr/>
          <p:nvPr/>
        </p:nvSpPr>
        <p:spPr>
          <a:xfrm>
            <a:off x="7378112" y="2502055"/>
            <a:ext cx="4243116" cy="2367715"/>
          </a:xfrm>
          <a:custGeom>
            <a:rect b="b" l="l" r="r" t="t"/>
            <a:pathLst>
              <a:path extrusionOk="0" h="2893346" w="4243116">
                <a:moveTo>
                  <a:pt x="0" y="0"/>
                </a:moveTo>
                <a:lnTo>
                  <a:pt x="4243116" y="0"/>
                </a:lnTo>
                <a:lnTo>
                  <a:pt x="4243116" y="2893346"/>
                </a:lnTo>
                <a:lnTo>
                  <a:pt x="0" y="28933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 Interference (OI; Test position)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171450" marR="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evidence of OI for the 10 target and 10 foil tests for pictures.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1714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Previous research found strong OI for words with more than ten tests.</a:t>
            </a:r>
            <a:endParaRPr/>
          </a:p>
        </p:txBody>
      </p:sp>
      <p:sp>
        <p:nvSpPr>
          <p:cNvPr id="394" name="Google Shape;394;p17"/>
          <p:cNvSpPr/>
          <p:nvPr/>
        </p:nvSpPr>
        <p:spPr>
          <a:xfrm>
            <a:off x="4871038" y="1316814"/>
            <a:ext cx="1131311" cy="1131311"/>
          </a:xfrm>
          <a:prstGeom prst="plus">
            <a:avLst>
              <a:gd fmla="val 32810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7"/>
          <p:cNvSpPr/>
          <p:nvPr/>
        </p:nvSpPr>
        <p:spPr>
          <a:xfrm>
            <a:off x="10461047" y="1723661"/>
            <a:ext cx="1064763" cy="364885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6" name="Google Shape;396;p17"/>
          <p:cNvCxnSpPr/>
          <p:nvPr/>
        </p:nvCxnSpPr>
        <p:spPr>
          <a:xfrm>
            <a:off x="7261830" y="2366210"/>
            <a:ext cx="665" cy="2444729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397" name="Google Shape;397;p17"/>
          <p:cNvGrpSpPr/>
          <p:nvPr/>
        </p:nvGrpSpPr>
        <p:grpSpPr>
          <a:xfrm>
            <a:off x="-105305" y="446575"/>
            <a:ext cx="4860726" cy="4110959"/>
            <a:chOff x="7088534" y="125437"/>
            <a:chExt cx="4977571" cy="4093104"/>
          </a:xfrm>
        </p:grpSpPr>
        <p:pic>
          <p:nvPicPr>
            <p:cNvPr id="398" name="Google Shape;398;p17"/>
            <p:cNvPicPr preferRelativeResize="0"/>
            <p:nvPr/>
          </p:nvPicPr>
          <p:blipFill rotWithShape="1">
            <a:blip r:embed="rId3">
              <a:alphaModFix/>
            </a:blip>
            <a:srcRect b="39628" l="73652" r="2732" t="35921"/>
            <a:stretch/>
          </p:blipFill>
          <p:spPr>
            <a:xfrm>
              <a:off x="10419003" y="3362979"/>
              <a:ext cx="1428750" cy="8555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9" name="Google Shape;399;p17"/>
            <p:cNvPicPr preferRelativeResize="0"/>
            <p:nvPr/>
          </p:nvPicPr>
          <p:blipFill rotWithShape="1">
            <a:blip r:embed="rId4">
              <a:alphaModFix/>
            </a:blip>
            <a:srcRect b="0" l="-1491" r="25664" t="0"/>
            <a:stretch/>
          </p:blipFill>
          <p:spPr>
            <a:xfrm>
              <a:off x="7088534" y="125437"/>
              <a:ext cx="4977571" cy="32375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0" name="Google Shape;400;p17"/>
          <p:cNvSpPr txBox="1"/>
          <p:nvPr/>
        </p:nvSpPr>
        <p:spPr>
          <a:xfrm>
            <a:off x="289435" y="4933751"/>
            <a:ext cx="10988816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Higher C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Rs than Hs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457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Higher correct responses to foils ('correct rejections' or CRs) than to targets ('hits' or Hs).</a:t>
            </a:r>
            <a:endParaRPr/>
          </a:p>
          <a:p>
            <a:pPr indent="-127000" lvl="1" marL="457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Difference decreases as testing continues.</a:t>
            </a:r>
            <a:endParaRPr/>
          </a:p>
        </p:txBody>
      </p:sp>
      <p:sp>
        <p:nvSpPr>
          <p:cNvPr id="401" name="Google Shape;401;p17"/>
          <p:cNvSpPr txBox="1"/>
          <p:nvPr/>
        </p:nvSpPr>
        <p:spPr>
          <a:xfrm>
            <a:off x="4755421" y="174171"/>
            <a:ext cx="736400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Within list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results during </a:t>
            </a:r>
            <a:r>
              <a:rPr b="1" i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 Testing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8"/>
          <p:cNvSpPr txBox="1"/>
          <p:nvPr>
            <p:ph type="title"/>
          </p:nvPr>
        </p:nvSpPr>
        <p:spPr>
          <a:xfrm>
            <a:off x="20682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/>
              <a:t>Current Model --  Storage During Testing</a:t>
            </a:r>
            <a:endParaRPr/>
          </a:p>
        </p:txBody>
      </p:sp>
      <p:sp>
        <p:nvSpPr>
          <p:cNvPr id="408" name="Google Shape;408;p18"/>
          <p:cNvSpPr txBox="1"/>
          <p:nvPr>
            <p:ph idx="1" type="body"/>
          </p:nvPr>
        </p:nvSpPr>
        <p:spPr>
          <a:xfrm>
            <a:off x="206828" y="1897028"/>
            <a:ext cx="10715625" cy="47089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Storage of Information During Testing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Tests judged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cause storage of a new trace.</a:t>
            </a:r>
            <a:endParaRPr/>
          </a:p>
          <a:p>
            <a:pPr indent="-12700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Tests judged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OLD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often involve trace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which is strengthened by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adding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information from the test item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(Criss, Malmberg &amp; Shiffrin, 2011; Kilic, Criss, Malmberg &amp; Shiffrin, 2017)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 (1997)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Strengthening a trace reduces its similarity to different test items tested later.</a:t>
            </a:r>
            <a:endParaRPr/>
          </a:p>
          <a:p>
            <a:pPr indent="-12700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shift increases correct rejections and decreases hits for later items.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</a:pPr>
            <a:r>
              <a:rPr b="0" i="0" lang="en-US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🡪 Lower similarity, lower odds, lower Hs, higher CRs </a:t>
            </a:r>
            <a:endParaRPr b="0" i="0" sz="20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Adding a Filter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filter prevents activation of traces that poorly match the probe in context and content.</a:t>
            </a:r>
            <a:endParaRPr/>
          </a:p>
          <a:p>
            <a:pPr indent="-12700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Strengthened traces become less similar, so the filter tends not to activate them.</a:t>
            </a:r>
            <a:endParaRPr/>
          </a:p>
          <a:p>
            <a:pPr indent="-12700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could potentially decrease correct rejections, increase hits, and amplifies these effects as testing continues.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9" name="Google Shape;409;p18"/>
          <p:cNvPicPr preferRelativeResize="0"/>
          <p:nvPr/>
        </p:nvPicPr>
        <p:blipFill rotWithShape="1">
          <a:blip r:embed="rId3">
            <a:alphaModFix/>
          </a:blip>
          <a:srcRect b="0" l="-1491" r="25664" t="0"/>
          <a:stretch/>
        </p:blipFill>
        <p:spPr>
          <a:xfrm>
            <a:off x="9799874" y="1144601"/>
            <a:ext cx="2185299" cy="1461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9"/>
          <p:cNvSpPr txBox="1"/>
          <p:nvPr/>
        </p:nvSpPr>
        <p:spPr>
          <a:xfrm>
            <a:off x="489058" y="452841"/>
            <a:ext cx="5233222" cy="1200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Between-List </a:t>
            </a:r>
            <a:r>
              <a:rPr lang="en-US" sz="3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Results during Initial Testing</a:t>
            </a:r>
            <a:endParaRPr sz="3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16" name="Google Shape;416;p19"/>
          <p:cNvSpPr txBox="1"/>
          <p:nvPr/>
        </p:nvSpPr>
        <p:spPr>
          <a:xfrm>
            <a:off x="111828" y="1830682"/>
            <a:ext cx="5456329" cy="4184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Performance Decline Over Lists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is a decrease in Hs.</a:t>
            </a:r>
            <a:endParaRPr/>
          </a:p>
          <a:p>
            <a:pPr indent="-228600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decrease in Hs may be due to the activation of traces from prior lists. (Aligned with Osth and Denis’s work on “context noise” from prior lists)</a:t>
            </a:r>
            <a:endParaRPr/>
          </a:p>
          <a:p>
            <a:pPr indent="-228600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reason this decline is observed only for hits depends on the specifics of how the REM model is extended.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 Model Predictions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 generally predicts that correct rejections (CRs) will be higher than hits (Hs) on average.</a:t>
            </a:r>
            <a:endParaRPr/>
          </a:p>
        </p:txBody>
      </p:sp>
      <p:grpSp>
        <p:nvGrpSpPr>
          <p:cNvPr id="417" name="Google Shape;417;p19"/>
          <p:cNvGrpSpPr/>
          <p:nvPr/>
        </p:nvGrpSpPr>
        <p:grpSpPr>
          <a:xfrm>
            <a:off x="5954065" y="1238605"/>
            <a:ext cx="5927701" cy="3915498"/>
            <a:chOff x="5954065" y="1238605"/>
            <a:chExt cx="5927701" cy="3915498"/>
          </a:xfrm>
        </p:grpSpPr>
        <p:pic>
          <p:nvPicPr>
            <p:cNvPr id="418" name="Google Shape;418;p19"/>
            <p:cNvPicPr preferRelativeResize="0"/>
            <p:nvPr/>
          </p:nvPicPr>
          <p:blipFill rotWithShape="1">
            <a:blip r:embed="rId3">
              <a:alphaModFix/>
            </a:blip>
            <a:srcRect b="14161" l="0" r="0" t="0"/>
            <a:stretch/>
          </p:blipFill>
          <p:spPr>
            <a:xfrm>
              <a:off x="5954065" y="1238605"/>
              <a:ext cx="5927701" cy="35605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9" name="Google Shape;419;p19"/>
            <p:cNvSpPr txBox="1"/>
            <p:nvPr/>
          </p:nvSpPr>
          <p:spPr>
            <a:xfrm>
              <a:off x="7747038" y="4846326"/>
              <a:ext cx="208448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List number in initial test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preview" id="425" name="Google Shape;425;p20"/>
          <p:cNvPicPr preferRelativeResize="0"/>
          <p:nvPr/>
        </p:nvPicPr>
        <p:blipFill rotWithShape="1">
          <a:blip r:embed="rId3">
            <a:alphaModFix/>
          </a:blip>
          <a:srcRect b="13809" l="0" r="0" t="0"/>
          <a:stretch/>
        </p:blipFill>
        <p:spPr>
          <a:xfrm>
            <a:off x="145195" y="220602"/>
            <a:ext cx="9259910" cy="336496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20"/>
          <p:cNvSpPr/>
          <p:nvPr/>
        </p:nvSpPr>
        <p:spPr>
          <a:xfrm>
            <a:off x="4511704" y="2442067"/>
            <a:ext cx="4195202" cy="4195202"/>
          </a:xfrm>
          <a:custGeom>
            <a:rect b="b" l="l" r="r" t="t"/>
            <a:pathLst>
              <a:path extrusionOk="0" h="4195202" w="4195202">
                <a:moveTo>
                  <a:pt x="0" y="2097601"/>
                </a:moveTo>
                <a:cubicBezTo>
                  <a:pt x="0" y="939128"/>
                  <a:pt x="939128" y="0"/>
                  <a:pt x="2097601" y="0"/>
                </a:cubicBezTo>
                <a:cubicBezTo>
                  <a:pt x="3256074" y="0"/>
                  <a:pt x="4195202" y="939128"/>
                  <a:pt x="4195202" y="2097601"/>
                </a:cubicBezTo>
                <a:cubicBezTo>
                  <a:pt x="4195202" y="3256074"/>
                  <a:pt x="3256074" y="4195202"/>
                  <a:pt x="2097601" y="4195202"/>
                </a:cubicBezTo>
                <a:cubicBezTo>
                  <a:pt x="939128" y="4195202"/>
                  <a:pt x="0" y="3256074"/>
                  <a:pt x="0" y="2097601"/>
                </a:cubicBezTo>
                <a:close/>
              </a:path>
            </a:pathLst>
          </a:custGeom>
          <a:solidFill>
            <a:schemeClr val="lt1">
              <a:alpha val="49803"/>
            </a:schemeClr>
          </a:solidFill>
          <a:ln cap="flat" cmpd="sng" w="19050">
            <a:solidFill>
              <a:srgbClr val="1F5C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649925" lIns="845225" spcFirstLastPara="1" rIns="845225" wrap="square" tIns="6499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 Study Position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 study position has little impact on final testing performance.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0"/>
          <p:cNvSpPr/>
          <p:nvPr/>
        </p:nvSpPr>
        <p:spPr>
          <a:xfrm>
            <a:off x="7867865" y="2442067"/>
            <a:ext cx="4324135" cy="4195202"/>
          </a:xfrm>
          <a:custGeom>
            <a:rect b="b" l="l" r="r" t="t"/>
            <a:pathLst>
              <a:path extrusionOk="0" h="4195202" w="4195202">
                <a:moveTo>
                  <a:pt x="0" y="2097601"/>
                </a:moveTo>
                <a:cubicBezTo>
                  <a:pt x="0" y="939128"/>
                  <a:pt x="939128" y="0"/>
                  <a:pt x="2097601" y="0"/>
                </a:cubicBezTo>
                <a:cubicBezTo>
                  <a:pt x="3256074" y="0"/>
                  <a:pt x="4195202" y="939128"/>
                  <a:pt x="4195202" y="2097601"/>
                </a:cubicBezTo>
                <a:cubicBezTo>
                  <a:pt x="4195202" y="3256074"/>
                  <a:pt x="3256074" y="4195202"/>
                  <a:pt x="2097601" y="4195202"/>
                </a:cubicBezTo>
                <a:cubicBezTo>
                  <a:pt x="939128" y="4195202"/>
                  <a:pt x="0" y="3256074"/>
                  <a:pt x="0" y="2097601"/>
                </a:cubicBezTo>
                <a:close/>
              </a:path>
            </a:pathLst>
          </a:custGeom>
          <a:solidFill>
            <a:schemeClr val="lt1">
              <a:alpha val="49803"/>
            </a:schemeClr>
          </a:solidFill>
          <a:ln cap="flat" cmpd="sng" w="19050">
            <a:solidFill>
              <a:srgbClr val="1F5C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644850" lIns="845225" spcFirstLastPara="1" rIns="845225" wrap="square" tIns="6448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 Test position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171450" marR="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Items tested later in each list are better recognized in final testing.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171450" marR="0" rtl="0" algn="l">
              <a:lnSpc>
                <a:spcPct val="9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Possible reason: Targets tested later may have a higher chance of recalling their trace due to associations with pictures recalled earlier in testing.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0"/>
          <p:cNvSpPr txBox="1"/>
          <p:nvPr>
            <p:ph type="title"/>
          </p:nvPr>
        </p:nvSpPr>
        <p:spPr>
          <a:xfrm>
            <a:off x="0" y="4287350"/>
            <a:ext cx="4655734" cy="16481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None/>
            </a:pPr>
            <a:r>
              <a:rPr b="1" i="1" lang="en-US" sz="2800"/>
              <a:t>Within-List</a:t>
            </a:r>
            <a:r>
              <a:rPr b="1" lang="en-US" sz="2800"/>
              <a:t> Final test results</a:t>
            </a:r>
            <a:br>
              <a:rPr b="1" lang="en-US" sz="2800"/>
            </a:br>
            <a:br>
              <a:rPr b="1" lang="en-US" sz="2800"/>
            </a:br>
            <a:r>
              <a:rPr lang="en-US" sz="2400">
                <a:latin typeface="Arial"/>
                <a:ea typeface="Arial"/>
                <a:cs typeface="Arial"/>
                <a:sym typeface="Arial"/>
              </a:rPr>
              <a:t>- Averaged across 3 groups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1"/>
          <p:cNvSpPr txBox="1"/>
          <p:nvPr>
            <p:ph type="title"/>
          </p:nvPr>
        </p:nvSpPr>
        <p:spPr>
          <a:xfrm>
            <a:off x="463855" y="1218824"/>
            <a:ext cx="6155988" cy="11829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Play"/>
              <a:buNone/>
            </a:pPr>
            <a:r>
              <a:rPr i="1" lang="en-US" sz="39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Between List </a:t>
            </a:r>
            <a:r>
              <a:rPr lang="en-US" sz="39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Final Test Result (by initial list position) </a:t>
            </a:r>
            <a:r>
              <a:rPr lang="en-US" sz="3900"/>
              <a:t> </a:t>
            </a:r>
            <a:endParaRPr sz="39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34" name="Google Shape;434;p21"/>
          <p:cNvSpPr txBox="1"/>
          <p:nvPr>
            <p:ph idx="1" type="body"/>
          </p:nvPr>
        </p:nvSpPr>
        <p:spPr>
          <a:xfrm>
            <a:off x="423286" y="2685638"/>
            <a:ext cx="7099947" cy="3832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>
                <a:solidFill>
                  <a:schemeClr val="dk1"/>
                </a:solidFill>
              </a:rPr>
              <a:t>Arranging by Initial list position for random condition best shows primacy/recency effect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solidFill>
                  <a:schemeClr val="dk1"/>
                </a:solidFill>
              </a:rPr>
              <a:t>Modest primacy and recency effects.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>
                <a:solidFill>
                  <a:schemeClr val="dk1"/>
                </a:solidFill>
              </a:rPr>
              <a:t>Striking observation</a:t>
            </a:r>
            <a:endParaRPr sz="2000">
              <a:solidFill>
                <a:schemeClr val="dk1"/>
              </a:solidFill>
            </a:endParaRPr>
          </a:p>
          <a:p>
            <a:pPr indent="-22860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solidFill>
                  <a:schemeClr val="dk1"/>
                </a:solidFill>
              </a:rPr>
              <a:t>Pictures </a:t>
            </a:r>
            <a:r>
              <a:rPr i="1" lang="en-US" sz="2000">
                <a:solidFill>
                  <a:schemeClr val="accent1"/>
                </a:solidFill>
              </a:rPr>
              <a:t>studied only </a:t>
            </a:r>
            <a:r>
              <a:rPr lang="en-US" sz="2000">
                <a:solidFill>
                  <a:schemeClr val="dk1"/>
                </a:solidFill>
              </a:rPr>
              <a:t>and </a:t>
            </a:r>
            <a:r>
              <a:rPr i="1" lang="en-US" sz="2000">
                <a:solidFill>
                  <a:schemeClr val="accent1"/>
                </a:solidFill>
              </a:rPr>
              <a:t>tested only </a:t>
            </a:r>
            <a:r>
              <a:rPr lang="en-US" sz="2000">
                <a:solidFill>
                  <a:schemeClr val="dk1"/>
                </a:solidFill>
              </a:rPr>
              <a:t>earlier show similar, poor performance.</a:t>
            </a:r>
            <a:endParaRPr/>
          </a:p>
          <a:p>
            <a:pPr indent="-22860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solidFill>
                  <a:schemeClr val="dk1"/>
                </a:solidFill>
              </a:rPr>
              <a:t>Suggests both produced similar strength traces—one during study, the other during testing.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>
                <a:solidFill>
                  <a:schemeClr val="dk1"/>
                </a:solidFill>
              </a:rPr>
              <a:t>Superior performance for study and tested</a:t>
            </a:r>
            <a:endParaRPr sz="2000">
              <a:solidFill>
                <a:schemeClr val="dk1"/>
              </a:solidFill>
            </a:endParaRPr>
          </a:p>
          <a:p>
            <a:pPr indent="-22860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solidFill>
                  <a:schemeClr val="dk1"/>
                </a:solidFill>
              </a:rPr>
              <a:t>Items both studied and tested perform much better.</a:t>
            </a:r>
            <a:endParaRPr/>
          </a:p>
          <a:p>
            <a:pPr indent="-22860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solidFill>
                  <a:schemeClr val="dk1"/>
                </a:solidFill>
              </a:rPr>
              <a:t>Likely due to trace storage and strengthening during testing.</a:t>
            </a:r>
            <a:endParaRPr/>
          </a:p>
        </p:txBody>
      </p:sp>
      <p:grpSp>
        <p:nvGrpSpPr>
          <p:cNvPr id="435" name="Google Shape;435;p21"/>
          <p:cNvGrpSpPr/>
          <p:nvPr/>
        </p:nvGrpSpPr>
        <p:grpSpPr>
          <a:xfrm>
            <a:off x="7523233" y="1300781"/>
            <a:ext cx="4279057" cy="3918570"/>
            <a:chOff x="2390775" y="2821205"/>
            <a:chExt cx="4261095" cy="3677976"/>
          </a:xfrm>
        </p:grpSpPr>
        <p:pic>
          <p:nvPicPr>
            <p:cNvPr id="436" name="Google Shape;436;p21"/>
            <p:cNvPicPr preferRelativeResize="0"/>
            <p:nvPr/>
          </p:nvPicPr>
          <p:blipFill rotWithShape="1">
            <a:blip r:embed="rId3">
              <a:alphaModFix/>
            </a:blip>
            <a:srcRect b="15125" l="0" r="40058" t="3596"/>
            <a:stretch/>
          </p:blipFill>
          <p:spPr>
            <a:xfrm>
              <a:off x="2390775" y="2821205"/>
              <a:ext cx="4261095" cy="33890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7" name="Google Shape;437;p21"/>
            <p:cNvSpPr txBox="1"/>
            <p:nvPr/>
          </p:nvSpPr>
          <p:spPr>
            <a:xfrm>
              <a:off x="4040554" y="6210301"/>
              <a:ext cx="1587016" cy="288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Initial List Position</a:t>
              </a:r>
              <a:endPara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38" name="Google Shape;438;p21"/>
          <p:cNvPicPr preferRelativeResize="0"/>
          <p:nvPr/>
        </p:nvPicPr>
        <p:blipFill rotWithShape="1">
          <a:blip r:embed="rId3">
            <a:alphaModFix/>
          </a:blip>
          <a:srcRect b="36681" l="60205" r="0" t="29685"/>
          <a:stretch/>
        </p:blipFill>
        <p:spPr>
          <a:xfrm>
            <a:off x="9060785" y="5239483"/>
            <a:ext cx="2131798" cy="1056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2"/>
          <p:cNvSpPr txBox="1"/>
          <p:nvPr>
            <p:ph type="title"/>
          </p:nvPr>
        </p:nvSpPr>
        <p:spPr>
          <a:xfrm>
            <a:off x="422898" y="1145857"/>
            <a:ext cx="5253330" cy="18778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Play"/>
              <a:buNone/>
            </a:pPr>
            <a:r>
              <a:rPr b="1" i="1" lang="en-US" sz="4100"/>
              <a:t>Between-List </a:t>
            </a:r>
            <a:r>
              <a:rPr b="1" lang="en-US" sz="4100"/>
              <a:t>Final Test Result (by final test position)</a:t>
            </a:r>
            <a:endParaRPr sz="4100"/>
          </a:p>
        </p:txBody>
      </p:sp>
      <p:sp>
        <p:nvSpPr>
          <p:cNvPr id="445" name="Google Shape;445;p22"/>
          <p:cNvSpPr txBox="1"/>
          <p:nvPr>
            <p:ph idx="1" type="body"/>
          </p:nvPr>
        </p:nvSpPr>
        <p:spPr>
          <a:xfrm>
            <a:off x="422898" y="3143534"/>
            <a:ext cx="6966442" cy="36072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i="0" lang="en-US" sz="2200" u="none" cap="none" strike="noStrike"/>
              <a:t>Output Interference (OI)</a:t>
            </a:r>
            <a:endParaRPr b="0" i="0" sz="2200" u="none" cap="none" strike="noStrike"/>
          </a:p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0" i="0" lang="en-US" sz="2200" u="none" cap="none" strike="noStrike"/>
              <a:t>Analysis by final testing position shows output interference (OI), as expected.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i="0" lang="en-US" sz="2200" u="none" cap="none" strike="noStrike"/>
              <a:t>Differences in OI</a:t>
            </a:r>
            <a:endParaRPr b="0" i="0" sz="2200" u="none" cap="none" strike="noStrike"/>
          </a:p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0" i="0" lang="en-US" sz="2200" u="none" cap="none" strike="noStrike"/>
              <a:t>Some differences in OI observed between random, forward, and backward conditions.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0" i="0" lang="en-US" sz="2200" u="none" cap="none" strike="noStrike"/>
              <a:t>These differences might suggest the use of different context cues in each condition.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i="0" lang="en-US" sz="2200" u="none" cap="none" strike="noStrike"/>
              <a:t>Need for Further Modeling</a:t>
            </a:r>
            <a:endParaRPr b="0" i="0" sz="2200" u="none" cap="none" strike="noStrike"/>
          </a:p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0" i="0" lang="en-US" sz="2200" u="none" cap="none" strike="noStrike"/>
              <a:t>The existence and significance of these effects require careful modeling to be established.</a:t>
            </a:r>
            <a:endParaRPr/>
          </a:p>
        </p:txBody>
      </p:sp>
      <p:grpSp>
        <p:nvGrpSpPr>
          <p:cNvPr id="446" name="Google Shape;446;p22"/>
          <p:cNvGrpSpPr/>
          <p:nvPr/>
        </p:nvGrpSpPr>
        <p:grpSpPr>
          <a:xfrm>
            <a:off x="5460533" y="746381"/>
            <a:ext cx="2343305" cy="1026729"/>
            <a:chOff x="196221" y="6237985"/>
            <a:chExt cx="2343305" cy="1026729"/>
          </a:xfrm>
        </p:grpSpPr>
        <p:pic>
          <p:nvPicPr>
            <p:cNvPr id="447" name="Google Shape;447;p22"/>
            <p:cNvPicPr preferRelativeResize="0"/>
            <p:nvPr/>
          </p:nvPicPr>
          <p:blipFill rotWithShape="1">
            <a:blip r:embed="rId3">
              <a:alphaModFix/>
            </a:blip>
            <a:srcRect b="52700" l="59815" r="955" t="37505"/>
            <a:stretch/>
          </p:blipFill>
          <p:spPr>
            <a:xfrm>
              <a:off x="196221" y="6237985"/>
              <a:ext cx="2310958" cy="533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8" name="Google Shape;448;p22"/>
            <p:cNvPicPr preferRelativeResize="0"/>
            <p:nvPr/>
          </p:nvPicPr>
          <p:blipFill rotWithShape="1">
            <a:blip r:embed="rId3">
              <a:alphaModFix/>
            </a:blip>
            <a:srcRect b="44179" l="59813" r="407" t="47458"/>
            <a:stretch/>
          </p:blipFill>
          <p:spPr>
            <a:xfrm>
              <a:off x="196221" y="6809066"/>
              <a:ext cx="2343305" cy="45564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9" name="Google Shape;449;p22"/>
          <p:cNvGrpSpPr/>
          <p:nvPr/>
        </p:nvGrpSpPr>
        <p:grpSpPr>
          <a:xfrm>
            <a:off x="7736058" y="699899"/>
            <a:ext cx="3508717" cy="5446238"/>
            <a:chOff x="7736058" y="699899"/>
            <a:chExt cx="3508717" cy="5446238"/>
          </a:xfrm>
        </p:grpSpPr>
        <p:grpSp>
          <p:nvGrpSpPr>
            <p:cNvPr id="450" name="Google Shape;450;p22"/>
            <p:cNvGrpSpPr/>
            <p:nvPr/>
          </p:nvGrpSpPr>
          <p:grpSpPr>
            <a:xfrm>
              <a:off x="8156111" y="3226895"/>
              <a:ext cx="2668371" cy="393119"/>
              <a:chOff x="838196" y="6171638"/>
              <a:chExt cx="4032739" cy="594125"/>
            </a:xfrm>
          </p:grpSpPr>
          <p:pic>
            <p:nvPicPr>
              <p:cNvPr id="451" name="Google Shape;451;p22"/>
              <p:cNvPicPr preferRelativeResize="0"/>
              <p:nvPr/>
            </p:nvPicPr>
            <p:blipFill rotWithShape="1">
              <a:blip r:embed="rId3">
                <a:alphaModFix/>
              </a:blip>
              <a:srcRect b="52700" l="59815" r="955" t="37505"/>
              <a:stretch/>
            </p:blipFill>
            <p:spPr>
              <a:xfrm>
                <a:off x="838196" y="6171638"/>
                <a:ext cx="2310958" cy="5337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52" name="Google Shape;452;p22"/>
              <p:cNvPicPr preferRelativeResize="0"/>
              <p:nvPr/>
            </p:nvPicPr>
            <p:blipFill rotWithShape="1">
              <a:blip r:embed="rId3">
                <a:alphaModFix/>
              </a:blip>
              <a:srcRect b="44179" l="59813" r="407" t="47458"/>
              <a:stretch/>
            </p:blipFill>
            <p:spPr>
              <a:xfrm>
                <a:off x="2527630" y="6310115"/>
                <a:ext cx="2343305" cy="45564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53" name="Google Shape;453;p22"/>
            <p:cNvGrpSpPr/>
            <p:nvPr/>
          </p:nvGrpSpPr>
          <p:grpSpPr>
            <a:xfrm>
              <a:off x="7736058" y="699899"/>
              <a:ext cx="3508717" cy="5446238"/>
              <a:chOff x="7616523" y="0"/>
              <a:chExt cx="4346287" cy="6746302"/>
            </a:xfrm>
          </p:grpSpPr>
          <p:sp>
            <p:nvSpPr>
              <p:cNvPr id="454" name="Google Shape;454;p22"/>
              <p:cNvSpPr txBox="1"/>
              <p:nvPr/>
            </p:nvSpPr>
            <p:spPr>
              <a:xfrm>
                <a:off x="9338304" y="6438525"/>
                <a:ext cx="1590500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2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Final Test Position</a:t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55" name="Google Shape;455;p2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616523" y="0"/>
                <a:ext cx="4346287" cy="648699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56" name="Google Shape;456;p22"/>
            <p:cNvSpPr txBox="1"/>
            <p:nvPr/>
          </p:nvSpPr>
          <p:spPr>
            <a:xfrm>
              <a:off x="8404417" y="3638727"/>
              <a:ext cx="197387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List 10, 9, …., 2, 1</a:t>
              </a:r>
              <a:endParaRPr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22"/>
            <p:cNvSpPr txBox="1"/>
            <p:nvPr/>
          </p:nvSpPr>
          <p:spPr>
            <a:xfrm>
              <a:off x="8404417" y="5402769"/>
              <a:ext cx="186166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List 1,2, …., 9, 10</a:t>
              </a:r>
              <a:endParaRPr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8747c234f3_0_5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Plans for additional studies: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g28747c234f3_0_58"/>
          <p:cNvSpPr txBox="1"/>
          <p:nvPr>
            <p:ph idx="1" type="body"/>
          </p:nvPr>
        </p:nvSpPr>
        <p:spPr>
          <a:xfrm>
            <a:off x="838200" y="1825625"/>
            <a:ext cx="104172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/>
              <a:t>Current Progress</a:t>
            </a:r>
            <a:r>
              <a:rPr lang="en-US" sz="1700"/>
              <a:t>: Analysis and modeling of Studies 1 and 2 likely sufficient for the dissertation.</a:t>
            </a:r>
            <a:endParaRPr sz="1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/>
              <a:t>Focus</a:t>
            </a:r>
            <a:r>
              <a:rPr lang="en-US" sz="1700"/>
              <a:t>: REM model has been effective in recognition, extending it to cued recall is a significant task.</a:t>
            </a:r>
            <a:endParaRPr sz="1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/>
              <a:t>Planned Additional Study</a:t>
            </a:r>
            <a:r>
              <a:rPr lang="en-US" sz="1700"/>
              <a:t>: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b="1" lang="en-US" sz="1700"/>
              <a:t>Objective</a:t>
            </a:r>
            <a:r>
              <a:rPr lang="en-US" sz="1700"/>
              <a:t>: Further investigate the role of context in memory storage and retrieval in combination of recognition and cued recall.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-US" sz="1700"/>
              <a:t>Design</a:t>
            </a:r>
            <a:r>
              <a:rPr lang="en-US" sz="1700"/>
              <a:t>: Initial testing and final testing will differ in task type.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b="1" lang="en-US" sz="1700"/>
              <a:t>Condition 1</a:t>
            </a:r>
            <a:r>
              <a:rPr lang="en-US" sz="1700"/>
              <a:t>: Recognition study (similar to Study 1) but using word lists.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b="1" lang="en-US" sz="1700"/>
              <a:t>Condition 2</a:t>
            </a:r>
            <a:r>
              <a:rPr lang="en-US" sz="1700"/>
              <a:t>: Initial cued recall, followed by final recognition.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b="1" lang="en-US" sz="1700"/>
              <a:t>Condition 3</a:t>
            </a:r>
            <a:r>
              <a:rPr lang="en-US" sz="1700"/>
              <a:t>: Initial recognition, followed by final cued recall.</a:t>
            </a:r>
            <a:endParaRPr sz="3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28747c234f3_0_8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/>
              <a:t>Main Themes of the Current Thesis </a:t>
            </a:r>
            <a:endParaRPr sz="5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100"/>
          </a:p>
        </p:txBody>
      </p:sp>
      <p:sp>
        <p:nvSpPr>
          <p:cNvPr id="471" name="Google Shape;471;g28747c234f3_0_8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Empirically exploring the role of context. Employing new experimental designs to investigate the changes and roles of context, aiming to generate meaningful empirical findings.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Extend the REM recognition model by adding components that are missing, and are necessary to predict the new data, and by explicitly incorporating context.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Extend the REM model to handle cued recall, the role of context in cued recall, the results of the new studies, and do so in a way that uses processes in common between the recognition and recall models.</a:t>
            </a:r>
            <a:endParaRPr sz="2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28747c234f3_0_10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478" name="Google Shape;478;g28747c234f3_0_103"/>
          <p:cNvSpPr txBox="1"/>
          <p:nvPr>
            <p:ph idx="1" type="body"/>
          </p:nvPr>
        </p:nvSpPr>
        <p:spPr>
          <a:xfrm>
            <a:off x="838200" y="1825625"/>
            <a:ext cx="10515600" cy="497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/>
              <a:t>Key Findings</a:t>
            </a:r>
            <a:r>
              <a:rPr lang="en-US" sz="1500"/>
              <a:t>: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Context plays a critical role in both memory storage and retrieval.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Initial studies on recognition and cued recall provide valuable insights into the interaction between context and memory performance.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/>
              <a:t>Modeling Contributions</a:t>
            </a:r>
            <a:r>
              <a:rPr lang="en-US" sz="1500"/>
              <a:t>: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The REM model has been successfully extended to account for recognition data, with ongoing work to adapt it for cued recall.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Further refinements to the model will better predict memory performance across tasks.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/>
              <a:t>Future Directions</a:t>
            </a:r>
            <a:r>
              <a:rPr lang="en-US" sz="1500"/>
              <a:t>: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Proposed new study will further explore the role of context, combining both recognition and cued recall.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Additional studies may be needed to refine and validate the extended model.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/>
              <a:t>Overall Goal</a:t>
            </a:r>
            <a:r>
              <a:rPr lang="en-US" sz="1500"/>
              <a:t>: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Develop a unified, context-sensitive model of memory that applies to both recognition and recall tasks.</a:t>
            </a:r>
            <a:endParaRPr sz="3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2024-09-04T15:03:11Z</dcterms:created>
  <dc:creator>Lea Lai</dc:creator>
</cp:coreProperties>
</file>