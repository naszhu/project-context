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Play"/>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wXP1iNi7bQJjp1vmRP9pIixK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Play-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premises</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Cite first point?</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Foil studied origianll, now targets</a:t>
            </a:r>
            <a:endParaRPr/>
          </a:p>
        </p:txBody>
      </p:sp>
      <p:sp>
        <p:nvSpPr>
          <p:cNvPr id="308" name="Google Shape;30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to the dot while presenting the left column panel, make sure say black is average</a:t>
            </a:r>
            <a:endParaRPr/>
          </a:p>
        </p:txBody>
      </p:sp>
      <p:sp>
        <p:nvSpPr>
          <p:cNvPr id="454" name="Google Shape;45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Strengthening predict output interference</a:t>
            </a:r>
            <a:endParaRPr/>
          </a:p>
          <a:p>
            <a:pPr indent="0" lvl="0" marL="0" rtl="0" algn="l">
              <a:spcBef>
                <a:spcPts val="0"/>
              </a:spcBef>
              <a:spcAft>
                <a:spcPts val="0"/>
              </a:spcAft>
              <a:buNone/>
            </a:pPr>
            <a:r>
              <a:rPr lang="en-US"/>
              <a:t>Reasons to strengthen: answer list strengthen effect</a:t>
            </a:r>
            <a:endParaRPr/>
          </a:p>
          <a:p>
            <a:pPr indent="0" lvl="0" marL="0" rtl="0" algn="l">
              <a:spcBef>
                <a:spcPts val="0"/>
              </a:spcBef>
              <a:spcAft>
                <a:spcPts val="0"/>
              </a:spcAft>
              <a:buNone/>
            </a:pPr>
            <a:r>
              <a:rPr lang="en-US"/>
              <a:t>(Criss, Malmberg, Shiffrin, 2011)</a:t>
            </a:r>
            <a:endParaRPr/>
          </a:p>
          <a:p>
            <a:pPr indent="0" lvl="0" marL="0" rtl="0" algn="l">
              <a:spcBef>
                <a:spcPts val="0"/>
              </a:spcBef>
              <a:spcAft>
                <a:spcPts val="0"/>
              </a:spcAft>
              <a:buNone/>
            </a:pPr>
            <a:r>
              <a:rPr lang="en-US"/>
              <a:t>(Kilic, Criss, Malmberg, Shiffrin, 2017) </a:t>
            </a:r>
            <a:endParaRPr/>
          </a:p>
        </p:txBody>
      </p:sp>
      <p:sp>
        <p:nvSpPr>
          <p:cNvPr id="461" name="Google Shape;46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Intiial lack an “L” 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Fix the plot 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Osth, Denis, have been looking list length effect, and this kind of interference is called by “context noise” from prior lists.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model assume accumulated tarces, activate item from prior lists</a:t>
            </a:r>
            <a:endParaRPr/>
          </a:p>
        </p:txBody>
      </p:sp>
      <p:sp>
        <p:nvSpPr>
          <p:cNvPr id="489" name="Google Shape;48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for potential interpretations , (FIT Kahana group’s work) </a:t>
            </a:r>
            <a:endParaRPr/>
          </a:p>
        </p:txBody>
      </p:sp>
      <p:sp>
        <p:nvSpPr>
          <p:cNvPr id="504" name="Google Shape;5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experiments help to build our model of context, whether we model with REM or any other model.</a:t>
            </a:r>
            <a:endParaRPr/>
          </a:p>
          <a:p>
            <a:pPr indent="0" lvl="0" marL="0" rtl="0" algn="l">
              <a:spcBef>
                <a:spcPts val="0"/>
              </a:spcBef>
              <a:spcAft>
                <a:spcPts val="0"/>
              </a:spcAft>
              <a:buNone/>
            </a:pPr>
            <a:r>
              <a:rPr lang="en-US"/>
              <a:t>The experiments are designed to help understanding of context. </a:t>
            </a:r>
            <a:endParaRPr/>
          </a:p>
          <a:p>
            <a:pPr indent="0" lvl="0" marL="0" rtl="0" algn="l">
              <a:spcBef>
                <a:spcPts val="0"/>
              </a:spcBef>
              <a:spcAft>
                <a:spcPts val="0"/>
              </a:spcAft>
              <a:buNone/>
            </a:pPr>
            <a:r>
              <a:t/>
            </a:r>
            <a:endParaRPr/>
          </a:p>
        </p:txBody>
      </p:sp>
      <p:sp>
        <p:nvSpPr>
          <p:cNvPr id="563" name="Google Shape;5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4" name="Google Shape;2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90" name="Google Shape;90;p1"/>
          <p:cNvPicPr preferRelativeResize="0"/>
          <p:nvPr/>
        </p:nvPicPr>
        <p:blipFill rotWithShape="1">
          <a:blip r:embed="rId3">
            <a:alphaModFix/>
          </a:blip>
          <a:srcRect b="0" l="0" r="0" t="0"/>
          <a:stretch/>
        </p:blipFill>
        <p:spPr>
          <a:xfrm>
            <a:off x="7941761" y="729665"/>
            <a:ext cx="3439962" cy="516885"/>
          </a:xfrm>
          <a:prstGeom prst="rect">
            <a:avLst/>
          </a:prstGeom>
          <a:noFill/>
          <a:ln>
            <a:noFill/>
          </a:ln>
        </p:spPr>
      </p:pic>
      <p:sp>
        <p:nvSpPr>
          <p:cNvPr id="91" name="Google Shape;91;p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
          <p:cNvSpPr txBox="1"/>
          <p:nvPr>
            <p:ph type="ctrTitle"/>
          </p:nvPr>
        </p:nvSpPr>
        <p:spPr>
          <a:xfrm>
            <a:off x="826545" y="1526620"/>
            <a:ext cx="8921672" cy="171330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Play"/>
              <a:buNone/>
            </a:pPr>
            <a:r>
              <a:rPr lang="en-US" sz="5600"/>
              <a:t>The Role of Context in Memory Storage and Retrieval</a:t>
            </a:r>
            <a:endParaRPr/>
          </a:p>
        </p:txBody>
      </p:sp>
      <p:sp>
        <p:nvSpPr>
          <p:cNvPr id="94" name="Google Shape;94;p1"/>
          <p:cNvSpPr txBox="1"/>
          <p:nvPr>
            <p:ph idx="1" type="subTitle"/>
          </p:nvPr>
        </p:nvSpPr>
        <p:spPr>
          <a:xfrm>
            <a:off x="931982" y="4075651"/>
            <a:ext cx="7321298" cy="199732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E0000"/>
              </a:buClr>
              <a:buSzPts val="2000"/>
              <a:buNone/>
            </a:pPr>
            <a:r>
              <a:rPr lang="en-US" sz="2000">
                <a:solidFill>
                  <a:srgbClr val="8E0000"/>
                </a:solidFill>
              </a:rPr>
              <a:t>Lea (Shuchun) Lai, Indiana University</a:t>
            </a:r>
            <a:endParaRPr/>
          </a:p>
          <a:p>
            <a:pPr indent="0" lvl="0" marL="0" rtl="0" algn="l">
              <a:lnSpc>
                <a:spcPct val="90000"/>
              </a:lnSpc>
              <a:spcBef>
                <a:spcPts val="1000"/>
              </a:spcBef>
              <a:spcAft>
                <a:spcPts val="0"/>
              </a:spcAft>
              <a:buClr>
                <a:srgbClr val="8E0000"/>
              </a:buClr>
              <a:buSzPts val="2000"/>
              <a:buNone/>
            </a:pPr>
            <a:r>
              <a:rPr lang="en-US" sz="2000">
                <a:solidFill>
                  <a:srgbClr val="8E0000"/>
                </a:solidFill>
              </a:rPr>
              <a:t>Richard Shiffrin, Indiana University</a:t>
            </a:r>
            <a:endParaRPr/>
          </a:p>
          <a:p>
            <a:pPr indent="0" lvl="0" marL="0" rtl="0" algn="l">
              <a:lnSpc>
                <a:spcPct val="90000"/>
              </a:lnSpc>
              <a:spcBef>
                <a:spcPts val="1000"/>
              </a:spcBef>
              <a:spcAft>
                <a:spcPts val="0"/>
              </a:spcAft>
              <a:buClr>
                <a:schemeClr val="dk1"/>
              </a:buClr>
              <a:buSzPts val="2000"/>
              <a:buNone/>
            </a:pPr>
            <a:r>
              <a:t/>
            </a:r>
            <a:endParaRPr sz="2000">
              <a:solidFill>
                <a:srgbClr val="8E0000"/>
              </a:solidFill>
            </a:endParaRPr>
          </a:p>
          <a:p>
            <a:pPr indent="0" lvl="0" marL="0" rtl="0" algn="l">
              <a:lnSpc>
                <a:spcPct val="90000"/>
              </a:lnSpc>
              <a:spcBef>
                <a:spcPts val="1000"/>
              </a:spcBef>
              <a:spcAft>
                <a:spcPts val="0"/>
              </a:spcAft>
              <a:buClr>
                <a:schemeClr val="dk1"/>
              </a:buClr>
              <a:buSzPts val="2000"/>
              <a:buNone/>
            </a:pPr>
            <a:r>
              <a:t/>
            </a:r>
            <a:endParaRPr sz="2000">
              <a:solidFill>
                <a:srgbClr val="8E0000"/>
              </a:solidFill>
            </a:endParaRPr>
          </a:p>
          <a:p>
            <a:pPr indent="0" lvl="0" marL="0" rtl="0" algn="l">
              <a:lnSpc>
                <a:spcPct val="90000"/>
              </a:lnSpc>
              <a:spcBef>
                <a:spcPts val="1000"/>
              </a:spcBef>
              <a:spcAft>
                <a:spcPts val="0"/>
              </a:spcAft>
              <a:buClr>
                <a:srgbClr val="8E0000"/>
              </a:buClr>
              <a:buSzPts val="1800"/>
              <a:buNone/>
            </a:pPr>
            <a:r>
              <a:rPr lang="en-US" sz="1800">
                <a:solidFill>
                  <a:srgbClr val="8E0000"/>
                </a:solidFill>
              </a:rPr>
              <a:t>ASIC 2024 Molveno</a:t>
            </a:r>
            <a:endParaRPr sz="1800">
              <a:solidFill>
                <a:srgbClr val="8E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2"/>
          <p:cNvSpPr txBox="1"/>
          <p:nvPr>
            <p:ph type="title"/>
          </p:nvPr>
        </p:nvSpPr>
        <p:spPr>
          <a:xfrm>
            <a:off x="838199" y="1093788"/>
            <a:ext cx="10506455" cy="29672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800"/>
              <a:buFont typeface="Play"/>
              <a:buNone/>
            </a:pPr>
            <a:r>
              <a:rPr lang="en-US" sz="3800">
                <a:solidFill>
                  <a:schemeClr val="dk1"/>
                </a:solidFill>
                <a:latin typeface="Play"/>
                <a:ea typeface="Play"/>
                <a:cs typeface="Play"/>
                <a:sym typeface="Play"/>
              </a:rPr>
              <a:t>Context plays a fundamental role in theories of memory storage and retrieval.</a:t>
            </a:r>
            <a:br>
              <a:rPr lang="en-US" sz="3800">
                <a:solidFill>
                  <a:schemeClr val="dk1"/>
                </a:solidFill>
                <a:latin typeface="Play"/>
                <a:ea typeface="Play"/>
                <a:cs typeface="Play"/>
                <a:sym typeface="Play"/>
              </a:rPr>
            </a:br>
            <a:br>
              <a:rPr lang="en-US" sz="3800">
                <a:solidFill>
                  <a:schemeClr val="dk1"/>
                </a:solidFill>
                <a:latin typeface="Play"/>
                <a:ea typeface="Play"/>
                <a:cs typeface="Play"/>
                <a:sym typeface="Play"/>
              </a:rPr>
            </a:br>
            <a:r>
              <a:rPr lang="en-US" sz="3800">
                <a:solidFill>
                  <a:schemeClr val="dk1"/>
                </a:solidFill>
                <a:latin typeface="Play"/>
                <a:ea typeface="Play"/>
                <a:cs typeface="Play"/>
                <a:sym typeface="Play"/>
              </a:rPr>
              <a:t>What is context? How is it different than content?</a:t>
            </a:r>
            <a:endParaRPr/>
          </a:p>
        </p:txBody>
      </p:sp>
      <p:sp>
        <p:nvSpPr>
          <p:cNvPr id="102" name="Google Shape;102;p2"/>
          <p:cNvSpPr/>
          <p:nvPr/>
        </p:nvSpPr>
        <p:spPr>
          <a:xfrm>
            <a:off x="841248" y="4331166"/>
            <a:ext cx="10506456"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03" name="Google Shape;103;p2"/>
          <p:cNvSpPr/>
          <p:nvPr/>
        </p:nvSpPr>
        <p:spPr>
          <a:xfrm rot="5400000">
            <a:off x="9346882" y="2348839"/>
            <a:ext cx="54864" cy="394677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3"/>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09" name="Google Shape;109;p3"/>
          <p:cNvGrpSpPr/>
          <p:nvPr/>
        </p:nvGrpSpPr>
        <p:grpSpPr>
          <a:xfrm rot="5400000">
            <a:off x="-2340441" y="2666183"/>
            <a:ext cx="5860051" cy="527712"/>
            <a:chOff x="6081624" y="1998368"/>
            <a:chExt cx="5613457" cy="782175"/>
          </a:xfrm>
        </p:grpSpPr>
        <p:sp>
          <p:nvSpPr>
            <p:cNvPr id="110" name="Google Shape;110;p3"/>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3"/>
            <p:cNvSpPr/>
            <p:nvPr/>
          </p:nvSpPr>
          <p:spPr>
            <a:xfrm rot="10800000">
              <a:off x="6081624" y="1998844"/>
              <a:ext cx="5372968"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12" name="Google Shape;112;p3"/>
          <p:cNvSpPr/>
          <p:nvPr/>
        </p:nvSpPr>
        <p:spPr>
          <a:xfrm>
            <a:off x="579528" y="922919"/>
            <a:ext cx="11111729" cy="546125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3" name="Google Shape;113;p3"/>
          <p:cNvSpPr txBox="1"/>
          <p:nvPr>
            <p:ph type="title"/>
          </p:nvPr>
        </p:nvSpPr>
        <p:spPr>
          <a:xfrm>
            <a:off x="1106599" y="473829"/>
            <a:ext cx="9849751" cy="134967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lang="en-US" sz="5400"/>
              <a:t>Content</a:t>
            </a:r>
            <a:endParaRPr/>
          </a:p>
        </p:txBody>
      </p:sp>
      <p:sp>
        <p:nvSpPr>
          <p:cNvPr id="114" name="Google Shape;114;p3"/>
          <p:cNvSpPr txBox="1"/>
          <p:nvPr>
            <p:ph idx="1" type="body"/>
          </p:nvPr>
        </p:nvSpPr>
        <p:spPr>
          <a:xfrm>
            <a:off x="1289304" y="1951149"/>
            <a:ext cx="9999028" cy="434662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None/>
            </a:pPr>
            <a:r>
              <a:rPr lang="en-US" sz="2000">
                <a:latin typeface="Arial"/>
                <a:ea typeface="Arial"/>
                <a:cs typeface="Arial"/>
                <a:sym typeface="Arial"/>
              </a:rPr>
              <a:t>1.</a:t>
            </a:r>
            <a:r>
              <a:rPr b="1" i="0" lang="en-US" sz="2000" u="none" cap="none" strike="noStrike">
                <a:latin typeface="Arial"/>
                <a:ea typeface="Arial"/>
                <a:cs typeface="Arial"/>
                <a:sym typeface="Arial"/>
              </a:rPr>
              <a:t>Content </a:t>
            </a:r>
            <a:endParaRPr b="0" i="0" sz="2000" u="none" cap="none" strike="noStrike">
              <a:latin typeface="Arial"/>
              <a:ea typeface="Arial"/>
              <a:cs typeface="Arial"/>
              <a:sym typeface="Arial"/>
            </a:endParaRPr>
          </a:p>
          <a:p>
            <a:pPr indent="-127000" lvl="1" marL="457200" rtl="0" algn="l">
              <a:lnSpc>
                <a:spcPct val="90000"/>
              </a:lnSpc>
              <a:spcBef>
                <a:spcPts val="600"/>
              </a:spcBef>
              <a:spcAft>
                <a:spcPts val="0"/>
              </a:spcAft>
              <a:buClr>
                <a:schemeClr val="dk1"/>
              </a:buClr>
              <a:buSzPts val="2000"/>
              <a:buFont typeface="Arial"/>
              <a:buChar char="•"/>
            </a:pPr>
            <a:r>
              <a:rPr lang="en-US" sz="2000">
                <a:latin typeface="Arial"/>
                <a:ea typeface="Arial"/>
                <a:cs typeface="Arial"/>
                <a:sym typeface="Arial"/>
              </a:rPr>
              <a:t>When an event is stored in memory, some of the information is called ‘content’.</a:t>
            </a:r>
            <a:endParaRPr/>
          </a:p>
          <a:p>
            <a:pPr indent="-127000" lvl="1" marL="457200" rtl="0" algn="l">
              <a:lnSpc>
                <a:spcPct val="90000"/>
              </a:lnSpc>
              <a:spcBef>
                <a:spcPts val="600"/>
              </a:spcBef>
              <a:spcAft>
                <a:spcPts val="0"/>
              </a:spcAft>
              <a:buClr>
                <a:schemeClr val="dk1"/>
              </a:buClr>
              <a:buSzPts val="2000"/>
              <a:buFont typeface="Arial"/>
              <a:buChar char="•"/>
            </a:pPr>
            <a:r>
              <a:rPr lang="en-US" sz="2000">
                <a:latin typeface="Arial"/>
                <a:ea typeface="Arial"/>
                <a:cs typeface="Arial"/>
                <a:sym typeface="Arial"/>
              </a:rPr>
              <a:t>Content: The specific information that distinguishes one event from the others in the same setting. </a:t>
            </a:r>
            <a:endParaRPr/>
          </a:p>
          <a:p>
            <a:pPr indent="-127000" lvl="0" marL="0" marR="0" rtl="0" algn="l">
              <a:lnSpc>
                <a:spcPct val="90000"/>
              </a:lnSpc>
              <a:spcBef>
                <a:spcPts val="600"/>
              </a:spcBef>
              <a:spcAft>
                <a:spcPts val="0"/>
              </a:spcAft>
              <a:buClr>
                <a:schemeClr val="dk1"/>
              </a:buClr>
              <a:buSzPts val="2000"/>
              <a:buFont typeface="Arial"/>
              <a:buAutoNum type="arabicPeriod" startAt="2"/>
            </a:pPr>
            <a:r>
              <a:rPr b="1" i="0" lang="en-US" sz="2000" u="none" cap="none" strike="noStrike">
                <a:latin typeface="Arial"/>
                <a:ea typeface="Arial"/>
                <a:cs typeface="Arial"/>
                <a:sym typeface="Arial"/>
              </a:rPr>
              <a:t>Example: Studying Words</a:t>
            </a:r>
            <a:r>
              <a:rPr b="1" lang="en-US" sz="2000">
                <a:latin typeface="Arial"/>
                <a:ea typeface="Arial"/>
                <a:cs typeface="Arial"/>
                <a:sym typeface="Arial"/>
              </a:rPr>
              <a:t> “TABLE”</a:t>
            </a:r>
            <a:endParaRPr b="0" i="0" sz="2000" u="none" cap="none" strike="noStrike">
              <a:latin typeface="Arial"/>
              <a:ea typeface="Arial"/>
              <a:cs typeface="Arial"/>
              <a:sym typeface="Arial"/>
            </a:endParaRPr>
          </a:p>
          <a:p>
            <a:pPr indent="-127000" lvl="1" marL="457200" marR="0" rtl="0" algn="l">
              <a:lnSpc>
                <a:spcPct val="90000"/>
              </a:lnSpc>
              <a:spcBef>
                <a:spcPts val="600"/>
              </a:spcBef>
              <a:spcAft>
                <a:spcPts val="0"/>
              </a:spcAft>
              <a:buClr>
                <a:schemeClr val="dk1"/>
              </a:buClr>
              <a:buSzPts val="2000"/>
              <a:buFont typeface="Arial"/>
              <a:buChar char="•"/>
            </a:pPr>
            <a:r>
              <a:rPr b="0" i="0" lang="en-US" sz="2000" u="none" cap="none" strike="noStrike">
                <a:latin typeface="Arial"/>
                <a:ea typeface="Arial"/>
                <a:cs typeface="Arial"/>
                <a:sym typeface="Arial"/>
              </a:rPr>
              <a:t>When studying a list of words, each word's content includes its visual form, spelling, and meaning.</a:t>
            </a:r>
            <a:endParaRPr/>
          </a:p>
          <a:p>
            <a:pPr indent="-127000" lvl="1" marL="457200" marR="0" rtl="0" algn="l">
              <a:lnSpc>
                <a:spcPct val="90000"/>
              </a:lnSpc>
              <a:spcBef>
                <a:spcPts val="600"/>
              </a:spcBef>
              <a:spcAft>
                <a:spcPts val="0"/>
              </a:spcAft>
              <a:buClr>
                <a:schemeClr val="dk1"/>
              </a:buClr>
              <a:buSzPts val="2000"/>
              <a:buFont typeface="Arial"/>
              <a:buChar char="•"/>
            </a:pPr>
            <a:r>
              <a:rPr b="0" i="0" lang="en-US" sz="2000" u="none" cap="none" strike="noStrike">
                <a:latin typeface="Arial"/>
                <a:ea typeface="Arial"/>
                <a:cs typeface="Arial"/>
                <a:sym typeface="Arial"/>
              </a:rPr>
              <a:t>For example, the word "TABLE" is stored with its unique attributes.</a:t>
            </a:r>
            <a:endParaRPr/>
          </a:p>
          <a:p>
            <a:pPr indent="-127000" lvl="1" marL="457200" marR="0" rtl="0" algn="l">
              <a:lnSpc>
                <a:spcPct val="90000"/>
              </a:lnSpc>
              <a:spcBef>
                <a:spcPts val="600"/>
              </a:spcBef>
              <a:spcAft>
                <a:spcPts val="0"/>
              </a:spcAft>
              <a:buClr>
                <a:schemeClr val="dk1"/>
              </a:buClr>
              <a:buSzPts val="2000"/>
              <a:buFont typeface="Arial"/>
              <a:buChar char="•"/>
            </a:pPr>
            <a:r>
              <a:rPr b="0" i="0" lang="en-US" sz="2000" u="none" cap="none" strike="noStrike">
                <a:latin typeface="Arial"/>
                <a:ea typeface="Arial"/>
                <a:cs typeface="Arial"/>
                <a:sym typeface="Arial"/>
              </a:rPr>
              <a:t>This content information differentiates "TABLE" from another word on the same list, like "BOOK."</a:t>
            </a:r>
            <a:endParaRPr/>
          </a:p>
          <a:p>
            <a:pPr indent="-127000" lvl="0" marL="0" marR="0" rtl="0" algn="l">
              <a:lnSpc>
                <a:spcPct val="90000"/>
              </a:lnSpc>
              <a:spcBef>
                <a:spcPts val="600"/>
              </a:spcBef>
              <a:spcAft>
                <a:spcPts val="0"/>
              </a:spcAft>
              <a:buClr>
                <a:schemeClr val="dk1"/>
              </a:buClr>
              <a:buSzPts val="2000"/>
              <a:buFont typeface="Arial"/>
              <a:buAutoNum type="arabicPeriod" startAt="2"/>
            </a:pPr>
            <a:r>
              <a:rPr b="1" i="0" lang="en-US" sz="2000" u="none" cap="none" strike="noStrike">
                <a:latin typeface="Arial"/>
                <a:ea typeface="Arial"/>
                <a:cs typeface="Arial"/>
                <a:sym typeface="Arial"/>
              </a:rPr>
              <a:t>Shared Context</a:t>
            </a:r>
            <a:endParaRPr b="0" i="0" sz="2000" u="none" cap="none" strike="noStrike">
              <a:latin typeface="Arial"/>
              <a:ea typeface="Arial"/>
              <a:cs typeface="Arial"/>
              <a:sym typeface="Arial"/>
            </a:endParaRPr>
          </a:p>
          <a:p>
            <a:pPr indent="-127000" lvl="1" marL="457200" marR="0" rtl="0" algn="l">
              <a:lnSpc>
                <a:spcPct val="90000"/>
              </a:lnSpc>
              <a:spcBef>
                <a:spcPts val="600"/>
              </a:spcBef>
              <a:spcAft>
                <a:spcPts val="0"/>
              </a:spcAft>
              <a:buClr>
                <a:schemeClr val="dk1"/>
              </a:buClr>
              <a:buSzPts val="2000"/>
              <a:buFont typeface="Arial"/>
              <a:buChar char="•"/>
            </a:pPr>
            <a:r>
              <a:rPr b="0" i="0" lang="en-US" sz="2000" u="none" cap="none" strike="noStrike">
                <a:latin typeface="Arial"/>
                <a:ea typeface="Arial"/>
                <a:cs typeface="Arial"/>
                <a:sym typeface="Arial"/>
              </a:rPr>
              <a:t>Both "TABLE" and "BOOK" were studied in the same overall context, but their content distinguishes them.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0" name="Google Shape;120;p4"/>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lang="en-US" sz="5400"/>
              <a:t>Context</a:t>
            </a:r>
            <a:endParaRPr sz="5400"/>
          </a:p>
        </p:txBody>
      </p:sp>
      <p:grpSp>
        <p:nvGrpSpPr>
          <p:cNvPr id="121" name="Google Shape;121;p4"/>
          <p:cNvGrpSpPr/>
          <p:nvPr/>
        </p:nvGrpSpPr>
        <p:grpSpPr>
          <a:xfrm>
            <a:off x="-2" y="1998368"/>
            <a:ext cx="11695083" cy="782176"/>
            <a:chOff x="-2" y="1998368"/>
            <a:chExt cx="11695083" cy="782176"/>
          </a:xfrm>
        </p:grpSpPr>
        <p:sp>
          <p:nvSpPr>
            <p:cNvPr id="122" name="Google Shape;122;p4"/>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4"/>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24" name="Google Shape;124;p4"/>
          <p:cNvSpPr/>
          <p:nvPr/>
        </p:nvSpPr>
        <p:spPr>
          <a:xfrm>
            <a:off x="0" y="2203079"/>
            <a:ext cx="11383362" cy="414784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5" name="Google Shape;125;p4"/>
          <p:cNvSpPr txBox="1"/>
          <p:nvPr>
            <p:ph idx="1" type="body"/>
          </p:nvPr>
        </p:nvSpPr>
        <p:spPr>
          <a:xfrm>
            <a:off x="793660" y="2599509"/>
            <a:ext cx="10143668" cy="3435531"/>
          </a:xfrm>
          <a:prstGeom prst="rect">
            <a:avLst/>
          </a:prstGeom>
          <a:noFill/>
          <a:ln>
            <a:noFill/>
          </a:ln>
        </p:spPr>
        <p:txBody>
          <a:bodyPr anchorCtr="0" anchor="ctr" bIns="45700" lIns="91425" spcFirstLastPara="1" rIns="91425" wrap="square" tIns="45700">
            <a:normAutofit/>
          </a:bodyPr>
          <a:lstStyle/>
          <a:p>
            <a:pPr indent="-152400" lvl="0" marL="0" marR="0" rtl="0" algn="l">
              <a:lnSpc>
                <a:spcPct val="90000"/>
              </a:lnSpc>
              <a:spcBef>
                <a:spcPts val="0"/>
              </a:spcBef>
              <a:spcAft>
                <a:spcPts val="0"/>
              </a:spcAft>
              <a:buClr>
                <a:schemeClr val="dk1"/>
              </a:buClr>
              <a:buSzPts val="2400"/>
              <a:buFont typeface="Arial"/>
              <a:buChar char="•"/>
            </a:pPr>
            <a:r>
              <a:rPr b="1" i="0" lang="en-US" sz="2400" u="none" cap="none" strike="noStrike">
                <a:latin typeface="Arial"/>
                <a:ea typeface="Arial"/>
                <a:cs typeface="Arial"/>
                <a:sym typeface="Arial"/>
              </a:rPr>
              <a:t>Context</a:t>
            </a:r>
            <a:endParaRPr b="0" i="0" sz="2400" u="none" cap="none" strike="noStrike">
              <a:latin typeface="Arial"/>
              <a:ea typeface="Arial"/>
              <a:cs typeface="Arial"/>
              <a:sym typeface="Arial"/>
            </a:endParaRPr>
          </a:p>
          <a:p>
            <a:pPr indent="-152400" lvl="1" marL="457200" rtl="0" algn="l">
              <a:lnSpc>
                <a:spcPct val="90000"/>
              </a:lnSpc>
              <a:spcBef>
                <a:spcPts val="600"/>
              </a:spcBef>
              <a:spcAft>
                <a:spcPts val="0"/>
              </a:spcAft>
              <a:buClr>
                <a:schemeClr val="dk1"/>
              </a:buClr>
              <a:buSzPts val="2400"/>
              <a:buFont typeface="Arial"/>
              <a:buChar char="•"/>
            </a:pPr>
            <a:r>
              <a:rPr lang="en-US">
                <a:latin typeface="Arial"/>
                <a:ea typeface="Arial"/>
                <a:cs typeface="Arial"/>
                <a:sym typeface="Arial"/>
              </a:rPr>
              <a:t>T</a:t>
            </a:r>
            <a:r>
              <a:rPr b="0" i="0" lang="en-US" u="none" cap="none" strike="noStrike">
                <a:latin typeface="Arial"/>
                <a:ea typeface="Arial"/>
                <a:cs typeface="Arial"/>
                <a:sym typeface="Arial"/>
              </a:rPr>
              <a:t>he background information surrounding an event when it is stored in memory.</a:t>
            </a:r>
            <a:endParaRPr/>
          </a:p>
          <a:p>
            <a:pPr indent="-152400" lvl="0" marL="0" marR="0" rtl="0" algn="l">
              <a:lnSpc>
                <a:spcPct val="90000"/>
              </a:lnSpc>
              <a:spcBef>
                <a:spcPts val="600"/>
              </a:spcBef>
              <a:spcAft>
                <a:spcPts val="0"/>
              </a:spcAft>
              <a:buClr>
                <a:schemeClr val="dk1"/>
              </a:buClr>
              <a:buSzPts val="2400"/>
              <a:buFont typeface="Arial"/>
              <a:buChar char="•"/>
            </a:pPr>
            <a:r>
              <a:rPr b="1" i="0" lang="en-US" sz="2400" u="none" cap="none" strike="noStrike">
                <a:latin typeface="Arial"/>
                <a:ea typeface="Arial"/>
                <a:cs typeface="Arial"/>
                <a:sym typeface="Arial"/>
              </a:rPr>
              <a:t>Example: Studying "TABLE"</a:t>
            </a:r>
            <a:endParaRPr b="0" i="0" sz="2400" u="none" cap="none" strike="noStrike">
              <a:latin typeface="Arial"/>
              <a:ea typeface="Arial"/>
              <a:cs typeface="Arial"/>
              <a:sym typeface="Arial"/>
            </a:endParaRPr>
          </a:p>
          <a:p>
            <a:pPr indent="-152400" lvl="1" marL="457200" rtl="0" algn="l">
              <a:lnSpc>
                <a:spcPct val="90000"/>
              </a:lnSpc>
              <a:spcBef>
                <a:spcPts val="600"/>
              </a:spcBef>
              <a:spcAft>
                <a:spcPts val="0"/>
              </a:spcAft>
              <a:buClr>
                <a:schemeClr val="dk1"/>
              </a:buClr>
              <a:buSzPts val="2400"/>
              <a:buFont typeface="Arial"/>
              <a:buChar char="•"/>
            </a:pPr>
            <a:r>
              <a:rPr b="0" i="0" lang="en-US" u="none" cap="none" strike="noStrike">
                <a:latin typeface="Arial"/>
                <a:ea typeface="Arial"/>
                <a:cs typeface="Arial"/>
                <a:sym typeface="Arial"/>
              </a:rPr>
              <a:t>When studying the word "TABLE," the memory includes: </a:t>
            </a:r>
            <a:r>
              <a:rPr lang="en-US">
                <a:latin typeface="Arial"/>
                <a:ea typeface="Arial"/>
                <a:cs typeface="Arial"/>
                <a:sym typeface="Arial"/>
              </a:rPr>
              <a:t>The room, equipment, weather, mood, bodily sensations, sounds, people nearby, and other related aspects.</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800"/>
              <a:t>Context’s Role in Retrieval</a:t>
            </a:r>
            <a:endParaRPr sz="4800"/>
          </a:p>
        </p:txBody>
      </p:sp>
      <p:sp>
        <p:nvSpPr>
          <p:cNvPr id="132" name="Google Shape;132;p5"/>
          <p:cNvSpPr txBox="1"/>
          <p:nvPr>
            <p:ph idx="1" type="body"/>
          </p:nvPr>
        </p:nvSpPr>
        <p:spPr>
          <a:xfrm>
            <a:off x="838200" y="1923803"/>
            <a:ext cx="10659894" cy="415498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None/>
            </a:pPr>
            <a:r>
              <a:rPr b="1" i="0" lang="en-US" sz="2400" u="none" cap="none" strike="noStrike">
                <a:solidFill>
                  <a:schemeClr val="dk1"/>
                </a:solidFill>
                <a:latin typeface="Arial"/>
                <a:ea typeface="Arial"/>
                <a:cs typeface="Arial"/>
                <a:sym typeface="Arial"/>
              </a:rPr>
              <a:t>1. Importance of Context in Retrieval</a:t>
            </a:r>
            <a:endParaRPr b="0" i="0" sz="2400" u="none" cap="none" strike="noStrike">
              <a:solidFill>
                <a:schemeClr val="dk1"/>
              </a:solidFill>
              <a:latin typeface="Arial"/>
              <a:ea typeface="Arial"/>
              <a:cs typeface="Arial"/>
              <a:sym typeface="Arial"/>
            </a:endParaRPr>
          </a:p>
          <a:p>
            <a:pPr indent="-152400" lvl="1" marL="457200" rtl="0" algn="l">
              <a:lnSpc>
                <a:spcPct val="100000"/>
              </a:lnSpc>
              <a:spcBef>
                <a:spcPts val="0"/>
              </a:spcBef>
              <a:spcAft>
                <a:spcPts val="0"/>
              </a:spcAft>
              <a:buClr>
                <a:schemeClr val="dk1"/>
              </a:buClr>
              <a:buSzPts val="2400"/>
              <a:buFont typeface="Arial"/>
              <a:buChar char="•"/>
            </a:pPr>
            <a:r>
              <a:rPr b="0" i="0" lang="en-US" u="none" cap="none" strike="noStrike">
                <a:solidFill>
                  <a:schemeClr val="dk1"/>
                </a:solidFill>
                <a:latin typeface="Arial"/>
                <a:ea typeface="Arial"/>
                <a:cs typeface="Arial"/>
                <a:sym typeface="Arial"/>
              </a:rPr>
              <a:t> Context is essential for focusing retrieval on specific events of interest.</a:t>
            </a:r>
            <a:endParaRPr/>
          </a:p>
          <a:p>
            <a:pPr indent="-152400" lvl="1" marL="457200" rtl="0" algn="l">
              <a:lnSpc>
                <a:spcPct val="100000"/>
              </a:lnSpc>
              <a:spcBef>
                <a:spcPts val="0"/>
              </a:spcBef>
              <a:spcAft>
                <a:spcPts val="0"/>
              </a:spcAft>
              <a:buClr>
                <a:schemeClr val="dk1"/>
              </a:buClr>
              <a:buSzPts val="2400"/>
              <a:buFont typeface="Arial"/>
              <a:buChar char="•"/>
            </a:pPr>
            <a:r>
              <a:rPr lang="en-US">
                <a:latin typeface="Arial"/>
                <a:ea typeface="Arial"/>
                <a:cs typeface="Arial"/>
                <a:sym typeface="Arial"/>
              </a:rPr>
              <a:t> E</a:t>
            </a:r>
            <a:r>
              <a:rPr b="0" i="0" lang="en-US" u="none" cap="none" strike="noStrike">
                <a:solidFill>
                  <a:schemeClr val="dk1"/>
                </a:solidFill>
                <a:latin typeface="Arial"/>
                <a:ea typeface="Arial"/>
                <a:cs typeface="Arial"/>
                <a:sym typeface="Arial"/>
              </a:rPr>
              <a:t>vent storage and retrieval is also called episodic memory</a:t>
            </a:r>
            <a:endParaRPr/>
          </a:p>
          <a:p>
            <a:pPr indent="0" lvl="0" marL="0" rtl="0" algn="l">
              <a:lnSpc>
                <a:spcPct val="100000"/>
              </a:lnSpc>
              <a:spcBef>
                <a:spcPts val="0"/>
              </a:spcBef>
              <a:spcAft>
                <a:spcPts val="0"/>
              </a:spcAft>
              <a:buClr>
                <a:schemeClr val="dk1"/>
              </a:buClr>
              <a:buSzPts val="2400"/>
              <a:buNone/>
            </a:pPr>
            <a:r>
              <a:rPr b="1" lang="en-US" sz="2400">
                <a:latin typeface="Arial"/>
                <a:ea typeface="Arial"/>
                <a:cs typeface="Arial"/>
                <a:sym typeface="Arial"/>
              </a:rPr>
              <a:t>2. Example: Recognizing "TABLE"</a:t>
            </a:r>
            <a:endParaRPr/>
          </a:p>
          <a:p>
            <a:pPr indent="-152400" lvl="1" marL="457200" rtl="0" algn="l">
              <a:lnSpc>
                <a:spcPct val="100000"/>
              </a:lnSpc>
              <a:spcBef>
                <a:spcPts val="0"/>
              </a:spcBef>
              <a:spcAft>
                <a:spcPts val="0"/>
              </a:spcAft>
              <a:buClr>
                <a:schemeClr val="dk1"/>
              </a:buClr>
              <a:buSzPts val="2400"/>
              <a:buFont typeface="Arial"/>
              <a:buChar char="•"/>
            </a:pPr>
            <a:r>
              <a:rPr b="0" i="0" lang="en-US" u="none" cap="none" strike="noStrike">
                <a:solidFill>
                  <a:schemeClr val="dk1"/>
                </a:solidFill>
                <a:latin typeface="Arial"/>
                <a:ea typeface="Arial"/>
                <a:cs typeface="Arial"/>
                <a:sym typeface="Arial"/>
              </a:rPr>
              <a:t>When asked to recognize if "TABLE" was on the recently presented list, context helps pinpoint this recent occurrence.</a:t>
            </a:r>
            <a:endParaRPr/>
          </a:p>
          <a:p>
            <a:pPr indent="-152400" lvl="1" marL="457200" rtl="0" algn="l">
              <a:lnSpc>
                <a:spcPct val="100000"/>
              </a:lnSpc>
              <a:spcBef>
                <a:spcPts val="0"/>
              </a:spcBef>
              <a:spcAft>
                <a:spcPts val="0"/>
              </a:spcAft>
              <a:buClr>
                <a:schemeClr val="dk1"/>
              </a:buClr>
              <a:buSzPts val="2400"/>
              <a:buFont typeface="Arial"/>
              <a:buChar char="•"/>
            </a:pPr>
            <a:r>
              <a:rPr b="0" i="0" lang="en-US" u="none" cap="none" strike="noStrike">
                <a:solidFill>
                  <a:schemeClr val="dk1"/>
                </a:solidFill>
                <a:latin typeface="Arial"/>
                <a:ea typeface="Arial"/>
                <a:cs typeface="Arial"/>
                <a:sym typeface="Arial"/>
              </a:rPr>
              <a:t>It distinguishes the recent memory from numerous other times "TABLE" has been encountered.</a:t>
            </a:r>
            <a:endParaRPr/>
          </a:p>
          <a:p>
            <a:pPr indent="0" lvl="0" marL="0" marR="0" rtl="0" algn="l">
              <a:lnSpc>
                <a:spcPct val="100000"/>
              </a:lnSpc>
              <a:spcBef>
                <a:spcPts val="0"/>
              </a:spcBef>
              <a:spcAft>
                <a:spcPts val="0"/>
              </a:spcAft>
              <a:buClr>
                <a:schemeClr val="dk1"/>
              </a:buClr>
              <a:buSzPts val="2400"/>
              <a:buNone/>
            </a:pPr>
            <a:r>
              <a:rPr b="1" i="0" lang="en-US" sz="2400" u="none" cap="none" strike="noStrike">
                <a:solidFill>
                  <a:schemeClr val="dk1"/>
                </a:solidFill>
                <a:latin typeface="Arial"/>
                <a:ea typeface="Arial"/>
                <a:cs typeface="Arial"/>
                <a:sym typeface="Arial"/>
              </a:rPr>
              <a:t>3. Dynamic Nature of Context</a:t>
            </a:r>
            <a:endParaRPr b="0" i="0" sz="2400" u="none" cap="none" strike="noStrike">
              <a:solidFill>
                <a:schemeClr val="dk1"/>
              </a:solidFill>
              <a:latin typeface="Arial"/>
              <a:ea typeface="Arial"/>
              <a:cs typeface="Arial"/>
              <a:sym typeface="Arial"/>
            </a:endParaRPr>
          </a:p>
          <a:p>
            <a:pPr indent="-152400" lvl="1" marL="457200" rtl="0" algn="l">
              <a:lnSpc>
                <a:spcPct val="100000"/>
              </a:lnSpc>
              <a:spcBef>
                <a:spcPts val="0"/>
              </a:spcBef>
              <a:spcAft>
                <a:spcPts val="0"/>
              </a:spcAft>
              <a:buClr>
                <a:schemeClr val="dk1"/>
              </a:buClr>
              <a:buSzPts val="2400"/>
              <a:buFont typeface="Arial"/>
              <a:buChar char="•"/>
            </a:pPr>
            <a:r>
              <a:rPr b="0" i="0" lang="en-US" u="none" cap="none" strike="noStrike">
                <a:solidFill>
                  <a:schemeClr val="dk1"/>
                </a:solidFill>
                <a:latin typeface="Arial"/>
                <a:ea typeface="Arial"/>
                <a:cs typeface="Arial"/>
                <a:sym typeface="Arial"/>
              </a:rPr>
              <a:t>Context is believed to change over time and as new events occur (Mensink &amp; Raaijmakers, 1988).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6"/>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9" name="Google Shape;139;p6"/>
          <p:cNvSpPr txBox="1"/>
          <p:nvPr>
            <p:ph type="title"/>
          </p:nvPr>
        </p:nvSpPr>
        <p:spPr>
          <a:xfrm>
            <a:off x="838200" y="557189"/>
            <a:ext cx="3374136" cy="55678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Play"/>
              <a:buNone/>
            </a:pPr>
            <a:r>
              <a:rPr b="1" lang="en-US" sz="5200"/>
              <a:t>How to focus on context?</a:t>
            </a:r>
            <a:endParaRPr/>
          </a:p>
        </p:txBody>
      </p:sp>
      <p:sp>
        <p:nvSpPr>
          <p:cNvPr id="140" name="Google Shape;140;p6"/>
          <p:cNvSpPr/>
          <p:nvPr/>
        </p:nvSpPr>
        <p:spPr>
          <a:xfrm>
            <a:off x="5375104" y="634068"/>
            <a:ext cx="5981743" cy="2881565"/>
          </a:xfrm>
          <a:custGeom>
            <a:rect b="b" l="l" r="r" t="t"/>
            <a:pathLst>
              <a:path extrusionOk="0" h="2881565" w="5981743">
                <a:moveTo>
                  <a:pt x="0" y="0"/>
                </a:moveTo>
                <a:lnTo>
                  <a:pt x="5981743" y="0"/>
                </a:lnTo>
                <a:lnTo>
                  <a:pt x="5981743" y="2881565"/>
                </a:lnTo>
                <a:lnTo>
                  <a:pt x="0" y="2881565"/>
                </a:lnTo>
                <a:lnTo>
                  <a:pt x="0" y="0"/>
                </a:lnTo>
                <a:close/>
              </a:path>
            </a:pathLst>
          </a:custGeom>
          <a:solidFill>
            <a:srgbClr val="105675"/>
          </a:solidFill>
          <a:ln cap="flat" cmpd="sng" w="19050">
            <a:solidFill>
              <a:srgbClr val="105675"/>
            </a:solidFill>
            <a:prstDash val="solid"/>
            <a:miter lim="800000"/>
            <a:headEnd len="sm" w="sm" type="none"/>
            <a:tailEnd len="sm" w="sm" type="none"/>
          </a:ln>
        </p:spPr>
        <p:txBody>
          <a:bodyPr anchorCtr="0" anchor="ctr" bIns="731900" lIns="116050" spcFirstLastPara="1" rIns="116050" wrap="square" tIns="731900">
            <a:noAutofit/>
          </a:bodyPr>
          <a:lstStyle/>
          <a:p>
            <a:pPr indent="0" lvl="0" marL="0" marR="0" rtl="0" algn="l">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Using Current Context</a:t>
            </a:r>
            <a:endParaRPr/>
          </a:p>
          <a:p>
            <a:pPr indent="-228600" lvl="1" marL="228600" marR="0" rtl="0" algn="l">
              <a:lnSpc>
                <a:spcPct val="90000"/>
              </a:lnSpc>
              <a:spcBef>
                <a:spcPts val="112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Most memory studies use the current context during testing to probe retrieval.</a:t>
            </a:r>
            <a:endParaRPr/>
          </a:p>
          <a:p>
            <a:pPr indent="-228600" lvl="1" marL="228600" marR="0" rtl="0" algn="l">
              <a:lnSpc>
                <a:spcPct val="90000"/>
              </a:lnSpc>
              <a:spcBef>
                <a:spcPts val="30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This method focuses retrieval on recent events.</a:t>
            </a:r>
            <a:endParaRPr/>
          </a:p>
        </p:txBody>
      </p:sp>
      <p:sp>
        <p:nvSpPr>
          <p:cNvPr id="141" name="Google Shape;141;p6"/>
          <p:cNvSpPr/>
          <p:nvPr/>
        </p:nvSpPr>
        <p:spPr>
          <a:xfrm>
            <a:off x="3879669" y="634068"/>
            <a:ext cx="1495435" cy="2881565"/>
          </a:xfrm>
          <a:custGeom>
            <a:rect b="b" l="l" r="r" t="t"/>
            <a:pathLst>
              <a:path extrusionOk="0" h="2881565" w="1495435">
                <a:moveTo>
                  <a:pt x="0" y="0"/>
                </a:moveTo>
                <a:lnTo>
                  <a:pt x="1495435" y="0"/>
                </a:lnTo>
                <a:lnTo>
                  <a:pt x="1495435" y="2881565"/>
                </a:lnTo>
                <a:lnTo>
                  <a:pt x="0" y="2881565"/>
                </a:lnTo>
                <a:lnTo>
                  <a:pt x="0" y="0"/>
                </a:lnTo>
                <a:close/>
              </a:path>
            </a:pathLst>
          </a:custGeom>
          <a:solidFill>
            <a:schemeClr val="lt1"/>
          </a:solidFill>
          <a:ln cap="flat" cmpd="sng" w="19050">
            <a:solidFill>
              <a:srgbClr val="105675"/>
            </a:solidFill>
            <a:prstDash val="solid"/>
            <a:miter lim="800000"/>
            <a:headEnd len="sm" w="sm" type="none"/>
            <a:tailEnd len="sm" w="sm" type="none"/>
          </a:ln>
        </p:spPr>
        <p:txBody>
          <a:bodyPr anchorCtr="0" anchor="ctr" bIns="284625" lIns="79125" spcFirstLastPara="1" rIns="79125" wrap="square" tIns="284625">
            <a:noAutofit/>
          </a:bodyPr>
          <a:lstStyle/>
          <a:p>
            <a:pPr indent="0" lvl="0" marL="0" marR="0" rtl="0" algn="ctr">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Current context</a:t>
            </a:r>
            <a:endParaRPr/>
          </a:p>
        </p:txBody>
      </p:sp>
      <p:sp>
        <p:nvSpPr>
          <p:cNvPr id="142" name="Google Shape;142;p6"/>
          <p:cNvSpPr/>
          <p:nvPr/>
        </p:nvSpPr>
        <p:spPr>
          <a:xfrm>
            <a:off x="5375104" y="3688528"/>
            <a:ext cx="5981743" cy="2881565"/>
          </a:xfrm>
          <a:custGeom>
            <a:rect b="b" l="l" r="r" t="t"/>
            <a:pathLst>
              <a:path extrusionOk="0" h="2881565" w="5981743">
                <a:moveTo>
                  <a:pt x="0" y="0"/>
                </a:moveTo>
                <a:lnTo>
                  <a:pt x="5981743" y="0"/>
                </a:lnTo>
                <a:lnTo>
                  <a:pt x="5981743" y="2881565"/>
                </a:lnTo>
                <a:lnTo>
                  <a:pt x="0" y="2881565"/>
                </a:lnTo>
                <a:lnTo>
                  <a:pt x="0" y="0"/>
                </a:lnTo>
                <a:close/>
              </a:path>
            </a:pathLst>
          </a:custGeom>
          <a:solidFill>
            <a:srgbClr val="94A4B3"/>
          </a:solidFill>
          <a:ln cap="flat" cmpd="sng" w="19050">
            <a:solidFill>
              <a:srgbClr val="94A4B3"/>
            </a:solidFill>
            <a:prstDash val="solid"/>
            <a:miter lim="800000"/>
            <a:headEnd len="sm" w="sm" type="none"/>
            <a:tailEnd len="sm" w="sm" type="none"/>
          </a:ln>
        </p:spPr>
        <p:txBody>
          <a:bodyPr anchorCtr="0" anchor="ctr" bIns="731900" lIns="116050" spcFirstLastPara="1" rIns="116050" wrap="square" tIns="731900">
            <a:noAutofit/>
          </a:bodyPr>
          <a:lstStyle/>
          <a:p>
            <a:pPr indent="0" lvl="0" marL="0" marR="0" rtl="0" algn="l">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Reconstructing Past Context</a:t>
            </a:r>
            <a:endParaRPr/>
          </a:p>
          <a:p>
            <a:pPr indent="-228600" lvl="1" marL="228600" marR="0" rtl="0" algn="l">
              <a:lnSpc>
                <a:spcPct val="90000"/>
              </a:lnSpc>
              <a:spcBef>
                <a:spcPts val="112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To retrieve past events, can reconstructing the context at the time of storage help?</a:t>
            </a:r>
            <a:endParaRPr/>
          </a:p>
          <a:p>
            <a:pPr indent="-228600" lvl="1" marL="228600" marR="0" rtl="0" algn="l">
              <a:lnSpc>
                <a:spcPct val="90000"/>
              </a:lnSpc>
              <a:spcBef>
                <a:spcPts val="30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Limited research exists on this, but recent evidence by Bauml and colleagues suggests it may be possible (Bauml &amp; Trissl, 2022).</a:t>
            </a:r>
            <a:endParaRPr/>
          </a:p>
        </p:txBody>
      </p:sp>
      <p:sp>
        <p:nvSpPr>
          <p:cNvPr id="143" name="Google Shape;143;p6"/>
          <p:cNvSpPr/>
          <p:nvPr/>
        </p:nvSpPr>
        <p:spPr>
          <a:xfrm>
            <a:off x="3879669" y="3688528"/>
            <a:ext cx="1495435" cy="2881565"/>
          </a:xfrm>
          <a:custGeom>
            <a:rect b="b" l="l" r="r" t="t"/>
            <a:pathLst>
              <a:path extrusionOk="0" h="2881565" w="1495435">
                <a:moveTo>
                  <a:pt x="0" y="0"/>
                </a:moveTo>
                <a:lnTo>
                  <a:pt x="1495435" y="0"/>
                </a:lnTo>
                <a:lnTo>
                  <a:pt x="1495435" y="2881565"/>
                </a:lnTo>
                <a:lnTo>
                  <a:pt x="0" y="2881565"/>
                </a:lnTo>
                <a:lnTo>
                  <a:pt x="0" y="0"/>
                </a:lnTo>
                <a:close/>
              </a:path>
            </a:pathLst>
          </a:custGeom>
          <a:solidFill>
            <a:schemeClr val="lt1"/>
          </a:solidFill>
          <a:ln cap="flat" cmpd="sng" w="19050">
            <a:solidFill>
              <a:srgbClr val="94A4B3"/>
            </a:solidFill>
            <a:prstDash val="solid"/>
            <a:miter lim="800000"/>
            <a:headEnd len="sm" w="sm" type="none"/>
            <a:tailEnd len="sm" w="sm" type="none"/>
          </a:ln>
        </p:spPr>
        <p:txBody>
          <a:bodyPr anchorCtr="0" anchor="ctr" bIns="284625" lIns="79125" spcFirstLastPara="1" rIns="79125" wrap="square" tIns="284625">
            <a:noAutofit/>
          </a:bodyPr>
          <a:lstStyle/>
          <a:p>
            <a:pPr indent="0" lvl="0" marL="0" marR="0" rtl="0" algn="ctr">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Past context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7"/>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0" name="Google Shape;150;p7"/>
          <p:cNvSpPr txBox="1"/>
          <p:nvPr>
            <p:ph type="title"/>
          </p:nvPr>
        </p:nvSpPr>
        <p:spPr>
          <a:xfrm>
            <a:off x="192200" y="557189"/>
            <a:ext cx="2807265" cy="55678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US" sz="4000"/>
              <a:t>More about Context from Laboratory Experiment</a:t>
            </a:r>
            <a:endParaRPr b="1" sz="4000"/>
          </a:p>
        </p:txBody>
      </p:sp>
      <p:grpSp>
        <p:nvGrpSpPr>
          <p:cNvPr id="151" name="Google Shape;151;p7"/>
          <p:cNvGrpSpPr/>
          <p:nvPr/>
        </p:nvGrpSpPr>
        <p:grpSpPr>
          <a:xfrm>
            <a:off x="3059502" y="394012"/>
            <a:ext cx="8940298" cy="2090700"/>
            <a:chOff x="3059502" y="394012"/>
            <a:chExt cx="8940298" cy="2090700"/>
          </a:xfrm>
        </p:grpSpPr>
        <p:sp>
          <p:nvSpPr>
            <p:cNvPr id="152" name="Google Shape;152;p7"/>
            <p:cNvSpPr/>
            <p:nvPr/>
          </p:nvSpPr>
          <p:spPr>
            <a:xfrm>
              <a:off x="3059502" y="689212"/>
              <a:ext cx="8940298" cy="1795500"/>
            </a:xfrm>
            <a:custGeom>
              <a:rect b="b" l="l" r="r" t="t"/>
              <a:pathLst>
                <a:path extrusionOk="0" h="1795500" w="8940298">
                  <a:moveTo>
                    <a:pt x="0" y="0"/>
                  </a:moveTo>
                  <a:lnTo>
                    <a:pt x="8940298" y="0"/>
                  </a:lnTo>
                  <a:lnTo>
                    <a:pt x="8940298" y="1795500"/>
                  </a:lnTo>
                  <a:lnTo>
                    <a:pt x="0" y="1795500"/>
                  </a:lnTo>
                  <a:lnTo>
                    <a:pt x="0" y="0"/>
                  </a:lnTo>
                  <a:close/>
                </a:path>
              </a:pathLst>
            </a:custGeom>
            <a:solidFill>
              <a:schemeClr val="lt1">
                <a:alpha val="89803"/>
              </a:schemeClr>
            </a:solidFill>
            <a:ln cap="flat" cmpd="sng" w="19050">
              <a:solidFill>
                <a:srgbClr val="126082"/>
              </a:solidFill>
              <a:prstDash val="solid"/>
              <a:miter lim="800000"/>
              <a:headEnd len="sm" w="sm" type="none"/>
              <a:tailEnd len="sm" w="sm" type="none"/>
            </a:ln>
          </p:spPr>
          <p:txBody>
            <a:bodyPr anchorCtr="0" anchor="t" bIns="142225" lIns="693850" spcFirstLastPara="1" rIns="693850" wrap="square" tIns="416550">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Context remains relatively stable while studying a list of items.</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Significant changes occur between studying and testing phases.</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Context evolves more during testing than during study (Klein, Shiffrin &amp; Chris, 2007)</a:t>
              </a:r>
              <a:endParaRPr b="0" i="0" sz="2000" u="none" cap="none" strike="noStrike">
                <a:solidFill>
                  <a:schemeClr val="dk1"/>
                </a:solidFill>
                <a:latin typeface="Arial"/>
                <a:ea typeface="Arial"/>
                <a:cs typeface="Arial"/>
                <a:sym typeface="Arial"/>
              </a:endParaRPr>
            </a:p>
          </p:txBody>
        </p:sp>
        <p:sp>
          <p:nvSpPr>
            <p:cNvPr id="153" name="Google Shape;153;p7"/>
            <p:cNvSpPr/>
            <p:nvPr/>
          </p:nvSpPr>
          <p:spPr>
            <a:xfrm>
              <a:off x="3506516" y="394012"/>
              <a:ext cx="6258208" cy="590400"/>
            </a:xfrm>
            <a:custGeom>
              <a:rect b="b" l="l" r="r" t="t"/>
              <a:pathLst>
                <a:path extrusionOk="0" h="590400" w="6258208">
                  <a:moveTo>
                    <a:pt x="0" y="98402"/>
                  </a:moveTo>
                  <a:cubicBezTo>
                    <a:pt x="0" y="44056"/>
                    <a:pt x="44056" y="0"/>
                    <a:pt x="98402" y="0"/>
                  </a:cubicBezTo>
                  <a:lnTo>
                    <a:pt x="6159806" y="0"/>
                  </a:lnTo>
                  <a:cubicBezTo>
                    <a:pt x="6214152" y="0"/>
                    <a:pt x="6258208" y="44056"/>
                    <a:pt x="6258208" y="98402"/>
                  </a:cubicBezTo>
                  <a:lnTo>
                    <a:pt x="6258208" y="491998"/>
                  </a:lnTo>
                  <a:cubicBezTo>
                    <a:pt x="6258208" y="546344"/>
                    <a:pt x="6214152" y="590400"/>
                    <a:pt x="6159806" y="590400"/>
                  </a:cubicBezTo>
                  <a:lnTo>
                    <a:pt x="98402" y="590400"/>
                  </a:lnTo>
                  <a:cubicBezTo>
                    <a:pt x="44056" y="590400"/>
                    <a:pt x="0" y="546344"/>
                    <a:pt x="0" y="491998"/>
                  </a:cubicBezTo>
                  <a:lnTo>
                    <a:pt x="0" y="98402"/>
                  </a:lnTo>
                  <a:close/>
                </a:path>
              </a:pathLst>
            </a:custGeom>
            <a:solidFill>
              <a:srgbClr val="126082"/>
            </a:solidFill>
            <a:ln cap="flat" cmpd="sng" w="19050">
              <a:solidFill>
                <a:schemeClr val="lt1"/>
              </a:solidFill>
              <a:prstDash val="solid"/>
              <a:miter lim="800000"/>
              <a:headEnd len="sm" w="sm" type="none"/>
              <a:tailEnd len="sm" w="sm" type="none"/>
            </a:ln>
          </p:spPr>
          <p:txBody>
            <a:bodyPr anchorCtr="0" anchor="ctr" bIns="28800" lIns="265350" spcFirstLastPara="1" rIns="265350" wrap="square" tIns="28800">
              <a:noAutofit/>
            </a:bodyPr>
            <a:lstStyle/>
            <a:p>
              <a:pPr indent="0" lvl="0" marL="0" marR="0" rtl="0" algn="l">
                <a:lnSpc>
                  <a:spcPct val="9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Difference of Context Dynamics During Study and Test</a:t>
              </a:r>
              <a:endParaRPr b="0" i="0" sz="2000" u="none" cap="none" strike="noStrike">
                <a:solidFill>
                  <a:schemeClr val="lt1"/>
                </a:solidFill>
                <a:latin typeface="Arial"/>
                <a:ea typeface="Arial"/>
                <a:cs typeface="Arial"/>
                <a:sym typeface="Arial"/>
              </a:endParaRPr>
            </a:p>
          </p:txBody>
        </p:sp>
      </p:grpSp>
      <p:grpSp>
        <p:nvGrpSpPr>
          <p:cNvPr id="154" name="Google Shape;154;p7"/>
          <p:cNvGrpSpPr/>
          <p:nvPr/>
        </p:nvGrpSpPr>
        <p:grpSpPr>
          <a:xfrm>
            <a:off x="3059502" y="2592712"/>
            <a:ext cx="8940298" cy="2027700"/>
            <a:chOff x="3059502" y="2592712"/>
            <a:chExt cx="8940298" cy="2027700"/>
          </a:xfrm>
        </p:grpSpPr>
        <p:sp>
          <p:nvSpPr>
            <p:cNvPr id="155" name="Google Shape;155;p7"/>
            <p:cNvSpPr/>
            <p:nvPr/>
          </p:nvSpPr>
          <p:spPr>
            <a:xfrm>
              <a:off x="3059502" y="2887912"/>
              <a:ext cx="8940298" cy="1732500"/>
            </a:xfrm>
            <a:custGeom>
              <a:rect b="b" l="l" r="r" t="t"/>
              <a:pathLst>
                <a:path extrusionOk="0" h="1732500" w="8940298">
                  <a:moveTo>
                    <a:pt x="0" y="0"/>
                  </a:moveTo>
                  <a:lnTo>
                    <a:pt x="8940298" y="0"/>
                  </a:lnTo>
                  <a:lnTo>
                    <a:pt x="8940298" y="1732500"/>
                  </a:lnTo>
                  <a:lnTo>
                    <a:pt x="0" y="1732500"/>
                  </a:lnTo>
                  <a:lnTo>
                    <a:pt x="0" y="0"/>
                  </a:lnTo>
                  <a:close/>
                </a:path>
              </a:pathLst>
            </a:custGeom>
            <a:solidFill>
              <a:schemeClr val="lt1">
                <a:alpha val="89803"/>
              </a:schemeClr>
            </a:solidFill>
            <a:ln cap="flat" cmpd="sng" w="19050">
              <a:solidFill>
                <a:srgbClr val="126082"/>
              </a:solidFill>
              <a:prstDash val="solid"/>
              <a:miter lim="800000"/>
              <a:headEnd len="sm" w="sm" type="none"/>
              <a:tailEnd len="sm" w="sm" type="none"/>
            </a:ln>
          </p:spPr>
          <p:txBody>
            <a:bodyPr anchorCtr="0" anchor="t" bIns="142225" lIns="693850" spcFirstLastPara="1" rIns="693850" wrap="square" tIns="416550">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Context information is automatically stored for a brief period (a few seconds).</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Additional study time is typically focused on storing content, such as the meaning of the items (Malmberg &amp; Shiffrin, 2005).</a:t>
              </a:r>
              <a:endParaRPr b="0" i="0" sz="2000" u="none" cap="none" strike="noStrike">
                <a:solidFill>
                  <a:schemeClr val="dk1"/>
                </a:solidFill>
                <a:latin typeface="Arial"/>
                <a:ea typeface="Arial"/>
                <a:cs typeface="Arial"/>
                <a:sym typeface="Arial"/>
              </a:endParaRPr>
            </a:p>
          </p:txBody>
        </p:sp>
        <p:sp>
          <p:nvSpPr>
            <p:cNvPr id="156" name="Google Shape;156;p7"/>
            <p:cNvSpPr/>
            <p:nvPr/>
          </p:nvSpPr>
          <p:spPr>
            <a:xfrm>
              <a:off x="3506516" y="2592712"/>
              <a:ext cx="6258208" cy="590400"/>
            </a:xfrm>
            <a:custGeom>
              <a:rect b="b" l="l" r="r" t="t"/>
              <a:pathLst>
                <a:path extrusionOk="0" h="590400" w="6258208">
                  <a:moveTo>
                    <a:pt x="0" y="98402"/>
                  </a:moveTo>
                  <a:cubicBezTo>
                    <a:pt x="0" y="44056"/>
                    <a:pt x="44056" y="0"/>
                    <a:pt x="98402" y="0"/>
                  </a:cubicBezTo>
                  <a:lnTo>
                    <a:pt x="6159806" y="0"/>
                  </a:lnTo>
                  <a:cubicBezTo>
                    <a:pt x="6214152" y="0"/>
                    <a:pt x="6258208" y="44056"/>
                    <a:pt x="6258208" y="98402"/>
                  </a:cubicBezTo>
                  <a:lnTo>
                    <a:pt x="6258208" y="491998"/>
                  </a:lnTo>
                  <a:cubicBezTo>
                    <a:pt x="6258208" y="546344"/>
                    <a:pt x="6214152" y="590400"/>
                    <a:pt x="6159806" y="590400"/>
                  </a:cubicBezTo>
                  <a:lnTo>
                    <a:pt x="98402" y="590400"/>
                  </a:lnTo>
                  <a:cubicBezTo>
                    <a:pt x="44056" y="590400"/>
                    <a:pt x="0" y="546344"/>
                    <a:pt x="0" y="491998"/>
                  </a:cubicBezTo>
                  <a:lnTo>
                    <a:pt x="0" y="98402"/>
                  </a:lnTo>
                  <a:close/>
                </a:path>
              </a:pathLst>
            </a:custGeom>
            <a:solidFill>
              <a:srgbClr val="126082"/>
            </a:solidFill>
            <a:ln cap="flat" cmpd="sng" w="19050">
              <a:solidFill>
                <a:schemeClr val="lt1"/>
              </a:solidFill>
              <a:prstDash val="solid"/>
              <a:miter lim="800000"/>
              <a:headEnd len="sm" w="sm" type="none"/>
              <a:tailEnd len="sm" w="sm" type="none"/>
            </a:ln>
          </p:spPr>
          <p:txBody>
            <a:bodyPr anchorCtr="0" anchor="ctr" bIns="28800" lIns="265350" spcFirstLastPara="1" rIns="265350" wrap="square" tIns="28800">
              <a:noAutofit/>
            </a:bodyPr>
            <a:lstStyle/>
            <a:p>
              <a:pPr indent="0" lvl="0" marL="0" marR="0" rtl="0" algn="l">
                <a:lnSpc>
                  <a:spcPct val="9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Automatic Storage of Context</a:t>
              </a:r>
              <a:endParaRPr b="0" i="0" sz="2000" u="none" cap="none" strike="noStrike">
                <a:solidFill>
                  <a:schemeClr val="lt1"/>
                </a:solidFill>
                <a:latin typeface="Arial"/>
                <a:ea typeface="Arial"/>
                <a:cs typeface="Arial"/>
                <a:sym typeface="Arial"/>
              </a:endParaRPr>
            </a:p>
          </p:txBody>
        </p:sp>
      </p:grpSp>
      <p:grpSp>
        <p:nvGrpSpPr>
          <p:cNvPr id="157" name="Google Shape;157;p7"/>
          <p:cNvGrpSpPr/>
          <p:nvPr/>
        </p:nvGrpSpPr>
        <p:grpSpPr>
          <a:xfrm>
            <a:off x="3059502" y="4728412"/>
            <a:ext cx="8940298" cy="1744200"/>
            <a:chOff x="3059502" y="4728412"/>
            <a:chExt cx="8940298" cy="1744200"/>
          </a:xfrm>
        </p:grpSpPr>
        <p:sp>
          <p:nvSpPr>
            <p:cNvPr id="158" name="Google Shape;158;p7"/>
            <p:cNvSpPr/>
            <p:nvPr/>
          </p:nvSpPr>
          <p:spPr>
            <a:xfrm>
              <a:off x="3059502" y="5023612"/>
              <a:ext cx="8940298" cy="1449000"/>
            </a:xfrm>
            <a:custGeom>
              <a:rect b="b" l="l" r="r" t="t"/>
              <a:pathLst>
                <a:path extrusionOk="0" h="1449000" w="8940298">
                  <a:moveTo>
                    <a:pt x="0" y="0"/>
                  </a:moveTo>
                  <a:lnTo>
                    <a:pt x="8940298" y="0"/>
                  </a:lnTo>
                  <a:lnTo>
                    <a:pt x="8940298" y="1449000"/>
                  </a:lnTo>
                  <a:lnTo>
                    <a:pt x="0" y="1449000"/>
                  </a:lnTo>
                  <a:lnTo>
                    <a:pt x="0" y="0"/>
                  </a:lnTo>
                  <a:close/>
                </a:path>
              </a:pathLst>
            </a:custGeom>
            <a:solidFill>
              <a:schemeClr val="lt1">
                <a:alpha val="89803"/>
              </a:schemeClr>
            </a:solidFill>
            <a:ln cap="flat" cmpd="sng" w="19050">
              <a:solidFill>
                <a:srgbClr val="126082"/>
              </a:solidFill>
              <a:prstDash val="solid"/>
              <a:miter lim="800000"/>
              <a:headEnd len="sm" w="sm" type="none"/>
              <a:tailEnd len="sm" w="sm" type="none"/>
            </a:ln>
          </p:spPr>
          <p:txBody>
            <a:bodyPr anchorCtr="0" anchor="t" bIns="142225" lIns="693850" spcFirstLastPara="1" rIns="693850" wrap="square" tIns="416550">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Context may be integrated with content or stored separately.</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This integration varies depending on the nature of the memory task (Murnane, Phelps &amp; Malmberg, 1999).</a:t>
              </a:r>
              <a:endParaRPr b="0" i="0" sz="2000" u="none" cap="none" strike="noStrike">
                <a:solidFill>
                  <a:schemeClr val="dk1"/>
                </a:solidFill>
                <a:latin typeface="Arial"/>
                <a:ea typeface="Arial"/>
                <a:cs typeface="Arial"/>
                <a:sym typeface="Arial"/>
              </a:endParaRPr>
            </a:p>
          </p:txBody>
        </p:sp>
        <p:sp>
          <p:nvSpPr>
            <p:cNvPr id="159" name="Google Shape;159;p7"/>
            <p:cNvSpPr/>
            <p:nvPr/>
          </p:nvSpPr>
          <p:spPr>
            <a:xfrm>
              <a:off x="3506516" y="4728412"/>
              <a:ext cx="6258208" cy="590400"/>
            </a:xfrm>
            <a:custGeom>
              <a:rect b="b" l="l" r="r" t="t"/>
              <a:pathLst>
                <a:path extrusionOk="0" h="590400" w="6258208">
                  <a:moveTo>
                    <a:pt x="0" y="98402"/>
                  </a:moveTo>
                  <a:cubicBezTo>
                    <a:pt x="0" y="44056"/>
                    <a:pt x="44056" y="0"/>
                    <a:pt x="98402" y="0"/>
                  </a:cubicBezTo>
                  <a:lnTo>
                    <a:pt x="6159806" y="0"/>
                  </a:lnTo>
                  <a:cubicBezTo>
                    <a:pt x="6214152" y="0"/>
                    <a:pt x="6258208" y="44056"/>
                    <a:pt x="6258208" y="98402"/>
                  </a:cubicBezTo>
                  <a:lnTo>
                    <a:pt x="6258208" y="491998"/>
                  </a:lnTo>
                  <a:cubicBezTo>
                    <a:pt x="6258208" y="546344"/>
                    <a:pt x="6214152" y="590400"/>
                    <a:pt x="6159806" y="590400"/>
                  </a:cubicBezTo>
                  <a:lnTo>
                    <a:pt x="98402" y="590400"/>
                  </a:lnTo>
                  <a:cubicBezTo>
                    <a:pt x="44056" y="590400"/>
                    <a:pt x="0" y="546344"/>
                    <a:pt x="0" y="491998"/>
                  </a:cubicBezTo>
                  <a:lnTo>
                    <a:pt x="0" y="98402"/>
                  </a:lnTo>
                  <a:close/>
                </a:path>
              </a:pathLst>
            </a:custGeom>
            <a:solidFill>
              <a:srgbClr val="126082"/>
            </a:solidFill>
            <a:ln cap="flat" cmpd="sng" w="19050">
              <a:solidFill>
                <a:schemeClr val="lt1"/>
              </a:solidFill>
              <a:prstDash val="solid"/>
              <a:miter lim="800000"/>
              <a:headEnd len="sm" w="sm" type="none"/>
              <a:tailEnd len="sm" w="sm" type="none"/>
            </a:ln>
          </p:spPr>
          <p:txBody>
            <a:bodyPr anchorCtr="0" anchor="ctr" bIns="28800" lIns="265350" spcFirstLastPara="1" rIns="265350" wrap="square" tIns="28800">
              <a:noAutofit/>
            </a:bodyPr>
            <a:lstStyle/>
            <a:p>
              <a:pPr indent="0" lvl="0" marL="0" marR="0" rtl="0" algn="l">
                <a:lnSpc>
                  <a:spcPct val="9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Integration of Context and Content</a:t>
              </a:r>
              <a:endParaRPr b="0" i="0" sz="20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Present Study, Objective and Design (Study 1&amp;2)</a:t>
            </a:r>
            <a:endParaRPr/>
          </a:p>
        </p:txBody>
      </p:sp>
      <p:sp>
        <p:nvSpPr>
          <p:cNvPr id="166" name="Google Shape;166;p8"/>
          <p:cNvSpPr txBox="1"/>
          <p:nvPr>
            <p:ph idx="1" type="body"/>
          </p:nvPr>
        </p:nvSpPr>
        <p:spPr>
          <a:xfrm>
            <a:off x="838200" y="1433931"/>
            <a:ext cx="10965873" cy="5134739"/>
          </a:xfrm>
          <a:prstGeom prst="rect">
            <a:avLst/>
          </a:prstGeom>
          <a:noFill/>
          <a:ln>
            <a:noFill/>
          </a:ln>
        </p:spPr>
        <p:txBody>
          <a:bodyPr anchorCtr="0" anchor="ctr" bIns="45700" lIns="91425" spcFirstLastPara="1" rIns="91425" wrap="square" tIns="45700">
            <a:spAutoFit/>
          </a:bodyPr>
          <a:lstStyle/>
          <a:p>
            <a:pPr indent="-139700" lvl="0" marL="0" marR="0" rtl="0" algn="l">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Study Objective</a:t>
            </a:r>
            <a:endParaRPr b="0" i="0" sz="2200" u="none" cap="none" strike="noStrike">
              <a:solidFill>
                <a:schemeClr val="dk1"/>
              </a:solidFill>
              <a:latin typeface="Arial"/>
              <a:ea typeface="Arial"/>
              <a:cs typeface="Arial"/>
              <a:sym typeface="Arial"/>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The study aims to shed light on the role of context in memory.</a:t>
            </a:r>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The first goal is to develop a detailed model within the REM framework, given its proven effectiveness.</a:t>
            </a:r>
            <a:endParaRPr/>
          </a:p>
          <a:p>
            <a:pPr indent="-139700" lvl="1" marL="457200" rtl="0" algn="l">
              <a:lnSpc>
                <a:spcPct val="100000"/>
              </a:lnSpc>
              <a:spcBef>
                <a:spcPts val="500"/>
              </a:spcBef>
              <a:spcAft>
                <a:spcPts val="0"/>
              </a:spcAft>
              <a:buClr>
                <a:schemeClr val="dk1"/>
              </a:buClr>
              <a:buSzPts val="2200"/>
              <a:buFont typeface="Arial"/>
              <a:buChar char="•"/>
            </a:pPr>
            <a:r>
              <a:rPr lang="en-US" sz="2200">
                <a:latin typeface="Arial"/>
                <a:ea typeface="Arial"/>
                <a:cs typeface="Arial"/>
                <a:sym typeface="Arial"/>
              </a:rPr>
              <a:t>In the future, we will examine other models as well</a:t>
            </a:r>
            <a:endParaRPr b="0" i="0" sz="2200" u="none" cap="none" strike="noStrike">
              <a:solidFill>
                <a:schemeClr val="dk1"/>
              </a:solidFill>
              <a:latin typeface="Arial"/>
              <a:ea typeface="Arial"/>
              <a:cs typeface="Arial"/>
              <a:sym typeface="Arial"/>
            </a:endParaRPr>
          </a:p>
          <a:p>
            <a:pPr indent="-139700" lvl="0" marL="0" marR="0" rtl="0" algn="l">
              <a:lnSpc>
                <a:spcPct val="100000"/>
              </a:lnSpc>
              <a:spcBef>
                <a:spcPts val="50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Study 1: Recognition for Pictures</a:t>
            </a:r>
            <a:endParaRPr b="0" i="0" sz="2200" u="none" cap="none" strike="noStrike">
              <a:solidFill>
                <a:schemeClr val="dk1"/>
              </a:solidFill>
              <a:latin typeface="Arial"/>
              <a:ea typeface="Arial"/>
              <a:cs typeface="Arial"/>
              <a:sym typeface="Arial"/>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Participants were tested on their ability to recognize pictures.</a:t>
            </a:r>
            <a:endParaRPr/>
          </a:p>
          <a:p>
            <a:pPr indent="-139700" lvl="0" marL="0" marR="0" rtl="0" algn="l">
              <a:lnSpc>
                <a:spcPct val="100000"/>
              </a:lnSpc>
              <a:spcBef>
                <a:spcPts val="50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Study 2: Cued Recall for Words</a:t>
            </a:r>
            <a:endParaRPr b="0" i="0" sz="2200" u="none" cap="none" strike="noStrike">
              <a:solidFill>
                <a:schemeClr val="dk1"/>
              </a:solidFill>
              <a:latin typeface="Arial"/>
              <a:ea typeface="Arial"/>
              <a:cs typeface="Arial"/>
              <a:sym typeface="Arial"/>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Participants were tested on their ability to recall paired/nonpaired words with cues.</a:t>
            </a:r>
            <a:endParaRPr/>
          </a:p>
          <a:p>
            <a:pPr indent="-139700" lvl="0" marL="0" marR="0" rtl="0" algn="l">
              <a:lnSpc>
                <a:spcPct val="100000"/>
              </a:lnSpc>
              <a:spcBef>
                <a:spcPts val="50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Study Design</a:t>
            </a:r>
            <a:endParaRPr b="0" i="0" sz="2200" u="none" cap="none" strike="noStrike">
              <a:solidFill>
                <a:schemeClr val="dk1"/>
              </a:solidFill>
              <a:latin typeface="Arial"/>
              <a:ea typeface="Arial"/>
              <a:cs typeface="Arial"/>
              <a:sym typeface="Arial"/>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Both studies had similar designs, measuring accuracy and response time.</a:t>
            </a:r>
            <a:endParaRPr/>
          </a:p>
          <a:p>
            <a:pPr indent="-139700" lvl="1" marL="457200" rtl="0" algn="l">
              <a:lnSpc>
                <a:spcPct val="100000"/>
              </a:lnSpc>
              <a:spcBef>
                <a:spcPts val="5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Today’s presentation will focus solely on the accuracy results in study 1 on picture recognition.</a:t>
            </a:r>
            <a:endParaRPr b="0" i="0" sz="2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Picture Recognition Study Procedure (Overview)</a:t>
            </a:r>
            <a:endParaRPr/>
          </a:p>
        </p:txBody>
      </p:sp>
      <p:grpSp>
        <p:nvGrpSpPr>
          <p:cNvPr id="173" name="Google Shape;173;p9"/>
          <p:cNvGrpSpPr/>
          <p:nvPr/>
        </p:nvGrpSpPr>
        <p:grpSpPr>
          <a:xfrm>
            <a:off x="5727553" y="1627533"/>
            <a:ext cx="6146163" cy="4853603"/>
            <a:chOff x="5727553" y="1627533"/>
            <a:chExt cx="6146163" cy="4853603"/>
          </a:xfrm>
        </p:grpSpPr>
        <p:sp>
          <p:nvSpPr>
            <p:cNvPr id="174" name="Google Shape;174;p9"/>
            <p:cNvSpPr txBox="1"/>
            <p:nvPr/>
          </p:nvSpPr>
          <p:spPr>
            <a:xfrm>
              <a:off x="5778482" y="1627533"/>
              <a:ext cx="609523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dk1"/>
                  </a:solidFill>
                  <a:latin typeface="Arial"/>
                  <a:ea typeface="Arial"/>
                  <a:cs typeface="Arial"/>
                  <a:sym typeface="Arial"/>
                </a:rPr>
                <a:t>Final Test</a:t>
              </a:r>
              <a:r>
                <a:rPr b="0" i="0" lang="en-US" sz="2000" u="none" cap="none" strike="noStrike">
                  <a:solidFill>
                    <a:schemeClr val="dk1"/>
                  </a:solidFill>
                  <a:latin typeface="Arial"/>
                  <a:ea typeface="Arial"/>
                  <a:cs typeface="Arial"/>
                  <a:sym typeface="Arial"/>
                </a:rPr>
                <a:t> (Testing only): </a:t>
              </a:r>
              <a:endParaRPr/>
            </a:p>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Continuous tests of all from initial</a:t>
              </a:r>
              <a:endParaRPr/>
            </a:p>
          </p:txBody>
        </p:sp>
        <p:sp>
          <p:nvSpPr>
            <p:cNvPr id="175" name="Google Shape;175;p9"/>
            <p:cNvSpPr/>
            <p:nvPr/>
          </p:nvSpPr>
          <p:spPr>
            <a:xfrm>
              <a:off x="5727554" y="2655501"/>
              <a:ext cx="6029183" cy="1108056"/>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Forward group</a:t>
              </a:r>
              <a:endParaRPr/>
            </a:p>
          </p:txBody>
        </p:sp>
        <p:sp>
          <p:nvSpPr>
            <p:cNvPr id="176" name="Google Shape;176;p9"/>
            <p:cNvSpPr/>
            <p:nvPr/>
          </p:nvSpPr>
          <p:spPr>
            <a:xfrm>
              <a:off x="5727554" y="4060577"/>
              <a:ext cx="6029183" cy="1100105"/>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Backward group</a:t>
              </a:r>
              <a:endParaRPr/>
            </a:p>
          </p:txBody>
        </p:sp>
        <p:sp>
          <p:nvSpPr>
            <p:cNvPr id="177" name="Google Shape;177;p9"/>
            <p:cNvSpPr/>
            <p:nvPr/>
          </p:nvSpPr>
          <p:spPr>
            <a:xfrm>
              <a:off x="5727553" y="5373080"/>
              <a:ext cx="6029183" cy="1108056"/>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Random group</a:t>
              </a:r>
              <a:endParaRPr/>
            </a:p>
          </p:txBody>
        </p:sp>
        <p:grpSp>
          <p:nvGrpSpPr>
            <p:cNvPr id="178" name="Google Shape;178;p9"/>
            <p:cNvGrpSpPr/>
            <p:nvPr/>
          </p:nvGrpSpPr>
          <p:grpSpPr>
            <a:xfrm>
              <a:off x="8577379" y="5771829"/>
              <a:ext cx="2644865" cy="586736"/>
              <a:chOff x="6571310" y="2538794"/>
              <a:chExt cx="2644865" cy="586736"/>
            </a:xfrm>
          </p:grpSpPr>
          <p:sp>
            <p:nvSpPr>
              <p:cNvPr id="179" name="Google Shape;179;p9"/>
              <p:cNvSpPr/>
              <p:nvPr/>
            </p:nvSpPr>
            <p:spPr>
              <a:xfrm>
                <a:off x="7662617"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0" name="Google Shape;180;p9"/>
              <p:cNvSpPr/>
              <p:nvPr/>
            </p:nvSpPr>
            <p:spPr>
              <a:xfrm>
                <a:off x="7298848" y="296470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1" name="Google Shape;181;p9"/>
              <p:cNvSpPr/>
              <p:nvPr/>
            </p:nvSpPr>
            <p:spPr>
              <a:xfrm>
                <a:off x="6935079" y="2964705"/>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2" name="Google Shape;182;p9"/>
              <p:cNvSpPr/>
              <p:nvPr/>
            </p:nvSpPr>
            <p:spPr>
              <a:xfrm>
                <a:off x="6571310"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3" name="Google Shape;183;p9"/>
              <p:cNvSpPr/>
              <p:nvPr/>
            </p:nvSpPr>
            <p:spPr>
              <a:xfrm>
                <a:off x="8026386" y="296470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84" name="Google Shape;184;p9"/>
              <p:cNvCxnSpPr/>
              <p:nvPr/>
            </p:nvCxnSpPr>
            <p:spPr>
              <a:xfrm>
                <a:off x="8469069" y="2967769"/>
                <a:ext cx="0" cy="183799"/>
              </a:xfrm>
              <a:prstGeom prst="straightConnector1">
                <a:avLst/>
              </a:prstGeom>
              <a:noFill/>
              <a:ln cap="rnd" cmpd="sng" w="38100">
                <a:solidFill>
                  <a:schemeClr val="accent1"/>
                </a:solidFill>
                <a:prstDash val="dot"/>
                <a:bevel/>
                <a:headEnd len="sm" w="sm" type="none"/>
                <a:tailEnd len="sm" w="sm" type="none"/>
              </a:ln>
            </p:spPr>
          </p:cxnSp>
          <p:cxnSp>
            <p:nvCxnSpPr>
              <p:cNvPr id="185" name="Google Shape;185;p9"/>
              <p:cNvCxnSpPr/>
              <p:nvPr/>
            </p:nvCxnSpPr>
            <p:spPr>
              <a:xfrm>
                <a:off x="8842623" y="2967912"/>
                <a:ext cx="0" cy="183799"/>
              </a:xfrm>
              <a:prstGeom prst="straightConnector1">
                <a:avLst/>
              </a:prstGeom>
              <a:noFill/>
              <a:ln cap="rnd" cmpd="sng" w="38100">
                <a:solidFill>
                  <a:schemeClr val="accent1"/>
                </a:solidFill>
                <a:prstDash val="dot"/>
                <a:bevel/>
                <a:headEnd len="sm" w="sm" type="none"/>
                <a:tailEnd len="sm" w="sm" type="none"/>
              </a:ln>
            </p:spPr>
          </p:cxnSp>
          <p:cxnSp>
            <p:nvCxnSpPr>
              <p:cNvPr id="186" name="Google Shape;186;p9"/>
              <p:cNvCxnSpPr/>
              <p:nvPr/>
            </p:nvCxnSpPr>
            <p:spPr>
              <a:xfrm>
                <a:off x="9124276" y="2958414"/>
                <a:ext cx="0" cy="183799"/>
              </a:xfrm>
              <a:prstGeom prst="straightConnector1">
                <a:avLst/>
              </a:prstGeom>
              <a:noFill/>
              <a:ln cap="rnd" cmpd="sng" w="38100">
                <a:solidFill>
                  <a:schemeClr val="accent1"/>
                </a:solidFill>
                <a:prstDash val="dot"/>
                <a:bevel/>
                <a:headEnd len="sm" w="sm" type="none"/>
                <a:tailEnd len="sm" w="sm" type="none"/>
              </a:ln>
            </p:spPr>
          </p:cxnSp>
          <p:sp>
            <p:nvSpPr>
              <p:cNvPr id="187" name="Google Shape;187;p9"/>
              <p:cNvSpPr txBox="1"/>
              <p:nvPr/>
            </p:nvSpPr>
            <p:spPr>
              <a:xfrm>
                <a:off x="6994658" y="2538794"/>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88" name="Google Shape;188;p9"/>
            <p:cNvGrpSpPr/>
            <p:nvPr/>
          </p:nvGrpSpPr>
          <p:grpSpPr>
            <a:xfrm>
              <a:off x="7183642" y="3039639"/>
              <a:ext cx="4068315" cy="675825"/>
              <a:chOff x="5752132" y="3037933"/>
              <a:chExt cx="4068315" cy="675825"/>
            </a:xfrm>
          </p:grpSpPr>
          <p:grpSp>
            <p:nvGrpSpPr>
              <p:cNvPr id="189" name="Google Shape;189;p9"/>
              <p:cNvGrpSpPr/>
              <p:nvPr/>
            </p:nvGrpSpPr>
            <p:grpSpPr>
              <a:xfrm>
                <a:off x="5752132" y="3037933"/>
                <a:ext cx="3954471" cy="586736"/>
                <a:chOff x="5187185" y="2538794"/>
                <a:chExt cx="3954471" cy="586736"/>
              </a:xfrm>
            </p:grpSpPr>
            <p:sp>
              <p:nvSpPr>
                <p:cNvPr id="190" name="Google Shape;190;p9"/>
                <p:cNvSpPr/>
                <p:nvPr/>
              </p:nvSpPr>
              <p:spPr>
                <a:xfrm>
                  <a:off x="7662617"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 name="Google Shape;191;p9"/>
                <p:cNvSpPr/>
                <p:nvPr/>
              </p:nvSpPr>
              <p:spPr>
                <a:xfrm>
                  <a:off x="7298848" y="296470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9"/>
                <p:cNvSpPr/>
                <p:nvPr/>
              </p:nvSpPr>
              <p:spPr>
                <a:xfrm>
                  <a:off x="6935079" y="2964705"/>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9"/>
                <p:cNvSpPr/>
                <p:nvPr/>
              </p:nvSpPr>
              <p:spPr>
                <a:xfrm>
                  <a:off x="6571310"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 name="Google Shape;194;p9"/>
                <p:cNvSpPr/>
                <p:nvPr/>
              </p:nvSpPr>
              <p:spPr>
                <a:xfrm>
                  <a:off x="8026386" y="296470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95" name="Google Shape;195;p9"/>
                <p:cNvCxnSpPr/>
                <p:nvPr/>
              </p:nvCxnSpPr>
              <p:spPr>
                <a:xfrm>
                  <a:off x="8469069" y="2967769"/>
                  <a:ext cx="0" cy="183799"/>
                </a:xfrm>
                <a:prstGeom prst="straightConnector1">
                  <a:avLst/>
                </a:prstGeom>
                <a:noFill/>
                <a:ln cap="rnd" cmpd="sng" w="38100">
                  <a:solidFill>
                    <a:schemeClr val="accent1"/>
                  </a:solidFill>
                  <a:prstDash val="dot"/>
                  <a:bevel/>
                  <a:headEnd len="sm" w="sm" type="none"/>
                  <a:tailEnd len="sm" w="sm" type="none"/>
                </a:ln>
              </p:spPr>
            </p:cxnSp>
            <p:cxnSp>
              <p:nvCxnSpPr>
                <p:cNvPr id="196" name="Google Shape;196;p9"/>
                <p:cNvCxnSpPr/>
                <p:nvPr/>
              </p:nvCxnSpPr>
              <p:spPr>
                <a:xfrm>
                  <a:off x="8842623" y="2967912"/>
                  <a:ext cx="0" cy="183799"/>
                </a:xfrm>
                <a:prstGeom prst="straightConnector1">
                  <a:avLst/>
                </a:prstGeom>
                <a:noFill/>
                <a:ln cap="rnd" cmpd="sng" w="38100">
                  <a:solidFill>
                    <a:schemeClr val="accent1"/>
                  </a:solidFill>
                  <a:prstDash val="dot"/>
                  <a:bevel/>
                  <a:headEnd len="sm" w="sm" type="none"/>
                  <a:tailEnd len="sm" w="sm" type="none"/>
                </a:ln>
              </p:spPr>
            </p:cxnSp>
            <p:sp>
              <p:nvSpPr>
                <p:cNvPr id="197" name="Google Shape;197;p9"/>
                <p:cNvSpPr txBox="1"/>
                <p:nvPr/>
              </p:nvSpPr>
              <p:spPr>
                <a:xfrm>
                  <a:off x="5187185" y="2538794"/>
                  <a:ext cx="39544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List 1                                                         2     ...</a:t>
                  </a:r>
                  <a:endParaRPr/>
                </a:p>
              </p:txBody>
            </p:sp>
          </p:grpSp>
          <p:cxnSp>
            <p:nvCxnSpPr>
              <p:cNvPr id="198" name="Google Shape;198;p9"/>
              <p:cNvCxnSpPr/>
              <p:nvPr/>
            </p:nvCxnSpPr>
            <p:spPr>
              <a:xfrm>
                <a:off x="8892988" y="3119718"/>
                <a:ext cx="0" cy="594040"/>
              </a:xfrm>
              <a:prstGeom prst="straightConnector1">
                <a:avLst/>
              </a:prstGeom>
              <a:noFill/>
              <a:ln cap="flat" cmpd="sng" w="19050">
                <a:solidFill>
                  <a:schemeClr val="dk1"/>
                </a:solidFill>
                <a:prstDash val="dash"/>
                <a:round/>
                <a:headEnd len="sm" w="sm" type="none"/>
                <a:tailEnd len="sm" w="sm" type="none"/>
              </a:ln>
            </p:spPr>
          </p:cxnSp>
          <p:cxnSp>
            <p:nvCxnSpPr>
              <p:cNvPr id="199" name="Google Shape;199;p9"/>
              <p:cNvCxnSpPr/>
              <p:nvPr/>
            </p:nvCxnSpPr>
            <p:spPr>
              <a:xfrm>
                <a:off x="9728548" y="3466908"/>
                <a:ext cx="0" cy="183799"/>
              </a:xfrm>
              <a:prstGeom prst="straightConnector1">
                <a:avLst/>
              </a:prstGeom>
              <a:noFill/>
              <a:ln cap="rnd" cmpd="sng" w="38100">
                <a:solidFill>
                  <a:schemeClr val="accent1"/>
                </a:solidFill>
                <a:prstDash val="dot"/>
                <a:bevel/>
                <a:headEnd len="sm" w="sm" type="none"/>
                <a:tailEnd len="sm" w="sm" type="none"/>
              </a:ln>
            </p:spPr>
          </p:cxnSp>
          <p:cxnSp>
            <p:nvCxnSpPr>
              <p:cNvPr id="200" name="Google Shape;200;p9"/>
              <p:cNvCxnSpPr/>
              <p:nvPr/>
            </p:nvCxnSpPr>
            <p:spPr>
              <a:xfrm>
                <a:off x="9224682" y="3110245"/>
                <a:ext cx="0" cy="594040"/>
              </a:xfrm>
              <a:prstGeom prst="straightConnector1">
                <a:avLst/>
              </a:prstGeom>
              <a:noFill/>
              <a:ln cap="flat" cmpd="sng" w="19050">
                <a:solidFill>
                  <a:schemeClr val="dk1"/>
                </a:solidFill>
                <a:prstDash val="dash"/>
                <a:round/>
                <a:headEnd len="sm" w="sm" type="none"/>
                <a:tailEnd len="sm" w="sm" type="none"/>
              </a:ln>
            </p:spPr>
          </p:cxnSp>
          <p:cxnSp>
            <p:nvCxnSpPr>
              <p:cNvPr id="201" name="Google Shape;201;p9"/>
              <p:cNvCxnSpPr/>
              <p:nvPr/>
            </p:nvCxnSpPr>
            <p:spPr>
              <a:xfrm>
                <a:off x="9606935" y="3110245"/>
                <a:ext cx="0" cy="594040"/>
              </a:xfrm>
              <a:prstGeom prst="straightConnector1">
                <a:avLst/>
              </a:prstGeom>
              <a:noFill/>
              <a:ln cap="flat" cmpd="sng" w="19050">
                <a:solidFill>
                  <a:schemeClr val="dk1"/>
                </a:solidFill>
                <a:prstDash val="dash"/>
                <a:round/>
                <a:headEnd len="sm" w="sm" type="none"/>
                <a:tailEnd len="sm" w="sm" type="none"/>
              </a:ln>
            </p:spPr>
          </p:cxnSp>
        </p:grpSp>
        <p:grpSp>
          <p:nvGrpSpPr>
            <p:cNvPr id="202" name="Google Shape;202;p9"/>
            <p:cNvGrpSpPr/>
            <p:nvPr/>
          </p:nvGrpSpPr>
          <p:grpSpPr>
            <a:xfrm>
              <a:off x="7339752" y="4440351"/>
              <a:ext cx="3945383" cy="603513"/>
              <a:chOff x="5875064" y="3110245"/>
              <a:chExt cx="3945383" cy="603513"/>
            </a:xfrm>
          </p:grpSpPr>
          <p:grpSp>
            <p:nvGrpSpPr>
              <p:cNvPr id="203" name="Google Shape;203;p9"/>
              <p:cNvGrpSpPr/>
              <p:nvPr/>
            </p:nvGrpSpPr>
            <p:grpSpPr>
              <a:xfrm>
                <a:off x="5875064" y="3131957"/>
                <a:ext cx="3758934" cy="492712"/>
                <a:chOff x="5310117" y="2632818"/>
                <a:chExt cx="3758934" cy="492712"/>
              </a:xfrm>
            </p:grpSpPr>
            <p:sp>
              <p:nvSpPr>
                <p:cNvPr id="204" name="Google Shape;204;p9"/>
                <p:cNvSpPr/>
                <p:nvPr/>
              </p:nvSpPr>
              <p:spPr>
                <a:xfrm>
                  <a:off x="7662617"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9"/>
                <p:cNvSpPr/>
                <p:nvPr/>
              </p:nvSpPr>
              <p:spPr>
                <a:xfrm>
                  <a:off x="7298848" y="296470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9"/>
                <p:cNvSpPr/>
                <p:nvPr/>
              </p:nvSpPr>
              <p:spPr>
                <a:xfrm>
                  <a:off x="6935079" y="2964705"/>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7" name="Google Shape;207;p9"/>
                <p:cNvSpPr/>
                <p:nvPr/>
              </p:nvSpPr>
              <p:spPr>
                <a:xfrm>
                  <a:off x="6571310"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9"/>
                <p:cNvSpPr/>
                <p:nvPr/>
              </p:nvSpPr>
              <p:spPr>
                <a:xfrm>
                  <a:off x="8026386" y="296470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9" name="Google Shape;209;p9"/>
                <p:cNvCxnSpPr/>
                <p:nvPr/>
              </p:nvCxnSpPr>
              <p:spPr>
                <a:xfrm>
                  <a:off x="8469069" y="2967769"/>
                  <a:ext cx="0" cy="183799"/>
                </a:xfrm>
                <a:prstGeom prst="straightConnector1">
                  <a:avLst/>
                </a:prstGeom>
                <a:noFill/>
                <a:ln cap="rnd" cmpd="sng" w="38100">
                  <a:solidFill>
                    <a:schemeClr val="accent1"/>
                  </a:solidFill>
                  <a:prstDash val="dot"/>
                  <a:bevel/>
                  <a:headEnd len="sm" w="sm" type="none"/>
                  <a:tailEnd len="sm" w="sm" type="none"/>
                </a:ln>
              </p:spPr>
            </p:cxnSp>
            <p:cxnSp>
              <p:nvCxnSpPr>
                <p:cNvPr id="210" name="Google Shape;210;p9"/>
                <p:cNvCxnSpPr/>
                <p:nvPr/>
              </p:nvCxnSpPr>
              <p:spPr>
                <a:xfrm>
                  <a:off x="8842623" y="2967912"/>
                  <a:ext cx="0" cy="183799"/>
                </a:xfrm>
                <a:prstGeom prst="straightConnector1">
                  <a:avLst/>
                </a:prstGeom>
                <a:noFill/>
                <a:ln cap="rnd" cmpd="sng" w="38100">
                  <a:solidFill>
                    <a:schemeClr val="accent1"/>
                  </a:solidFill>
                  <a:prstDash val="dot"/>
                  <a:bevel/>
                  <a:headEnd len="sm" w="sm" type="none"/>
                  <a:tailEnd len="sm" w="sm" type="none"/>
                </a:ln>
              </p:spPr>
            </p:cxnSp>
            <p:sp>
              <p:nvSpPr>
                <p:cNvPr id="211" name="Google Shape;211;p9"/>
                <p:cNvSpPr txBox="1"/>
                <p:nvPr/>
              </p:nvSpPr>
              <p:spPr>
                <a:xfrm>
                  <a:off x="5310117" y="2632818"/>
                  <a:ext cx="37589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List 10                                                    9    ...</a:t>
                  </a:r>
                  <a:endParaRPr/>
                </a:p>
              </p:txBody>
            </p:sp>
          </p:grpSp>
          <p:cxnSp>
            <p:nvCxnSpPr>
              <p:cNvPr id="212" name="Google Shape;212;p9"/>
              <p:cNvCxnSpPr/>
              <p:nvPr/>
            </p:nvCxnSpPr>
            <p:spPr>
              <a:xfrm>
                <a:off x="8892988" y="3119718"/>
                <a:ext cx="0" cy="594040"/>
              </a:xfrm>
              <a:prstGeom prst="straightConnector1">
                <a:avLst/>
              </a:prstGeom>
              <a:noFill/>
              <a:ln cap="flat" cmpd="sng" w="19050">
                <a:solidFill>
                  <a:schemeClr val="dk1"/>
                </a:solidFill>
                <a:prstDash val="dash"/>
                <a:round/>
                <a:headEnd len="sm" w="sm" type="none"/>
                <a:tailEnd len="sm" w="sm" type="none"/>
              </a:ln>
            </p:spPr>
          </p:cxnSp>
          <p:cxnSp>
            <p:nvCxnSpPr>
              <p:cNvPr id="213" name="Google Shape;213;p9"/>
              <p:cNvCxnSpPr/>
              <p:nvPr/>
            </p:nvCxnSpPr>
            <p:spPr>
              <a:xfrm>
                <a:off x="9728548" y="3466908"/>
                <a:ext cx="0" cy="183799"/>
              </a:xfrm>
              <a:prstGeom prst="straightConnector1">
                <a:avLst/>
              </a:prstGeom>
              <a:noFill/>
              <a:ln cap="rnd" cmpd="sng" w="38100">
                <a:solidFill>
                  <a:schemeClr val="accent1"/>
                </a:solidFill>
                <a:prstDash val="dot"/>
                <a:bevel/>
                <a:headEnd len="sm" w="sm" type="none"/>
                <a:tailEnd len="sm" w="sm" type="none"/>
              </a:ln>
            </p:spPr>
          </p:cxnSp>
          <p:cxnSp>
            <p:nvCxnSpPr>
              <p:cNvPr id="214" name="Google Shape;214;p9"/>
              <p:cNvCxnSpPr/>
              <p:nvPr/>
            </p:nvCxnSpPr>
            <p:spPr>
              <a:xfrm>
                <a:off x="9224682" y="3110245"/>
                <a:ext cx="0" cy="594040"/>
              </a:xfrm>
              <a:prstGeom prst="straightConnector1">
                <a:avLst/>
              </a:prstGeom>
              <a:noFill/>
              <a:ln cap="flat" cmpd="sng" w="19050">
                <a:solidFill>
                  <a:schemeClr val="dk1"/>
                </a:solidFill>
                <a:prstDash val="dash"/>
                <a:round/>
                <a:headEnd len="sm" w="sm" type="none"/>
                <a:tailEnd len="sm" w="sm" type="none"/>
              </a:ln>
            </p:spPr>
          </p:cxnSp>
          <p:cxnSp>
            <p:nvCxnSpPr>
              <p:cNvPr id="215" name="Google Shape;215;p9"/>
              <p:cNvCxnSpPr/>
              <p:nvPr/>
            </p:nvCxnSpPr>
            <p:spPr>
              <a:xfrm>
                <a:off x="9606935" y="3110245"/>
                <a:ext cx="0" cy="594040"/>
              </a:xfrm>
              <a:prstGeom prst="straightConnector1">
                <a:avLst/>
              </a:prstGeom>
              <a:noFill/>
              <a:ln cap="flat" cmpd="sng" w="19050">
                <a:solidFill>
                  <a:schemeClr val="dk1"/>
                </a:solidFill>
                <a:prstDash val="dash"/>
                <a:round/>
                <a:headEnd len="sm" w="sm" type="none"/>
                <a:tailEnd len="sm" w="sm" type="none"/>
              </a:ln>
            </p:spPr>
          </p:cxnSp>
        </p:grpSp>
        <p:sp>
          <p:nvSpPr>
            <p:cNvPr id="216" name="Google Shape;216;p9"/>
            <p:cNvSpPr txBox="1"/>
            <p:nvPr/>
          </p:nvSpPr>
          <p:spPr>
            <a:xfrm>
              <a:off x="7033842" y="5767676"/>
              <a:ext cx="34412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Randomly mixed across list</a:t>
              </a:r>
              <a:endParaRPr/>
            </a:p>
          </p:txBody>
        </p:sp>
        <p:sp>
          <p:nvSpPr>
            <p:cNvPr id="217" name="Google Shape;217;p9"/>
            <p:cNvSpPr/>
            <p:nvPr/>
          </p:nvSpPr>
          <p:spPr>
            <a:xfrm>
              <a:off x="7826900" y="3463166"/>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9"/>
            <p:cNvSpPr/>
            <p:nvPr/>
          </p:nvSpPr>
          <p:spPr>
            <a:xfrm>
              <a:off x="8201603" y="3463167"/>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9"/>
            <p:cNvSpPr/>
            <p:nvPr/>
          </p:nvSpPr>
          <p:spPr>
            <a:xfrm>
              <a:off x="7456467" y="346316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9"/>
            <p:cNvSpPr/>
            <p:nvPr/>
          </p:nvSpPr>
          <p:spPr>
            <a:xfrm>
              <a:off x="7073243" y="3463164"/>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9"/>
            <p:cNvSpPr/>
            <p:nvPr/>
          </p:nvSpPr>
          <p:spPr>
            <a:xfrm>
              <a:off x="6716985" y="346316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9"/>
            <p:cNvSpPr/>
            <p:nvPr/>
          </p:nvSpPr>
          <p:spPr>
            <a:xfrm>
              <a:off x="6346552" y="3463164"/>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9"/>
            <p:cNvSpPr/>
            <p:nvPr/>
          </p:nvSpPr>
          <p:spPr>
            <a:xfrm>
              <a:off x="5963328" y="3463163"/>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9"/>
            <p:cNvSpPr/>
            <p:nvPr/>
          </p:nvSpPr>
          <p:spPr>
            <a:xfrm>
              <a:off x="7862473" y="478819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9"/>
            <p:cNvSpPr/>
            <p:nvPr/>
          </p:nvSpPr>
          <p:spPr>
            <a:xfrm>
              <a:off x="8237176" y="4788199"/>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9"/>
            <p:cNvSpPr/>
            <p:nvPr/>
          </p:nvSpPr>
          <p:spPr>
            <a:xfrm>
              <a:off x="7492040" y="4788197"/>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 name="Google Shape;227;p9"/>
            <p:cNvSpPr/>
            <p:nvPr/>
          </p:nvSpPr>
          <p:spPr>
            <a:xfrm>
              <a:off x="7108816" y="4788196"/>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9"/>
            <p:cNvSpPr/>
            <p:nvPr/>
          </p:nvSpPr>
          <p:spPr>
            <a:xfrm>
              <a:off x="6752558" y="4788197"/>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9"/>
            <p:cNvSpPr/>
            <p:nvPr/>
          </p:nvSpPr>
          <p:spPr>
            <a:xfrm>
              <a:off x="6382125" y="4788196"/>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9"/>
            <p:cNvSpPr/>
            <p:nvPr/>
          </p:nvSpPr>
          <p:spPr>
            <a:xfrm>
              <a:off x="5998901" y="478819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9"/>
            <p:cNvSpPr/>
            <p:nvPr/>
          </p:nvSpPr>
          <p:spPr>
            <a:xfrm>
              <a:off x="7862473" y="6197739"/>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9"/>
            <p:cNvSpPr/>
            <p:nvPr/>
          </p:nvSpPr>
          <p:spPr>
            <a:xfrm>
              <a:off x="8237176" y="6197740"/>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9"/>
            <p:cNvSpPr/>
            <p:nvPr/>
          </p:nvSpPr>
          <p:spPr>
            <a:xfrm>
              <a:off x="7492040" y="619773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9"/>
            <p:cNvSpPr/>
            <p:nvPr/>
          </p:nvSpPr>
          <p:spPr>
            <a:xfrm>
              <a:off x="7108816" y="6197737"/>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9"/>
            <p:cNvSpPr/>
            <p:nvPr/>
          </p:nvSpPr>
          <p:spPr>
            <a:xfrm>
              <a:off x="6752558" y="6197738"/>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9"/>
            <p:cNvSpPr/>
            <p:nvPr/>
          </p:nvSpPr>
          <p:spPr>
            <a:xfrm>
              <a:off x="6382125" y="6197737"/>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 name="Google Shape;237;p9"/>
            <p:cNvSpPr/>
            <p:nvPr/>
          </p:nvSpPr>
          <p:spPr>
            <a:xfrm>
              <a:off x="5998901" y="6197736"/>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38" name="Google Shape;238;p9"/>
          <p:cNvGrpSpPr/>
          <p:nvPr/>
        </p:nvGrpSpPr>
        <p:grpSpPr>
          <a:xfrm>
            <a:off x="4712566" y="3209623"/>
            <a:ext cx="1014900" cy="2717400"/>
            <a:chOff x="4712566" y="3209623"/>
            <a:chExt cx="1014900" cy="2717400"/>
          </a:xfrm>
        </p:grpSpPr>
        <p:cxnSp>
          <p:nvCxnSpPr>
            <p:cNvPr id="239" name="Google Shape;239;p9"/>
            <p:cNvCxnSpPr>
              <a:stCxn id="240" idx="3"/>
              <a:endCxn id="175" idx="1"/>
            </p:cNvCxnSpPr>
            <p:nvPr/>
          </p:nvCxnSpPr>
          <p:spPr>
            <a:xfrm flipH="1" rot="10800000">
              <a:off x="4712566" y="3209623"/>
              <a:ext cx="1014900" cy="1431300"/>
            </a:xfrm>
            <a:prstGeom prst="curvedConnector3">
              <a:avLst>
                <a:gd fmla="val 50000" name="adj1"/>
              </a:avLst>
            </a:prstGeom>
            <a:noFill/>
            <a:ln cap="flat" cmpd="sng" w="19050">
              <a:solidFill>
                <a:schemeClr val="accent1"/>
              </a:solidFill>
              <a:prstDash val="solid"/>
              <a:miter lim="800000"/>
              <a:headEnd len="sm" w="sm" type="none"/>
              <a:tailEnd len="med" w="med" type="triangle"/>
            </a:ln>
          </p:spPr>
        </p:cxnSp>
        <p:cxnSp>
          <p:nvCxnSpPr>
            <p:cNvPr id="241" name="Google Shape;241;p9"/>
            <p:cNvCxnSpPr>
              <a:stCxn id="240" idx="3"/>
              <a:endCxn id="176" idx="1"/>
            </p:cNvCxnSpPr>
            <p:nvPr/>
          </p:nvCxnSpPr>
          <p:spPr>
            <a:xfrm flipH="1" rot="10800000">
              <a:off x="4712566" y="4610623"/>
              <a:ext cx="1014900" cy="30300"/>
            </a:xfrm>
            <a:prstGeom prst="curvedConnector3">
              <a:avLst>
                <a:gd fmla="val 50000" name="adj1"/>
              </a:avLst>
            </a:prstGeom>
            <a:noFill/>
            <a:ln cap="flat" cmpd="sng" w="19050">
              <a:solidFill>
                <a:schemeClr val="accent1"/>
              </a:solidFill>
              <a:prstDash val="solid"/>
              <a:miter lim="800000"/>
              <a:headEnd len="sm" w="sm" type="none"/>
              <a:tailEnd len="med" w="med" type="triangle"/>
            </a:ln>
          </p:spPr>
        </p:cxnSp>
        <p:cxnSp>
          <p:nvCxnSpPr>
            <p:cNvPr id="242" name="Google Shape;242;p9"/>
            <p:cNvCxnSpPr>
              <a:stCxn id="240" idx="3"/>
              <a:endCxn id="177" idx="1"/>
            </p:cNvCxnSpPr>
            <p:nvPr/>
          </p:nvCxnSpPr>
          <p:spPr>
            <a:xfrm>
              <a:off x="4712566" y="4640923"/>
              <a:ext cx="1014900" cy="1286100"/>
            </a:xfrm>
            <a:prstGeom prst="curvedConnector3">
              <a:avLst>
                <a:gd fmla="val 50000" name="adj1"/>
              </a:avLst>
            </a:prstGeom>
            <a:noFill/>
            <a:ln cap="flat" cmpd="sng" w="19050">
              <a:solidFill>
                <a:schemeClr val="accent1"/>
              </a:solidFill>
              <a:prstDash val="solid"/>
              <a:miter lim="800000"/>
              <a:headEnd len="sm" w="sm" type="none"/>
              <a:tailEnd len="med" w="med" type="triangle"/>
            </a:ln>
          </p:spPr>
        </p:cxnSp>
      </p:grpSp>
      <p:grpSp>
        <p:nvGrpSpPr>
          <p:cNvPr id="243" name="Google Shape;243;p9"/>
          <p:cNvGrpSpPr/>
          <p:nvPr/>
        </p:nvGrpSpPr>
        <p:grpSpPr>
          <a:xfrm>
            <a:off x="144329" y="1501965"/>
            <a:ext cx="4792625" cy="4979171"/>
            <a:chOff x="144329" y="1501965"/>
            <a:chExt cx="4792625" cy="4979171"/>
          </a:xfrm>
        </p:grpSpPr>
        <p:grpSp>
          <p:nvGrpSpPr>
            <p:cNvPr id="244" name="Google Shape;244;p9"/>
            <p:cNvGrpSpPr/>
            <p:nvPr/>
          </p:nvGrpSpPr>
          <p:grpSpPr>
            <a:xfrm>
              <a:off x="2428065" y="3147248"/>
              <a:ext cx="952692" cy="160825"/>
              <a:chOff x="2606887" y="3025967"/>
              <a:chExt cx="952692" cy="160825"/>
            </a:xfrm>
          </p:grpSpPr>
          <p:sp>
            <p:nvSpPr>
              <p:cNvPr id="245" name="Google Shape;245;p9"/>
              <p:cNvSpPr/>
              <p:nvPr/>
            </p:nvSpPr>
            <p:spPr>
              <a:xfrm>
                <a:off x="3334425" y="3025967"/>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9"/>
              <p:cNvSpPr/>
              <p:nvPr/>
            </p:nvSpPr>
            <p:spPr>
              <a:xfrm>
                <a:off x="2606887" y="3025967"/>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47" name="Google Shape;247;p9"/>
            <p:cNvSpPr/>
            <p:nvPr/>
          </p:nvSpPr>
          <p:spPr>
            <a:xfrm>
              <a:off x="1582203" y="3147248"/>
              <a:ext cx="225154" cy="16082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9"/>
            <p:cNvSpPr/>
            <p:nvPr/>
          </p:nvSpPr>
          <p:spPr>
            <a:xfrm>
              <a:off x="1218434" y="3147248"/>
              <a:ext cx="225154" cy="16082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9"/>
            <p:cNvSpPr txBox="1"/>
            <p:nvPr/>
          </p:nvSpPr>
          <p:spPr>
            <a:xfrm>
              <a:off x="144329" y="1501965"/>
              <a:ext cx="4792625"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Initial Test</a:t>
              </a:r>
              <a:r>
                <a:rPr lang="en-US" sz="2000">
                  <a:solidFill>
                    <a:schemeClr val="dk1"/>
                  </a:solidFill>
                  <a:latin typeface="Arial"/>
                  <a:ea typeface="Arial"/>
                  <a:cs typeface="Arial"/>
                  <a:sym typeface="Arial"/>
                </a:rPr>
                <a:t> (Study and Recognition): </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10 lists, each including 20 study pictures and 20 tests</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 </a:t>
              </a:r>
              <a:endParaRPr/>
            </a:p>
          </p:txBody>
        </p:sp>
        <p:sp>
          <p:nvSpPr>
            <p:cNvPr id="250" name="Google Shape;250;p9"/>
            <p:cNvSpPr/>
            <p:nvPr/>
          </p:nvSpPr>
          <p:spPr>
            <a:xfrm>
              <a:off x="854665" y="3147248"/>
              <a:ext cx="225154" cy="16082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 name="Google Shape;251;p9"/>
            <p:cNvSpPr/>
            <p:nvPr/>
          </p:nvSpPr>
          <p:spPr>
            <a:xfrm>
              <a:off x="490896" y="3147248"/>
              <a:ext cx="225154" cy="16082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52" name="Google Shape;252;p9"/>
            <p:cNvCxnSpPr/>
            <p:nvPr/>
          </p:nvCxnSpPr>
          <p:spPr>
            <a:xfrm>
              <a:off x="2150448" y="3050313"/>
              <a:ext cx="0" cy="3056099"/>
            </a:xfrm>
            <a:prstGeom prst="straightConnector1">
              <a:avLst/>
            </a:prstGeom>
            <a:noFill/>
            <a:ln cap="flat" cmpd="sng" w="19050">
              <a:solidFill>
                <a:schemeClr val="accent1"/>
              </a:solidFill>
              <a:prstDash val="dash"/>
              <a:round/>
              <a:headEnd len="sm" w="sm" type="none"/>
              <a:tailEnd len="sm" w="sm" type="none"/>
            </a:ln>
          </p:spPr>
        </p:cxnSp>
        <p:sp>
          <p:nvSpPr>
            <p:cNvPr id="253" name="Google Shape;253;p9"/>
            <p:cNvSpPr/>
            <p:nvPr/>
          </p:nvSpPr>
          <p:spPr>
            <a:xfrm>
              <a:off x="2791834" y="3149722"/>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9"/>
            <p:cNvSpPr/>
            <p:nvPr/>
          </p:nvSpPr>
          <p:spPr>
            <a:xfrm>
              <a:off x="3519372" y="3149722"/>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55" name="Google Shape;255;p9"/>
            <p:cNvGrpSpPr/>
            <p:nvPr/>
          </p:nvGrpSpPr>
          <p:grpSpPr>
            <a:xfrm>
              <a:off x="1218434" y="3147248"/>
              <a:ext cx="2162323" cy="163299"/>
              <a:chOff x="1406828" y="3023493"/>
              <a:chExt cx="2162323" cy="163299"/>
            </a:xfrm>
          </p:grpSpPr>
          <p:sp>
            <p:nvSpPr>
              <p:cNvPr id="256" name="Google Shape;256;p9"/>
              <p:cNvSpPr/>
              <p:nvPr/>
            </p:nvSpPr>
            <p:spPr>
              <a:xfrm>
                <a:off x="1406828" y="3023493"/>
                <a:ext cx="225154" cy="16082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9"/>
              <p:cNvSpPr/>
              <p:nvPr/>
            </p:nvSpPr>
            <p:spPr>
              <a:xfrm>
                <a:off x="1770597" y="3023493"/>
                <a:ext cx="225154" cy="16082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9"/>
              <p:cNvSpPr/>
              <p:nvPr/>
            </p:nvSpPr>
            <p:spPr>
              <a:xfrm>
                <a:off x="3343997" y="3025967"/>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9"/>
              <p:cNvSpPr/>
              <p:nvPr/>
            </p:nvSpPr>
            <p:spPr>
              <a:xfrm>
                <a:off x="2616459" y="3025967"/>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cxnSp>
          <p:nvCxnSpPr>
            <p:cNvPr id="260" name="Google Shape;260;p9"/>
            <p:cNvCxnSpPr/>
            <p:nvPr/>
          </p:nvCxnSpPr>
          <p:spPr>
            <a:xfrm>
              <a:off x="1130364" y="3877849"/>
              <a:ext cx="0" cy="183799"/>
            </a:xfrm>
            <a:prstGeom prst="straightConnector1">
              <a:avLst/>
            </a:prstGeom>
            <a:noFill/>
            <a:ln cap="rnd" cmpd="sng" w="38100">
              <a:solidFill>
                <a:schemeClr val="accent1"/>
              </a:solidFill>
              <a:prstDash val="dot"/>
              <a:bevel/>
              <a:headEnd len="sm" w="sm" type="none"/>
              <a:tailEnd len="sm" w="sm" type="none"/>
            </a:ln>
          </p:spPr>
        </p:cxnSp>
        <p:cxnSp>
          <p:nvCxnSpPr>
            <p:cNvPr id="261" name="Google Shape;261;p9"/>
            <p:cNvCxnSpPr/>
            <p:nvPr/>
          </p:nvCxnSpPr>
          <p:spPr>
            <a:xfrm>
              <a:off x="1130364" y="4494341"/>
              <a:ext cx="0" cy="164654"/>
            </a:xfrm>
            <a:prstGeom prst="straightConnector1">
              <a:avLst/>
            </a:prstGeom>
            <a:noFill/>
            <a:ln cap="rnd" cmpd="sng" w="38100">
              <a:solidFill>
                <a:schemeClr val="accent1"/>
              </a:solidFill>
              <a:prstDash val="dot"/>
              <a:bevel/>
              <a:headEnd len="sm" w="sm" type="none"/>
              <a:tailEnd len="sm" w="sm" type="none"/>
            </a:ln>
          </p:spPr>
        </p:cxnSp>
        <p:cxnSp>
          <p:nvCxnSpPr>
            <p:cNvPr id="262" name="Google Shape;262;p9"/>
            <p:cNvCxnSpPr/>
            <p:nvPr/>
          </p:nvCxnSpPr>
          <p:spPr>
            <a:xfrm>
              <a:off x="3156369" y="3877849"/>
              <a:ext cx="0" cy="183799"/>
            </a:xfrm>
            <a:prstGeom prst="straightConnector1">
              <a:avLst/>
            </a:prstGeom>
            <a:noFill/>
            <a:ln cap="rnd" cmpd="sng" w="38100">
              <a:solidFill>
                <a:schemeClr val="accent1"/>
              </a:solidFill>
              <a:prstDash val="dot"/>
              <a:bevel/>
              <a:headEnd len="sm" w="sm" type="none"/>
              <a:tailEnd len="sm" w="sm" type="none"/>
            </a:ln>
          </p:spPr>
        </p:cxnSp>
        <p:cxnSp>
          <p:nvCxnSpPr>
            <p:cNvPr id="263" name="Google Shape;263;p9"/>
            <p:cNvCxnSpPr/>
            <p:nvPr/>
          </p:nvCxnSpPr>
          <p:spPr>
            <a:xfrm>
              <a:off x="3156369" y="4494341"/>
              <a:ext cx="0" cy="164654"/>
            </a:xfrm>
            <a:prstGeom prst="straightConnector1">
              <a:avLst/>
            </a:prstGeom>
            <a:noFill/>
            <a:ln cap="rnd" cmpd="sng" w="38100">
              <a:solidFill>
                <a:schemeClr val="accent1"/>
              </a:solidFill>
              <a:prstDash val="dot"/>
              <a:bevel/>
              <a:headEnd len="sm" w="sm" type="none"/>
              <a:tailEnd len="sm" w="sm" type="none"/>
            </a:ln>
          </p:spPr>
        </p:cxnSp>
        <p:cxnSp>
          <p:nvCxnSpPr>
            <p:cNvPr id="264" name="Google Shape;264;p9"/>
            <p:cNvCxnSpPr/>
            <p:nvPr/>
          </p:nvCxnSpPr>
          <p:spPr>
            <a:xfrm>
              <a:off x="1130364" y="5051099"/>
              <a:ext cx="0" cy="164654"/>
            </a:xfrm>
            <a:prstGeom prst="straightConnector1">
              <a:avLst/>
            </a:prstGeom>
            <a:noFill/>
            <a:ln cap="rnd" cmpd="sng" w="38100">
              <a:solidFill>
                <a:schemeClr val="accent1"/>
              </a:solidFill>
              <a:prstDash val="dot"/>
              <a:bevel/>
              <a:headEnd len="sm" w="sm" type="none"/>
              <a:tailEnd len="sm" w="sm" type="none"/>
            </a:ln>
          </p:spPr>
        </p:cxnSp>
        <p:cxnSp>
          <p:nvCxnSpPr>
            <p:cNvPr id="265" name="Google Shape;265;p9"/>
            <p:cNvCxnSpPr/>
            <p:nvPr/>
          </p:nvCxnSpPr>
          <p:spPr>
            <a:xfrm>
              <a:off x="3151774" y="5051099"/>
              <a:ext cx="0" cy="164654"/>
            </a:xfrm>
            <a:prstGeom prst="straightConnector1">
              <a:avLst/>
            </a:prstGeom>
            <a:noFill/>
            <a:ln cap="rnd" cmpd="sng" w="38100">
              <a:solidFill>
                <a:schemeClr val="accent1"/>
              </a:solidFill>
              <a:prstDash val="dot"/>
              <a:bevel/>
              <a:headEnd len="sm" w="sm" type="none"/>
              <a:tailEnd len="sm" w="sm" type="none"/>
            </a:ln>
          </p:spPr>
        </p:cxnSp>
        <p:sp>
          <p:nvSpPr>
            <p:cNvPr id="240" name="Google Shape;240;p9"/>
            <p:cNvSpPr/>
            <p:nvPr/>
          </p:nvSpPr>
          <p:spPr>
            <a:xfrm>
              <a:off x="297145" y="2800710"/>
              <a:ext cx="4415421" cy="3680426"/>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9"/>
            <p:cNvSpPr txBox="1"/>
            <p:nvPr/>
          </p:nvSpPr>
          <p:spPr>
            <a:xfrm>
              <a:off x="3910692" y="3059668"/>
              <a:ext cx="7107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List 1</a:t>
              </a:r>
              <a:endParaRPr/>
            </a:p>
          </p:txBody>
        </p:sp>
        <p:sp>
          <p:nvSpPr>
            <p:cNvPr id="267" name="Google Shape;267;p9"/>
            <p:cNvSpPr txBox="1"/>
            <p:nvPr/>
          </p:nvSpPr>
          <p:spPr>
            <a:xfrm>
              <a:off x="3749692" y="5557776"/>
              <a:ext cx="8341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List 10</a:t>
              </a:r>
              <a:endParaRPr/>
            </a:p>
          </p:txBody>
        </p:sp>
        <p:cxnSp>
          <p:nvCxnSpPr>
            <p:cNvPr id="268" name="Google Shape;268;p9"/>
            <p:cNvCxnSpPr/>
            <p:nvPr/>
          </p:nvCxnSpPr>
          <p:spPr>
            <a:xfrm>
              <a:off x="1130364" y="5603022"/>
              <a:ext cx="0" cy="164654"/>
            </a:xfrm>
            <a:prstGeom prst="straightConnector1">
              <a:avLst/>
            </a:prstGeom>
            <a:noFill/>
            <a:ln cap="rnd" cmpd="sng" w="38100">
              <a:solidFill>
                <a:schemeClr val="accent1"/>
              </a:solidFill>
              <a:prstDash val="dot"/>
              <a:bevel/>
              <a:headEnd len="sm" w="sm" type="none"/>
              <a:tailEnd len="sm" w="sm" type="none"/>
            </a:ln>
          </p:spPr>
        </p:cxnSp>
        <p:cxnSp>
          <p:nvCxnSpPr>
            <p:cNvPr id="269" name="Google Shape;269;p9"/>
            <p:cNvCxnSpPr/>
            <p:nvPr/>
          </p:nvCxnSpPr>
          <p:spPr>
            <a:xfrm>
              <a:off x="3151774" y="5603022"/>
              <a:ext cx="0" cy="164654"/>
            </a:xfrm>
            <a:prstGeom prst="straightConnector1">
              <a:avLst/>
            </a:prstGeom>
            <a:noFill/>
            <a:ln cap="rnd" cmpd="sng" w="38100">
              <a:solidFill>
                <a:schemeClr val="accent1"/>
              </a:solidFill>
              <a:prstDash val="dot"/>
              <a:bevel/>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10"/>
          <p:cNvSpPr txBox="1"/>
          <p:nvPr>
            <p:ph type="title"/>
          </p:nvPr>
        </p:nvSpPr>
        <p:spPr>
          <a:xfrm>
            <a:off x="417917" y="962953"/>
            <a:ext cx="6155988" cy="118292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900"/>
              <a:buFont typeface="Play"/>
              <a:buNone/>
            </a:pPr>
            <a:r>
              <a:rPr lang="en-US" sz="3900"/>
              <a:t>Procedure for Picture Recognition in </a:t>
            </a:r>
            <a:r>
              <a:rPr b="1" lang="en-US" sz="3900"/>
              <a:t>Initial Test</a:t>
            </a:r>
            <a:endParaRPr b="1" sz="3900"/>
          </a:p>
        </p:txBody>
      </p:sp>
      <p:cxnSp>
        <p:nvCxnSpPr>
          <p:cNvPr id="277" name="Google Shape;277;p10"/>
          <p:cNvCxnSpPr/>
          <p:nvPr/>
        </p:nvCxnSpPr>
        <p:spPr>
          <a:xfrm>
            <a:off x="0" y="806470"/>
            <a:ext cx="7903723" cy="0"/>
          </a:xfrm>
          <a:prstGeom prst="straightConnector1">
            <a:avLst/>
          </a:prstGeom>
          <a:noFill/>
          <a:ln cap="sq" cmpd="sng" w="25400">
            <a:solidFill>
              <a:schemeClr val="accent1"/>
            </a:solidFill>
            <a:prstDash val="solid"/>
            <a:bevel/>
            <a:headEnd len="sm" w="sm" type="none"/>
            <a:tailEnd len="sm" w="sm" type="none"/>
          </a:ln>
        </p:spPr>
      </p:cxnSp>
      <p:sp>
        <p:nvSpPr>
          <p:cNvPr id="278" name="Google Shape;278;p10"/>
          <p:cNvSpPr txBox="1"/>
          <p:nvPr>
            <p:ph idx="1" type="body"/>
          </p:nvPr>
        </p:nvSpPr>
        <p:spPr>
          <a:xfrm>
            <a:off x="803775" y="2519317"/>
            <a:ext cx="6648860" cy="402346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1. Study Phase</a:t>
            </a:r>
            <a:endParaRPr b="0" i="0" sz="2000" u="none" cap="none" strike="noStrike">
              <a:solidFill>
                <a:schemeClr val="dk1"/>
              </a:solidFill>
              <a:latin typeface="Arial"/>
              <a:ea typeface="Arial"/>
              <a:cs typeface="Arial"/>
              <a:sym typeface="Arial"/>
            </a:endParaRPr>
          </a:p>
          <a:p>
            <a:pPr indent="-127000" lvl="1" marL="457200" rtl="0" algn="l">
              <a:lnSpc>
                <a:spcPct val="90000"/>
              </a:lnSpc>
              <a:spcBef>
                <a:spcPts val="5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Participants studied a list of 20 pictures.</a:t>
            </a:r>
            <a:endParaRPr/>
          </a:p>
          <a:p>
            <a:pPr indent="0" lvl="0" marL="0" marR="0" rtl="0" algn="l">
              <a:lnSpc>
                <a:spcPct val="90000"/>
              </a:lnSpc>
              <a:spcBef>
                <a:spcPts val="50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2. Testing Phase</a:t>
            </a:r>
            <a:endParaRPr b="0" i="0" sz="2000" u="none" cap="none" strike="noStrike">
              <a:solidFill>
                <a:schemeClr val="dk1"/>
              </a:solidFill>
              <a:latin typeface="Arial"/>
              <a:ea typeface="Arial"/>
              <a:cs typeface="Arial"/>
              <a:sym typeface="Arial"/>
            </a:endParaRPr>
          </a:p>
          <a:p>
            <a:pPr indent="-127000" lvl="1" marL="457200" rtl="0" algn="l">
              <a:lnSpc>
                <a:spcPct val="90000"/>
              </a:lnSpc>
              <a:spcBef>
                <a:spcPts val="5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After an arithmetic counting break,</a:t>
            </a:r>
            <a:endParaRPr/>
          </a:p>
          <a:p>
            <a:pPr indent="0" lvl="1" marL="457200" rtl="0" algn="l">
              <a:lnSpc>
                <a:spcPct val="90000"/>
              </a:lnSpc>
              <a:spcBef>
                <a:spcPts val="500"/>
              </a:spcBef>
              <a:spcAft>
                <a:spcPts val="0"/>
              </a:spcAft>
              <a:buClr>
                <a:schemeClr val="dk1"/>
              </a:buClr>
              <a:buSzPts val="2000"/>
              <a:buNone/>
            </a:pPr>
            <a:r>
              <a:rPr lang="en-US" sz="2000">
                <a:solidFill>
                  <a:schemeClr val="dk1"/>
                </a:solidFill>
                <a:latin typeface="Arial"/>
                <a:ea typeface="Arial"/>
                <a:cs typeface="Arial"/>
                <a:sym typeface="Arial"/>
              </a:rPr>
              <a:t>p</a:t>
            </a:r>
            <a:r>
              <a:rPr b="0" i="0" lang="en-US" sz="2000" u="none" cap="none" strike="noStrike">
                <a:solidFill>
                  <a:schemeClr val="dk1"/>
                </a:solidFill>
                <a:latin typeface="Arial"/>
                <a:ea typeface="Arial"/>
                <a:cs typeface="Arial"/>
                <a:sym typeface="Arial"/>
              </a:rPr>
              <a:t>articipants were tested on their recognition:</a:t>
            </a:r>
            <a:endParaRPr/>
          </a:p>
          <a:p>
            <a:pPr indent="-127000" lvl="2" marL="914400" rtl="0" algn="l">
              <a:lnSpc>
                <a:spcPct val="90000"/>
              </a:lnSpc>
              <a:spcBef>
                <a:spcPts val="500"/>
              </a:spcBef>
              <a:spcAft>
                <a:spcPts val="0"/>
              </a:spcAft>
              <a:buClr>
                <a:schemeClr val="accent1"/>
              </a:buClr>
              <a:buSzPts val="2000"/>
              <a:buFont typeface="Arial"/>
              <a:buChar char="•"/>
            </a:pPr>
            <a:r>
              <a:rPr b="1" i="0" lang="en-US" u="none" cap="none" strike="noStrike">
                <a:solidFill>
                  <a:schemeClr val="accent1"/>
                </a:solidFill>
                <a:latin typeface="Arial"/>
                <a:ea typeface="Arial"/>
                <a:cs typeface="Arial"/>
                <a:sym typeface="Arial"/>
              </a:rPr>
              <a:t>Targets</a:t>
            </a:r>
            <a:r>
              <a:rPr b="0" i="0" lang="en-US" u="none" cap="none" strike="noStrike">
                <a:solidFill>
                  <a:schemeClr val="dk1"/>
                </a:solidFill>
                <a:latin typeface="Arial"/>
                <a:ea typeface="Arial"/>
                <a:cs typeface="Arial"/>
                <a:sym typeface="Arial"/>
              </a:rPr>
              <a:t>: 10 pictures from the studied list.</a:t>
            </a:r>
            <a:endParaRPr/>
          </a:p>
          <a:p>
            <a:pPr indent="-127000" lvl="2" marL="914400" rtl="0" algn="l">
              <a:lnSpc>
                <a:spcPct val="90000"/>
              </a:lnSpc>
              <a:spcBef>
                <a:spcPts val="500"/>
              </a:spcBef>
              <a:spcAft>
                <a:spcPts val="0"/>
              </a:spcAft>
              <a:buClr>
                <a:schemeClr val="dk1"/>
              </a:buClr>
              <a:buSzPts val="2000"/>
              <a:buFont typeface="Arial"/>
              <a:buChar char="•"/>
            </a:pPr>
            <a:r>
              <a:rPr b="1" i="0" lang="en-US" u="none" cap="none" strike="noStrike">
                <a:solidFill>
                  <a:schemeClr val="dk1"/>
                </a:solidFill>
                <a:latin typeface="Arial"/>
                <a:ea typeface="Arial"/>
                <a:cs typeface="Arial"/>
                <a:sym typeface="Arial"/>
              </a:rPr>
              <a:t> </a:t>
            </a:r>
            <a:r>
              <a:rPr b="1" i="0" lang="en-US" u="none" cap="none" strike="noStrike">
                <a:solidFill>
                  <a:schemeClr val="accent2"/>
                </a:solidFill>
                <a:latin typeface="Arial"/>
                <a:ea typeface="Arial"/>
                <a:cs typeface="Arial"/>
                <a:sym typeface="Arial"/>
              </a:rPr>
              <a:t>Foils</a:t>
            </a:r>
            <a:r>
              <a:rPr b="0" i="0" lang="en-US" u="none" cap="none" strike="noStrike">
                <a:solidFill>
                  <a:schemeClr val="dk1"/>
                </a:solidFill>
                <a:latin typeface="Arial"/>
                <a:ea typeface="Arial"/>
                <a:cs typeface="Arial"/>
                <a:sym typeface="Arial"/>
              </a:rPr>
              <a:t>: 10 new pictures not previously studied.</a:t>
            </a:r>
            <a:endParaRPr/>
          </a:p>
          <a:p>
            <a:pPr indent="0" lvl="0" marL="0" marR="0" rtl="0" algn="l">
              <a:lnSpc>
                <a:spcPct val="90000"/>
              </a:lnSpc>
              <a:spcBef>
                <a:spcPts val="50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3. Repetition</a:t>
            </a:r>
            <a:endParaRPr b="0" i="0" sz="2000" u="none" cap="none" strike="noStrike">
              <a:solidFill>
                <a:schemeClr val="dk1"/>
              </a:solidFill>
              <a:latin typeface="Arial"/>
              <a:ea typeface="Arial"/>
              <a:cs typeface="Arial"/>
              <a:sym typeface="Arial"/>
            </a:endParaRPr>
          </a:p>
          <a:p>
            <a:pPr indent="-127000" lvl="1" marL="457200" rtl="0" algn="l">
              <a:lnSpc>
                <a:spcPct val="90000"/>
              </a:lnSpc>
              <a:spcBef>
                <a:spcPts val="5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 This process was </a:t>
            </a:r>
            <a:r>
              <a:rPr b="1" i="0" lang="en-US" sz="2000" u="none" cap="none" strike="noStrike">
                <a:solidFill>
                  <a:schemeClr val="dk1"/>
                </a:solidFill>
                <a:latin typeface="Arial"/>
                <a:ea typeface="Arial"/>
                <a:cs typeface="Arial"/>
                <a:sym typeface="Arial"/>
              </a:rPr>
              <a:t>repeated for 10</a:t>
            </a:r>
            <a:r>
              <a:rPr b="0" i="0" lang="en-US" sz="2000" u="none" cap="none" strike="noStrike">
                <a:solidFill>
                  <a:schemeClr val="dk1"/>
                </a:solidFill>
                <a:latin typeface="Arial"/>
                <a:ea typeface="Arial"/>
                <a:cs typeface="Arial"/>
                <a:sym typeface="Arial"/>
              </a:rPr>
              <a:t> different lists.</a:t>
            </a:r>
            <a:endParaRPr/>
          </a:p>
          <a:p>
            <a:pPr indent="-127000" lvl="1" marL="457200" rtl="0" algn="l">
              <a:lnSpc>
                <a:spcPct val="90000"/>
              </a:lnSpc>
              <a:spcBef>
                <a:spcPts val="5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 Participants were aware that targets were only from the list just studied, and foils were always completely new.</a:t>
            </a:r>
            <a:endParaRPr/>
          </a:p>
        </p:txBody>
      </p:sp>
      <p:sp>
        <p:nvSpPr>
          <p:cNvPr id="279" name="Google Shape;279;p10"/>
          <p:cNvSpPr/>
          <p:nvPr/>
        </p:nvSpPr>
        <p:spPr>
          <a:xfrm>
            <a:off x="10924552" y="1899284"/>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10"/>
          <p:cNvSpPr/>
          <p:nvPr/>
        </p:nvSpPr>
        <p:spPr>
          <a:xfrm>
            <a:off x="11236862" y="2189928"/>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81" name="Google Shape;281;p10"/>
          <p:cNvCxnSpPr/>
          <p:nvPr/>
        </p:nvCxnSpPr>
        <p:spPr>
          <a:xfrm>
            <a:off x="9062037" y="2476819"/>
            <a:ext cx="0" cy="2455996"/>
          </a:xfrm>
          <a:prstGeom prst="straightConnector1">
            <a:avLst/>
          </a:prstGeom>
          <a:noFill/>
          <a:ln cap="flat" cmpd="sng" w="19050">
            <a:solidFill>
              <a:schemeClr val="accent1"/>
            </a:solidFill>
            <a:prstDash val="dash"/>
            <a:round/>
            <a:headEnd len="sm" w="sm" type="none"/>
            <a:tailEnd len="sm" w="sm" type="none"/>
          </a:ln>
        </p:spPr>
      </p:cxnSp>
      <p:grpSp>
        <p:nvGrpSpPr>
          <p:cNvPr id="282" name="Google Shape;282;p10"/>
          <p:cNvGrpSpPr/>
          <p:nvPr/>
        </p:nvGrpSpPr>
        <p:grpSpPr>
          <a:xfrm>
            <a:off x="7728357" y="2554720"/>
            <a:ext cx="1057958" cy="129245"/>
            <a:chOff x="7728357" y="2554720"/>
            <a:chExt cx="1057958" cy="129245"/>
          </a:xfrm>
        </p:grpSpPr>
        <p:sp>
          <p:nvSpPr>
            <p:cNvPr id="283" name="Google Shape;283;p10"/>
            <p:cNvSpPr/>
            <p:nvPr/>
          </p:nvSpPr>
          <p:spPr>
            <a:xfrm>
              <a:off x="8605373"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10"/>
            <p:cNvSpPr/>
            <p:nvPr/>
          </p:nvSpPr>
          <p:spPr>
            <a:xfrm>
              <a:off x="8313034"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 name="Google Shape;285;p10"/>
            <p:cNvSpPr/>
            <p:nvPr/>
          </p:nvSpPr>
          <p:spPr>
            <a:xfrm>
              <a:off x="8020696"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 name="Google Shape;286;p10"/>
            <p:cNvSpPr/>
            <p:nvPr/>
          </p:nvSpPr>
          <p:spPr>
            <a:xfrm>
              <a:off x="7728357"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 name="Google Shape;287;p10"/>
            <p:cNvSpPr/>
            <p:nvPr/>
          </p:nvSpPr>
          <p:spPr>
            <a:xfrm>
              <a:off x="8313034" y="2554720"/>
              <a:ext cx="180942" cy="12924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10"/>
            <p:cNvSpPr/>
            <p:nvPr/>
          </p:nvSpPr>
          <p:spPr>
            <a:xfrm>
              <a:off x="8605373" y="2554720"/>
              <a:ext cx="180942" cy="12924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89" name="Google Shape;289;p10"/>
          <p:cNvSpPr/>
          <p:nvPr/>
        </p:nvSpPr>
        <p:spPr>
          <a:xfrm>
            <a:off x="9577480" y="2556708"/>
            <a:ext cx="180942" cy="12924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 name="Google Shape;290;p10"/>
          <p:cNvSpPr/>
          <p:nvPr/>
        </p:nvSpPr>
        <p:spPr>
          <a:xfrm>
            <a:off x="10162157" y="2556708"/>
            <a:ext cx="180942" cy="12924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 name="Google Shape;291;p10"/>
          <p:cNvSpPr/>
          <p:nvPr/>
        </p:nvSpPr>
        <p:spPr>
          <a:xfrm>
            <a:off x="9875276" y="2554718"/>
            <a:ext cx="180942" cy="12924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 name="Google Shape;292;p10"/>
          <p:cNvSpPr/>
          <p:nvPr/>
        </p:nvSpPr>
        <p:spPr>
          <a:xfrm>
            <a:off x="9273916" y="2554719"/>
            <a:ext cx="180942" cy="12924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3" name="Google Shape;293;p10"/>
          <p:cNvSpPr/>
          <p:nvPr/>
        </p:nvSpPr>
        <p:spPr>
          <a:xfrm>
            <a:off x="7572651" y="2276229"/>
            <a:ext cx="3548403" cy="2957729"/>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 name="Google Shape;294;p10"/>
          <p:cNvSpPr txBox="1"/>
          <p:nvPr/>
        </p:nvSpPr>
        <p:spPr>
          <a:xfrm>
            <a:off x="10476637" y="2484337"/>
            <a:ext cx="571152" cy="2968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23">
                <a:solidFill>
                  <a:schemeClr val="dk1"/>
                </a:solidFill>
                <a:latin typeface="Arial"/>
                <a:ea typeface="Arial"/>
                <a:cs typeface="Arial"/>
                <a:sym typeface="Arial"/>
              </a:rPr>
              <a:t>List 1</a:t>
            </a:r>
            <a:endParaRPr sz="1800">
              <a:solidFill>
                <a:schemeClr val="dk1"/>
              </a:solidFill>
              <a:latin typeface="Arial"/>
              <a:ea typeface="Arial"/>
              <a:cs typeface="Arial"/>
              <a:sym typeface="Arial"/>
            </a:endParaRPr>
          </a:p>
        </p:txBody>
      </p:sp>
      <p:grpSp>
        <p:nvGrpSpPr>
          <p:cNvPr id="295" name="Google Shape;295;p10"/>
          <p:cNvGrpSpPr/>
          <p:nvPr/>
        </p:nvGrpSpPr>
        <p:grpSpPr>
          <a:xfrm>
            <a:off x="8242258" y="3141858"/>
            <a:ext cx="2775339" cy="1646862"/>
            <a:chOff x="8242258" y="3141858"/>
            <a:chExt cx="2775339" cy="1646862"/>
          </a:xfrm>
        </p:grpSpPr>
        <p:cxnSp>
          <p:nvCxnSpPr>
            <p:cNvPr id="296" name="Google Shape;296;p10"/>
            <p:cNvCxnSpPr/>
            <p:nvPr/>
          </p:nvCxnSpPr>
          <p:spPr>
            <a:xfrm>
              <a:off x="8242258" y="3141858"/>
              <a:ext cx="0" cy="147708"/>
            </a:xfrm>
            <a:prstGeom prst="straightConnector1">
              <a:avLst/>
            </a:prstGeom>
            <a:noFill/>
            <a:ln cap="rnd" cmpd="sng" w="38100">
              <a:solidFill>
                <a:schemeClr val="accent1"/>
              </a:solidFill>
              <a:prstDash val="dot"/>
              <a:bevel/>
              <a:headEnd len="sm" w="sm" type="none"/>
              <a:tailEnd len="sm" w="sm" type="none"/>
            </a:ln>
          </p:spPr>
        </p:cxnSp>
        <p:cxnSp>
          <p:nvCxnSpPr>
            <p:cNvPr id="297" name="Google Shape;297;p10"/>
            <p:cNvCxnSpPr/>
            <p:nvPr/>
          </p:nvCxnSpPr>
          <p:spPr>
            <a:xfrm>
              <a:off x="8242258" y="3637295"/>
              <a:ext cx="0" cy="132322"/>
            </a:xfrm>
            <a:prstGeom prst="straightConnector1">
              <a:avLst/>
            </a:prstGeom>
            <a:noFill/>
            <a:ln cap="rnd" cmpd="sng" w="38100">
              <a:solidFill>
                <a:schemeClr val="accent1"/>
              </a:solidFill>
              <a:prstDash val="dot"/>
              <a:bevel/>
              <a:headEnd len="sm" w="sm" type="none"/>
              <a:tailEnd len="sm" w="sm" type="none"/>
            </a:ln>
          </p:spPr>
        </p:cxnSp>
        <p:cxnSp>
          <p:nvCxnSpPr>
            <p:cNvPr id="298" name="Google Shape;298;p10"/>
            <p:cNvCxnSpPr/>
            <p:nvPr/>
          </p:nvCxnSpPr>
          <p:spPr>
            <a:xfrm>
              <a:off x="9870434" y="3141858"/>
              <a:ext cx="0" cy="147708"/>
            </a:xfrm>
            <a:prstGeom prst="straightConnector1">
              <a:avLst/>
            </a:prstGeom>
            <a:noFill/>
            <a:ln cap="rnd" cmpd="sng" w="38100">
              <a:solidFill>
                <a:schemeClr val="accent1"/>
              </a:solidFill>
              <a:prstDash val="dot"/>
              <a:bevel/>
              <a:headEnd len="sm" w="sm" type="none"/>
              <a:tailEnd len="sm" w="sm" type="none"/>
            </a:ln>
          </p:spPr>
        </p:cxnSp>
        <p:cxnSp>
          <p:nvCxnSpPr>
            <p:cNvPr id="299" name="Google Shape;299;p10"/>
            <p:cNvCxnSpPr/>
            <p:nvPr/>
          </p:nvCxnSpPr>
          <p:spPr>
            <a:xfrm>
              <a:off x="9870434" y="3637295"/>
              <a:ext cx="0" cy="132322"/>
            </a:xfrm>
            <a:prstGeom prst="straightConnector1">
              <a:avLst/>
            </a:prstGeom>
            <a:noFill/>
            <a:ln cap="rnd" cmpd="sng" w="38100">
              <a:solidFill>
                <a:schemeClr val="accent1"/>
              </a:solidFill>
              <a:prstDash val="dot"/>
              <a:bevel/>
              <a:headEnd len="sm" w="sm" type="none"/>
              <a:tailEnd len="sm" w="sm" type="none"/>
            </a:ln>
          </p:spPr>
        </p:cxnSp>
        <p:cxnSp>
          <p:nvCxnSpPr>
            <p:cNvPr id="300" name="Google Shape;300;p10"/>
            <p:cNvCxnSpPr/>
            <p:nvPr/>
          </p:nvCxnSpPr>
          <p:spPr>
            <a:xfrm>
              <a:off x="8242258" y="4084726"/>
              <a:ext cx="0" cy="132322"/>
            </a:xfrm>
            <a:prstGeom prst="straightConnector1">
              <a:avLst/>
            </a:prstGeom>
            <a:noFill/>
            <a:ln cap="rnd" cmpd="sng" w="38100">
              <a:solidFill>
                <a:schemeClr val="accent1"/>
              </a:solidFill>
              <a:prstDash val="dot"/>
              <a:bevel/>
              <a:headEnd len="sm" w="sm" type="none"/>
              <a:tailEnd len="sm" w="sm" type="none"/>
            </a:ln>
          </p:spPr>
        </p:cxnSp>
        <p:cxnSp>
          <p:nvCxnSpPr>
            <p:cNvPr id="301" name="Google Shape;301;p10"/>
            <p:cNvCxnSpPr/>
            <p:nvPr/>
          </p:nvCxnSpPr>
          <p:spPr>
            <a:xfrm>
              <a:off x="9866741" y="4084726"/>
              <a:ext cx="0" cy="132322"/>
            </a:xfrm>
            <a:prstGeom prst="straightConnector1">
              <a:avLst/>
            </a:prstGeom>
            <a:noFill/>
            <a:ln cap="rnd" cmpd="sng" w="38100">
              <a:solidFill>
                <a:schemeClr val="accent1"/>
              </a:solidFill>
              <a:prstDash val="dot"/>
              <a:bevel/>
              <a:headEnd len="sm" w="sm" type="none"/>
              <a:tailEnd len="sm" w="sm" type="none"/>
            </a:ln>
          </p:spPr>
        </p:cxnSp>
        <p:sp>
          <p:nvSpPr>
            <p:cNvPr id="302" name="Google Shape;302;p10"/>
            <p:cNvSpPr txBox="1"/>
            <p:nvPr/>
          </p:nvSpPr>
          <p:spPr>
            <a:xfrm>
              <a:off x="10347251" y="4491911"/>
              <a:ext cx="670346" cy="2968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23">
                  <a:solidFill>
                    <a:schemeClr val="dk1"/>
                  </a:solidFill>
                  <a:latin typeface="Arial"/>
                  <a:ea typeface="Arial"/>
                  <a:cs typeface="Arial"/>
                  <a:sym typeface="Arial"/>
                </a:rPr>
                <a:t>List 10</a:t>
              </a:r>
              <a:endParaRPr sz="1800">
                <a:solidFill>
                  <a:schemeClr val="dk1"/>
                </a:solidFill>
                <a:latin typeface="Arial"/>
                <a:ea typeface="Arial"/>
                <a:cs typeface="Arial"/>
                <a:sym typeface="Arial"/>
              </a:endParaRPr>
            </a:p>
          </p:txBody>
        </p:sp>
        <p:cxnSp>
          <p:nvCxnSpPr>
            <p:cNvPr id="303" name="Google Shape;303;p10"/>
            <p:cNvCxnSpPr/>
            <p:nvPr/>
          </p:nvCxnSpPr>
          <p:spPr>
            <a:xfrm>
              <a:off x="8242258" y="4528273"/>
              <a:ext cx="0" cy="132322"/>
            </a:xfrm>
            <a:prstGeom prst="straightConnector1">
              <a:avLst/>
            </a:prstGeom>
            <a:noFill/>
            <a:ln cap="rnd" cmpd="sng" w="38100">
              <a:solidFill>
                <a:schemeClr val="accent1"/>
              </a:solidFill>
              <a:prstDash val="dot"/>
              <a:bevel/>
              <a:headEnd len="sm" w="sm" type="none"/>
              <a:tailEnd len="sm" w="sm" type="none"/>
            </a:ln>
          </p:spPr>
        </p:cxnSp>
        <p:cxnSp>
          <p:nvCxnSpPr>
            <p:cNvPr id="304" name="Google Shape;304;p10"/>
            <p:cNvCxnSpPr/>
            <p:nvPr/>
          </p:nvCxnSpPr>
          <p:spPr>
            <a:xfrm>
              <a:off x="9866741" y="4528273"/>
              <a:ext cx="0" cy="132322"/>
            </a:xfrm>
            <a:prstGeom prst="straightConnector1">
              <a:avLst/>
            </a:prstGeom>
            <a:noFill/>
            <a:ln cap="rnd" cmpd="sng" w="38100">
              <a:solidFill>
                <a:schemeClr val="accent1"/>
              </a:solidFill>
              <a:prstDash val="dot"/>
              <a:bevel/>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9" st="9"/>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29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2"/>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28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11"/>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1" name="Google Shape;311;p11"/>
          <p:cNvSpPr txBox="1"/>
          <p:nvPr>
            <p:ph type="title"/>
          </p:nvPr>
        </p:nvSpPr>
        <p:spPr>
          <a:xfrm>
            <a:off x="355442" y="557189"/>
            <a:ext cx="3127091" cy="33137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Play"/>
              <a:buNone/>
            </a:pPr>
            <a:r>
              <a:rPr b="1" lang="en-US" sz="5200"/>
              <a:t>Final Test </a:t>
            </a:r>
            <a:r>
              <a:rPr lang="en-US" sz="5200"/>
              <a:t>Procedure</a:t>
            </a:r>
            <a:endParaRPr/>
          </a:p>
        </p:txBody>
      </p:sp>
      <p:cxnSp>
        <p:nvCxnSpPr>
          <p:cNvPr id="312" name="Google Shape;312;p11"/>
          <p:cNvCxnSpPr/>
          <p:nvPr/>
        </p:nvCxnSpPr>
        <p:spPr>
          <a:xfrm>
            <a:off x="3339547" y="1161090"/>
            <a:ext cx="8445422"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313" name="Google Shape;313;p11"/>
          <p:cNvSpPr/>
          <p:nvPr/>
        </p:nvSpPr>
        <p:spPr>
          <a:xfrm>
            <a:off x="3339547" y="1161090"/>
            <a:ext cx="8445422" cy="1045818"/>
          </a:xfrm>
          <a:custGeom>
            <a:rect b="b" l="l" r="r" t="t"/>
            <a:pathLst>
              <a:path extrusionOk="0" h="1045818" w="8445422">
                <a:moveTo>
                  <a:pt x="0" y="0"/>
                </a:moveTo>
                <a:lnTo>
                  <a:pt x="8445422" y="0"/>
                </a:lnTo>
                <a:lnTo>
                  <a:pt x="8445422" y="1045818"/>
                </a:lnTo>
                <a:lnTo>
                  <a:pt x="0" y="1045818"/>
                </a:lnTo>
                <a:lnTo>
                  <a:pt x="0" y="0"/>
                </a:lnTo>
                <a:close/>
              </a:path>
            </a:pathLst>
          </a:cu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Arial"/>
                <a:ea typeface="Arial"/>
                <a:cs typeface="Arial"/>
                <a:sym typeface="Arial"/>
              </a:rPr>
              <a:t>Instruction Break, followed by final Recognition Test: </a:t>
            </a:r>
            <a:endParaRPr/>
          </a:p>
          <a:p>
            <a:pPr indent="0" lvl="0" marL="0" marR="0" rtl="0" algn="l">
              <a:lnSpc>
                <a:spcPct val="90000"/>
              </a:lnSpc>
              <a:spcBef>
                <a:spcPts val="700"/>
              </a:spcBef>
              <a:spcAft>
                <a:spcPts val="0"/>
              </a:spcAft>
              <a:buClr>
                <a:schemeClr val="dk1"/>
              </a:buClr>
              <a:buSzPts val="2000"/>
              <a:buFont typeface="Arial"/>
              <a:buNone/>
            </a:pPr>
            <a:r>
              <a:rPr lang="en-US" sz="2000">
                <a:solidFill>
                  <a:schemeClr val="dk1"/>
                </a:solidFill>
                <a:latin typeface="Arial"/>
                <a:ea typeface="Arial"/>
                <a:cs typeface="Arial"/>
                <a:sym typeface="Arial"/>
              </a:rPr>
              <a:t>Participants were tested on every kind of pictures encountered in the initial part of the session</a:t>
            </a:r>
            <a:endParaRPr/>
          </a:p>
        </p:txBody>
      </p:sp>
      <p:cxnSp>
        <p:nvCxnSpPr>
          <p:cNvPr id="314" name="Google Shape;314;p11"/>
          <p:cNvCxnSpPr/>
          <p:nvPr/>
        </p:nvCxnSpPr>
        <p:spPr>
          <a:xfrm>
            <a:off x="3339547" y="2206908"/>
            <a:ext cx="8445422" cy="0"/>
          </a:xfrm>
          <a:prstGeom prst="straightConnector1">
            <a:avLst/>
          </a:prstGeom>
          <a:solidFill>
            <a:srgbClr val="2A2CA1"/>
          </a:solidFill>
          <a:ln cap="flat" cmpd="sng" w="19050">
            <a:solidFill>
              <a:srgbClr val="2A2CA1"/>
            </a:solidFill>
            <a:prstDash val="solid"/>
            <a:miter lim="800000"/>
            <a:headEnd len="sm" w="sm" type="none"/>
            <a:tailEnd len="sm" w="sm" type="none"/>
          </a:ln>
        </p:spPr>
      </p:cxnSp>
      <p:sp>
        <p:nvSpPr>
          <p:cNvPr id="315" name="Google Shape;315;p11"/>
          <p:cNvSpPr/>
          <p:nvPr/>
        </p:nvSpPr>
        <p:spPr>
          <a:xfrm>
            <a:off x="3339547" y="2206908"/>
            <a:ext cx="8437174" cy="2377660"/>
          </a:xfrm>
          <a:custGeom>
            <a:rect b="b" l="l" r="r" t="t"/>
            <a:pathLst>
              <a:path extrusionOk="0" h="2377660" w="8437174">
                <a:moveTo>
                  <a:pt x="0" y="0"/>
                </a:moveTo>
                <a:lnTo>
                  <a:pt x="8437174" y="0"/>
                </a:lnTo>
                <a:lnTo>
                  <a:pt x="8437174" y="2377660"/>
                </a:lnTo>
                <a:lnTo>
                  <a:pt x="0" y="2377660"/>
                </a:lnTo>
                <a:lnTo>
                  <a:pt x="0" y="0"/>
                </a:lnTo>
                <a:close/>
              </a:path>
            </a:pathLst>
          </a:cu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Arial"/>
                <a:ea typeface="Arial"/>
                <a:cs typeface="Arial"/>
                <a:sym typeface="Arial"/>
              </a:rPr>
              <a:t>Final </a:t>
            </a:r>
            <a:r>
              <a:rPr b="1" lang="en-US" sz="2000">
                <a:solidFill>
                  <a:srgbClr val="C00000"/>
                </a:solidFill>
                <a:latin typeface="Arial"/>
                <a:ea typeface="Arial"/>
                <a:cs typeface="Arial"/>
                <a:sym typeface="Arial"/>
              </a:rPr>
              <a:t>TARGETS </a:t>
            </a:r>
            <a:r>
              <a:rPr lang="en-US" sz="2000">
                <a:solidFill>
                  <a:schemeClr val="dk1"/>
                </a:solidFill>
                <a:latin typeface="Arial"/>
                <a:ea typeface="Arial"/>
                <a:cs typeface="Arial"/>
                <a:sym typeface="Arial"/>
              </a:rPr>
              <a:t>(3 kinds)</a:t>
            </a:r>
            <a:endParaRPr sz="2000">
              <a:solidFill>
                <a:schemeClr val="dk1"/>
              </a:solidFill>
              <a:latin typeface="Arial"/>
              <a:ea typeface="Arial"/>
              <a:cs typeface="Arial"/>
              <a:sym typeface="Arial"/>
            </a:endParaRPr>
          </a:p>
          <a:p>
            <a:pPr indent="0" lvl="0" marL="0" marR="0" rtl="0" algn="l">
              <a:lnSpc>
                <a:spcPct val="90000"/>
              </a:lnSpc>
              <a:spcBef>
                <a:spcPts val="700"/>
              </a:spcBef>
              <a:spcAft>
                <a:spcPts val="0"/>
              </a:spcAft>
              <a:buClr>
                <a:schemeClr val="dk1"/>
              </a:buClr>
              <a:buSzPts val="2000"/>
              <a:buFont typeface="Arial"/>
              <a:buNone/>
            </a:pPr>
            <a:r>
              <a:rPr lang="en-US" sz="2000">
                <a:solidFill>
                  <a:schemeClr val="dk1"/>
                </a:solidFill>
                <a:latin typeface="Arial"/>
                <a:ea typeface="Arial"/>
                <a:cs typeface="Arial"/>
                <a:sym typeface="Arial"/>
              </a:rPr>
              <a:t>Items </a:t>
            </a:r>
            <a:r>
              <a:rPr b="1" i="1" lang="en-US" sz="2000">
                <a:solidFill>
                  <a:schemeClr val="accent4"/>
                </a:solidFill>
                <a:latin typeface="Arial"/>
                <a:ea typeface="Arial"/>
                <a:cs typeface="Arial"/>
                <a:sym typeface="Arial"/>
              </a:rPr>
              <a:t>studied but not tested </a:t>
            </a:r>
            <a:r>
              <a:rPr lang="en-US" sz="2000">
                <a:solidFill>
                  <a:schemeClr val="dk1"/>
                </a:solidFill>
                <a:latin typeface="Arial"/>
                <a:ea typeface="Arial"/>
                <a:cs typeface="Arial"/>
                <a:sym typeface="Arial"/>
              </a:rPr>
              <a:t>initially (10 per list, 7 selected).</a:t>
            </a:r>
            <a:endParaRPr/>
          </a:p>
          <a:p>
            <a:pPr indent="0" lvl="0" marL="0" marR="0" rtl="0" algn="l">
              <a:lnSpc>
                <a:spcPct val="90000"/>
              </a:lnSpc>
              <a:spcBef>
                <a:spcPts val="700"/>
              </a:spcBef>
              <a:spcAft>
                <a:spcPts val="0"/>
              </a:spcAft>
              <a:buClr>
                <a:schemeClr val="dk1"/>
              </a:buClr>
              <a:buSzPts val="2000"/>
              <a:buFont typeface="Arial"/>
              <a:buNone/>
            </a:pPr>
            <a:r>
              <a:rPr lang="en-US" sz="2000">
                <a:solidFill>
                  <a:schemeClr val="dk1"/>
                </a:solidFill>
                <a:latin typeface="Arial"/>
                <a:ea typeface="Arial"/>
                <a:cs typeface="Arial"/>
                <a:sym typeface="Arial"/>
              </a:rPr>
              <a:t>Items </a:t>
            </a:r>
            <a:r>
              <a:rPr b="1" i="1" lang="en-US" sz="2000">
                <a:solidFill>
                  <a:schemeClr val="accent1"/>
                </a:solidFill>
                <a:latin typeface="Arial"/>
                <a:ea typeface="Arial"/>
                <a:cs typeface="Arial"/>
                <a:sym typeface="Arial"/>
              </a:rPr>
              <a:t>studied and tested </a:t>
            </a:r>
            <a:r>
              <a:rPr lang="en-US" sz="2000">
                <a:solidFill>
                  <a:schemeClr val="dk1"/>
                </a:solidFill>
                <a:latin typeface="Arial"/>
                <a:ea typeface="Arial"/>
                <a:cs typeface="Arial"/>
                <a:sym typeface="Arial"/>
              </a:rPr>
              <a:t>initially as targets (10 per list, 7 selected).</a:t>
            </a:r>
            <a:endParaRPr/>
          </a:p>
          <a:p>
            <a:pPr indent="0" lvl="0" marL="0" marR="0" rtl="0" algn="l">
              <a:lnSpc>
                <a:spcPct val="90000"/>
              </a:lnSpc>
              <a:spcBef>
                <a:spcPts val="700"/>
              </a:spcBef>
              <a:spcAft>
                <a:spcPts val="0"/>
              </a:spcAft>
              <a:buClr>
                <a:schemeClr val="dk1"/>
              </a:buClr>
              <a:buSzPts val="2000"/>
              <a:buFont typeface="Arial"/>
              <a:buNone/>
            </a:pPr>
            <a:r>
              <a:rPr lang="en-US" sz="2000">
                <a:solidFill>
                  <a:schemeClr val="dk1"/>
                </a:solidFill>
                <a:latin typeface="Arial"/>
                <a:ea typeface="Arial"/>
                <a:cs typeface="Arial"/>
                <a:sym typeface="Arial"/>
              </a:rPr>
              <a:t>Items </a:t>
            </a:r>
            <a:r>
              <a:rPr b="1" i="1" lang="en-US" sz="2000">
                <a:solidFill>
                  <a:srgbClr val="FFC000"/>
                </a:solidFill>
                <a:latin typeface="Arial"/>
                <a:ea typeface="Arial"/>
                <a:cs typeface="Arial"/>
                <a:sym typeface="Arial"/>
              </a:rPr>
              <a:t>tested only </a:t>
            </a:r>
            <a:r>
              <a:rPr lang="en-US" sz="2000">
                <a:solidFill>
                  <a:schemeClr val="dk1"/>
                </a:solidFill>
                <a:latin typeface="Arial"/>
                <a:ea typeface="Arial"/>
                <a:cs typeface="Arial"/>
                <a:sym typeface="Arial"/>
              </a:rPr>
              <a:t>initially as foils (10 per list, 7 selected).</a:t>
            </a:r>
            <a:endParaRPr/>
          </a:p>
          <a:p>
            <a:pPr indent="0" lvl="0" marL="0" marR="0" rtl="0" algn="l">
              <a:lnSpc>
                <a:spcPct val="90000"/>
              </a:lnSpc>
              <a:spcBef>
                <a:spcPts val="700"/>
              </a:spcBef>
              <a:spcAft>
                <a:spcPts val="0"/>
              </a:spcAft>
              <a:buClr>
                <a:schemeClr val="dk1"/>
              </a:buClr>
              <a:buSzPts val="2000"/>
              <a:buFont typeface="Arial"/>
              <a:buNone/>
            </a:pPr>
            <a:r>
              <a:rPr b="1" lang="en-US" sz="2000">
                <a:solidFill>
                  <a:schemeClr val="dk1"/>
                </a:solidFill>
                <a:latin typeface="Arial"/>
                <a:ea typeface="Arial"/>
                <a:cs typeface="Arial"/>
                <a:sym typeface="Arial"/>
              </a:rPr>
              <a:t>Total</a:t>
            </a:r>
            <a:r>
              <a:rPr lang="en-US" sz="2000">
                <a:solidFill>
                  <a:schemeClr val="dk1"/>
                </a:solidFill>
                <a:latin typeface="Arial"/>
                <a:ea typeface="Arial"/>
                <a:cs typeface="Arial"/>
                <a:sym typeface="Arial"/>
              </a:rPr>
              <a:t>: 210 final targets (3*7*10).</a:t>
            </a:r>
            <a:endParaRPr/>
          </a:p>
        </p:txBody>
      </p:sp>
      <p:cxnSp>
        <p:nvCxnSpPr>
          <p:cNvPr id="316" name="Google Shape;316;p11"/>
          <p:cNvCxnSpPr/>
          <p:nvPr/>
        </p:nvCxnSpPr>
        <p:spPr>
          <a:xfrm>
            <a:off x="3339547" y="4584569"/>
            <a:ext cx="8445422" cy="0"/>
          </a:xfrm>
          <a:prstGeom prst="straightConnector1">
            <a:avLst/>
          </a:prstGeom>
          <a:solidFill>
            <a:srgbClr val="2BA492"/>
          </a:solidFill>
          <a:ln cap="flat" cmpd="sng" w="19050">
            <a:solidFill>
              <a:srgbClr val="2BA492"/>
            </a:solidFill>
            <a:prstDash val="solid"/>
            <a:miter lim="800000"/>
            <a:headEnd len="sm" w="sm" type="none"/>
            <a:tailEnd len="sm" w="sm" type="none"/>
          </a:ln>
        </p:spPr>
      </p:cxnSp>
      <p:sp>
        <p:nvSpPr>
          <p:cNvPr id="317" name="Google Shape;317;p11"/>
          <p:cNvSpPr/>
          <p:nvPr/>
        </p:nvSpPr>
        <p:spPr>
          <a:xfrm>
            <a:off x="3339547" y="4584569"/>
            <a:ext cx="8445422" cy="958266"/>
          </a:xfrm>
          <a:custGeom>
            <a:rect b="b" l="l" r="r" t="t"/>
            <a:pathLst>
              <a:path extrusionOk="0" h="958266" w="8445422">
                <a:moveTo>
                  <a:pt x="0" y="0"/>
                </a:moveTo>
                <a:lnTo>
                  <a:pt x="8445422" y="0"/>
                </a:lnTo>
                <a:lnTo>
                  <a:pt x="8445422" y="958266"/>
                </a:lnTo>
                <a:lnTo>
                  <a:pt x="0" y="958266"/>
                </a:lnTo>
                <a:lnTo>
                  <a:pt x="0" y="0"/>
                </a:lnTo>
                <a:close/>
              </a:path>
            </a:pathLst>
          </a:cu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Arial"/>
                <a:ea typeface="Arial"/>
                <a:cs typeface="Arial"/>
                <a:sym typeface="Arial"/>
              </a:rPr>
              <a:t>Final </a:t>
            </a:r>
            <a:r>
              <a:rPr b="1" lang="en-US" sz="2000">
                <a:solidFill>
                  <a:srgbClr val="C00000"/>
                </a:solidFill>
                <a:latin typeface="Arial"/>
                <a:ea typeface="Arial"/>
                <a:cs typeface="Arial"/>
                <a:sym typeface="Arial"/>
              </a:rPr>
              <a:t>FOILS</a:t>
            </a:r>
            <a:r>
              <a:rPr b="1"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0" lvl="0" marL="0" marR="0" rtl="0" algn="l">
              <a:lnSpc>
                <a:spcPct val="90000"/>
              </a:lnSpc>
              <a:spcBef>
                <a:spcPts val="700"/>
              </a:spcBef>
              <a:spcAft>
                <a:spcPts val="0"/>
              </a:spcAft>
              <a:buClr>
                <a:schemeClr val="dk1"/>
              </a:buClr>
              <a:buSzPts val="2000"/>
              <a:buFont typeface="Arial"/>
              <a:buNone/>
            </a:pPr>
            <a:r>
              <a:rPr lang="en-US" sz="2000">
                <a:solidFill>
                  <a:schemeClr val="dk1"/>
                </a:solidFill>
                <a:latin typeface="Arial"/>
                <a:ea typeface="Arial"/>
                <a:cs typeface="Arial"/>
                <a:sym typeface="Arial"/>
              </a:rPr>
              <a:t>The 210 final targets were mixed with 210 </a:t>
            </a:r>
            <a:r>
              <a:rPr b="1" i="1" lang="en-US" sz="2000">
                <a:solidFill>
                  <a:schemeClr val="accent6"/>
                </a:solidFill>
                <a:latin typeface="Arial"/>
                <a:ea typeface="Arial"/>
                <a:cs typeface="Arial"/>
                <a:sym typeface="Arial"/>
              </a:rPr>
              <a:t>entirely new </a:t>
            </a:r>
            <a:r>
              <a:rPr lang="en-US" sz="2000">
                <a:solidFill>
                  <a:schemeClr val="dk1"/>
                </a:solidFill>
                <a:latin typeface="Arial"/>
                <a:ea typeface="Arial"/>
                <a:cs typeface="Arial"/>
                <a:sym typeface="Arial"/>
              </a:rPr>
              <a:t>foils.</a:t>
            </a:r>
            <a:endParaRPr/>
          </a:p>
        </p:txBody>
      </p:sp>
      <p:cxnSp>
        <p:nvCxnSpPr>
          <p:cNvPr id="318" name="Google Shape;318;p11"/>
          <p:cNvCxnSpPr/>
          <p:nvPr/>
        </p:nvCxnSpPr>
        <p:spPr>
          <a:xfrm>
            <a:off x="3339547" y="5542835"/>
            <a:ext cx="8445422" cy="0"/>
          </a:xfrm>
          <a:prstGeom prst="straightConnector1">
            <a:avLst/>
          </a:prstGeom>
          <a:solidFill>
            <a:srgbClr val="4CA62C"/>
          </a:solidFill>
          <a:ln cap="flat" cmpd="sng" w="19050">
            <a:solidFill>
              <a:srgbClr val="4CA62C"/>
            </a:solidFill>
            <a:prstDash val="solid"/>
            <a:miter lim="800000"/>
            <a:headEnd len="sm" w="sm" type="none"/>
            <a:tailEnd len="sm" w="sm" type="none"/>
          </a:ln>
        </p:spPr>
      </p:cxnSp>
      <p:sp>
        <p:nvSpPr>
          <p:cNvPr id="319" name="Google Shape;319;p11"/>
          <p:cNvSpPr/>
          <p:nvPr/>
        </p:nvSpPr>
        <p:spPr>
          <a:xfrm>
            <a:off x="3339547" y="5542835"/>
            <a:ext cx="8445422" cy="949203"/>
          </a:xfrm>
          <a:custGeom>
            <a:rect b="b" l="l" r="r" t="t"/>
            <a:pathLst>
              <a:path extrusionOk="0" h="949203" w="8445422">
                <a:moveTo>
                  <a:pt x="0" y="0"/>
                </a:moveTo>
                <a:lnTo>
                  <a:pt x="8445422" y="0"/>
                </a:lnTo>
                <a:lnTo>
                  <a:pt x="8445422" y="949203"/>
                </a:lnTo>
                <a:lnTo>
                  <a:pt x="0" y="949203"/>
                </a:lnTo>
                <a:lnTo>
                  <a:pt x="0" y="0"/>
                </a:lnTo>
                <a:close/>
              </a:path>
            </a:pathLst>
          </a:cu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Participants needed to respond "OLD" for final TARGETS and "NEW" for new FOILS.</a:t>
            </a:r>
            <a:endParaRPr/>
          </a:p>
        </p:txBody>
      </p:sp>
      <p:sp>
        <p:nvSpPr>
          <p:cNvPr id="320" name="Google Shape;320;p11"/>
          <p:cNvSpPr/>
          <p:nvPr/>
        </p:nvSpPr>
        <p:spPr>
          <a:xfrm>
            <a:off x="419564" y="362389"/>
            <a:ext cx="6029183" cy="462096"/>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1" name="Google Shape;321;p11"/>
          <p:cNvSpPr/>
          <p:nvPr/>
        </p:nvSpPr>
        <p:spPr>
          <a:xfrm>
            <a:off x="4351084" y="52647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2" name="Google Shape;322;p11"/>
          <p:cNvSpPr/>
          <p:nvPr/>
        </p:nvSpPr>
        <p:spPr>
          <a:xfrm>
            <a:off x="3987315" y="526478"/>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3" name="Google Shape;323;p11"/>
          <p:cNvSpPr/>
          <p:nvPr/>
        </p:nvSpPr>
        <p:spPr>
          <a:xfrm>
            <a:off x="3623546" y="526478"/>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4" name="Google Shape;324;p11"/>
          <p:cNvSpPr/>
          <p:nvPr/>
        </p:nvSpPr>
        <p:spPr>
          <a:xfrm>
            <a:off x="3259777" y="52647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5" name="Google Shape;325;p11"/>
          <p:cNvSpPr/>
          <p:nvPr/>
        </p:nvSpPr>
        <p:spPr>
          <a:xfrm>
            <a:off x="4714853" y="526478"/>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6" name="Google Shape;326;p11"/>
          <p:cNvCxnSpPr/>
          <p:nvPr/>
        </p:nvCxnSpPr>
        <p:spPr>
          <a:xfrm>
            <a:off x="5157536" y="529542"/>
            <a:ext cx="0" cy="183799"/>
          </a:xfrm>
          <a:prstGeom prst="straightConnector1">
            <a:avLst/>
          </a:prstGeom>
          <a:noFill/>
          <a:ln cap="rnd" cmpd="sng" w="38100">
            <a:solidFill>
              <a:schemeClr val="accent1"/>
            </a:solidFill>
            <a:prstDash val="dot"/>
            <a:bevel/>
            <a:headEnd len="sm" w="sm" type="none"/>
            <a:tailEnd len="sm" w="sm" type="none"/>
          </a:ln>
        </p:spPr>
      </p:cxnSp>
      <p:cxnSp>
        <p:nvCxnSpPr>
          <p:cNvPr id="327" name="Google Shape;327;p11"/>
          <p:cNvCxnSpPr/>
          <p:nvPr/>
        </p:nvCxnSpPr>
        <p:spPr>
          <a:xfrm>
            <a:off x="5531090" y="529685"/>
            <a:ext cx="0" cy="183799"/>
          </a:xfrm>
          <a:prstGeom prst="straightConnector1">
            <a:avLst/>
          </a:prstGeom>
          <a:noFill/>
          <a:ln cap="rnd" cmpd="sng" w="38100">
            <a:solidFill>
              <a:schemeClr val="accent1"/>
            </a:solidFill>
            <a:prstDash val="dot"/>
            <a:bevel/>
            <a:headEnd len="sm" w="sm" type="none"/>
            <a:tailEnd len="sm" w="sm" type="none"/>
          </a:ln>
        </p:spPr>
      </p:cxnSp>
      <p:cxnSp>
        <p:nvCxnSpPr>
          <p:cNvPr id="328" name="Google Shape;328;p11"/>
          <p:cNvCxnSpPr/>
          <p:nvPr/>
        </p:nvCxnSpPr>
        <p:spPr>
          <a:xfrm>
            <a:off x="5016508" y="453325"/>
            <a:ext cx="0" cy="323067"/>
          </a:xfrm>
          <a:prstGeom prst="straightConnector1">
            <a:avLst/>
          </a:prstGeom>
          <a:noFill/>
          <a:ln cap="flat" cmpd="sng" w="19050">
            <a:solidFill>
              <a:schemeClr val="dk1"/>
            </a:solidFill>
            <a:prstDash val="dash"/>
            <a:round/>
            <a:headEnd len="sm" w="sm" type="none"/>
            <a:tailEnd len="sm" w="sm" type="none"/>
          </a:ln>
        </p:spPr>
      </p:cxnSp>
      <p:cxnSp>
        <p:nvCxnSpPr>
          <p:cNvPr id="329" name="Google Shape;329;p11"/>
          <p:cNvCxnSpPr/>
          <p:nvPr/>
        </p:nvCxnSpPr>
        <p:spPr>
          <a:xfrm>
            <a:off x="5852068" y="529542"/>
            <a:ext cx="0" cy="183799"/>
          </a:xfrm>
          <a:prstGeom prst="straightConnector1">
            <a:avLst/>
          </a:prstGeom>
          <a:noFill/>
          <a:ln cap="rnd" cmpd="sng" w="38100">
            <a:solidFill>
              <a:schemeClr val="accent1"/>
            </a:solidFill>
            <a:prstDash val="dot"/>
            <a:bevel/>
            <a:headEnd len="sm" w="sm" type="none"/>
            <a:tailEnd len="sm" w="sm" type="none"/>
          </a:ln>
        </p:spPr>
      </p:cxnSp>
      <p:cxnSp>
        <p:nvCxnSpPr>
          <p:cNvPr id="330" name="Google Shape;330;p11"/>
          <p:cNvCxnSpPr/>
          <p:nvPr/>
        </p:nvCxnSpPr>
        <p:spPr>
          <a:xfrm>
            <a:off x="5348202" y="453325"/>
            <a:ext cx="0" cy="313594"/>
          </a:xfrm>
          <a:prstGeom prst="straightConnector1">
            <a:avLst/>
          </a:prstGeom>
          <a:noFill/>
          <a:ln cap="flat" cmpd="sng" w="19050">
            <a:solidFill>
              <a:schemeClr val="dk1"/>
            </a:solidFill>
            <a:prstDash val="dash"/>
            <a:round/>
            <a:headEnd len="sm" w="sm" type="none"/>
            <a:tailEnd len="sm" w="sm" type="none"/>
          </a:ln>
        </p:spPr>
      </p:cxnSp>
      <p:cxnSp>
        <p:nvCxnSpPr>
          <p:cNvPr id="331" name="Google Shape;331;p11"/>
          <p:cNvCxnSpPr/>
          <p:nvPr/>
        </p:nvCxnSpPr>
        <p:spPr>
          <a:xfrm>
            <a:off x="5730455" y="453325"/>
            <a:ext cx="0" cy="313594"/>
          </a:xfrm>
          <a:prstGeom prst="straightConnector1">
            <a:avLst/>
          </a:prstGeom>
          <a:noFill/>
          <a:ln cap="flat" cmpd="sng" w="19050">
            <a:solidFill>
              <a:schemeClr val="dk1"/>
            </a:solidFill>
            <a:prstDash val="dash"/>
            <a:round/>
            <a:headEnd len="sm" w="sm" type="none"/>
            <a:tailEnd len="sm" w="sm" type="none"/>
          </a:ln>
        </p:spPr>
      </p:cxnSp>
      <p:sp>
        <p:nvSpPr>
          <p:cNvPr id="332" name="Google Shape;332;p11"/>
          <p:cNvSpPr/>
          <p:nvPr/>
        </p:nvSpPr>
        <p:spPr>
          <a:xfrm>
            <a:off x="2518910" y="524094"/>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3" name="Google Shape;333;p11"/>
          <p:cNvSpPr/>
          <p:nvPr/>
        </p:nvSpPr>
        <p:spPr>
          <a:xfrm>
            <a:off x="2893613" y="52409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4" name="Google Shape;334;p11"/>
          <p:cNvSpPr/>
          <p:nvPr/>
        </p:nvSpPr>
        <p:spPr>
          <a:xfrm>
            <a:off x="2148477" y="524093"/>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5" name="Google Shape;335;p11"/>
          <p:cNvSpPr/>
          <p:nvPr/>
        </p:nvSpPr>
        <p:spPr>
          <a:xfrm>
            <a:off x="1765253" y="524092"/>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6" name="Google Shape;336;p11"/>
          <p:cNvSpPr/>
          <p:nvPr/>
        </p:nvSpPr>
        <p:spPr>
          <a:xfrm>
            <a:off x="1408995" y="524093"/>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11"/>
          <p:cNvSpPr/>
          <p:nvPr/>
        </p:nvSpPr>
        <p:spPr>
          <a:xfrm>
            <a:off x="1038562" y="524092"/>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11"/>
          <p:cNvSpPr/>
          <p:nvPr/>
        </p:nvSpPr>
        <p:spPr>
          <a:xfrm>
            <a:off x="655338" y="524091"/>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39" name="Google Shape;339;p11"/>
          <p:cNvGrpSpPr/>
          <p:nvPr/>
        </p:nvGrpSpPr>
        <p:grpSpPr>
          <a:xfrm>
            <a:off x="103629" y="3678076"/>
            <a:ext cx="2929858" cy="2867867"/>
            <a:chOff x="7572651" y="2276229"/>
            <a:chExt cx="3548403" cy="2957729"/>
          </a:xfrm>
        </p:grpSpPr>
        <p:cxnSp>
          <p:nvCxnSpPr>
            <p:cNvPr id="340" name="Google Shape;340;p11"/>
            <p:cNvCxnSpPr/>
            <p:nvPr/>
          </p:nvCxnSpPr>
          <p:spPr>
            <a:xfrm>
              <a:off x="9062037" y="2476819"/>
              <a:ext cx="0" cy="2455996"/>
            </a:xfrm>
            <a:prstGeom prst="straightConnector1">
              <a:avLst/>
            </a:prstGeom>
            <a:noFill/>
            <a:ln cap="flat" cmpd="sng" w="19050">
              <a:solidFill>
                <a:schemeClr val="accent1"/>
              </a:solidFill>
              <a:prstDash val="dash"/>
              <a:round/>
              <a:headEnd len="sm" w="sm" type="none"/>
              <a:tailEnd len="sm" w="sm" type="none"/>
            </a:ln>
          </p:spPr>
        </p:cxnSp>
        <p:grpSp>
          <p:nvGrpSpPr>
            <p:cNvPr id="341" name="Google Shape;341;p11"/>
            <p:cNvGrpSpPr/>
            <p:nvPr/>
          </p:nvGrpSpPr>
          <p:grpSpPr>
            <a:xfrm>
              <a:off x="7728357" y="2554720"/>
              <a:ext cx="1057958" cy="129245"/>
              <a:chOff x="7728357" y="2554720"/>
              <a:chExt cx="1057958" cy="129245"/>
            </a:xfrm>
          </p:grpSpPr>
          <p:sp>
            <p:nvSpPr>
              <p:cNvPr id="342" name="Google Shape;342;p11"/>
              <p:cNvSpPr/>
              <p:nvPr/>
            </p:nvSpPr>
            <p:spPr>
              <a:xfrm>
                <a:off x="8605373"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3" name="Google Shape;343;p11"/>
              <p:cNvSpPr/>
              <p:nvPr/>
            </p:nvSpPr>
            <p:spPr>
              <a:xfrm>
                <a:off x="8313034"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4" name="Google Shape;344;p11"/>
              <p:cNvSpPr/>
              <p:nvPr/>
            </p:nvSpPr>
            <p:spPr>
              <a:xfrm>
                <a:off x="8020696"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5" name="Google Shape;345;p11"/>
              <p:cNvSpPr/>
              <p:nvPr/>
            </p:nvSpPr>
            <p:spPr>
              <a:xfrm>
                <a:off x="7728357" y="2554720"/>
                <a:ext cx="180942" cy="129245"/>
              </a:xfrm>
              <a:prstGeom prst="rect">
                <a:avLst/>
              </a:prstGeom>
              <a:solidFill>
                <a:srgbClr val="43AFE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6" name="Google Shape;346;p11"/>
              <p:cNvSpPr/>
              <p:nvPr/>
            </p:nvSpPr>
            <p:spPr>
              <a:xfrm>
                <a:off x="8313034" y="2554720"/>
                <a:ext cx="180942" cy="12924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 name="Google Shape;347;p11"/>
              <p:cNvSpPr/>
              <p:nvPr/>
            </p:nvSpPr>
            <p:spPr>
              <a:xfrm>
                <a:off x="8605373" y="2554720"/>
                <a:ext cx="180942" cy="129245"/>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48" name="Google Shape;348;p11"/>
            <p:cNvSpPr/>
            <p:nvPr/>
          </p:nvSpPr>
          <p:spPr>
            <a:xfrm>
              <a:off x="9577480" y="2556708"/>
              <a:ext cx="180942" cy="12924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9" name="Google Shape;349;p11"/>
            <p:cNvSpPr/>
            <p:nvPr/>
          </p:nvSpPr>
          <p:spPr>
            <a:xfrm>
              <a:off x="10162157" y="2556708"/>
              <a:ext cx="180942" cy="12924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0" name="Google Shape;350;p11"/>
            <p:cNvSpPr/>
            <p:nvPr/>
          </p:nvSpPr>
          <p:spPr>
            <a:xfrm>
              <a:off x="9875276" y="2554718"/>
              <a:ext cx="180942" cy="12924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11"/>
            <p:cNvSpPr/>
            <p:nvPr/>
          </p:nvSpPr>
          <p:spPr>
            <a:xfrm>
              <a:off x="9273916" y="2554719"/>
              <a:ext cx="180942" cy="12924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 name="Google Shape;352;p11"/>
            <p:cNvSpPr/>
            <p:nvPr/>
          </p:nvSpPr>
          <p:spPr>
            <a:xfrm>
              <a:off x="7572651" y="2276229"/>
              <a:ext cx="3548403" cy="2957729"/>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11"/>
            <p:cNvSpPr txBox="1"/>
            <p:nvPr/>
          </p:nvSpPr>
          <p:spPr>
            <a:xfrm>
              <a:off x="10476637" y="2484337"/>
              <a:ext cx="571152" cy="2968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23">
                  <a:solidFill>
                    <a:schemeClr val="dk1"/>
                  </a:solidFill>
                  <a:latin typeface="Arial"/>
                  <a:ea typeface="Arial"/>
                  <a:cs typeface="Arial"/>
                  <a:sym typeface="Arial"/>
                </a:rPr>
                <a:t>List 1</a:t>
              </a:r>
              <a:endParaRPr sz="1800">
                <a:solidFill>
                  <a:schemeClr val="dk1"/>
                </a:solidFill>
                <a:latin typeface="Arial"/>
                <a:ea typeface="Arial"/>
                <a:cs typeface="Arial"/>
                <a:sym typeface="Arial"/>
              </a:endParaRPr>
            </a:p>
          </p:txBody>
        </p:sp>
        <p:grpSp>
          <p:nvGrpSpPr>
            <p:cNvPr id="354" name="Google Shape;354;p11"/>
            <p:cNvGrpSpPr/>
            <p:nvPr/>
          </p:nvGrpSpPr>
          <p:grpSpPr>
            <a:xfrm>
              <a:off x="8242258" y="3141858"/>
              <a:ext cx="2775339" cy="1646862"/>
              <a:chOff x="8242258" y="3141858"/>
              <a:chExt cx="2775339" cy="1646862"/>
            </a:xfrm>
          </p:grpSpPr>
          <p:cxnSp>
            <p:nvCxnSpPr>
              <p:cNvPr id="355" name="Google Shape;355;p11"/>
              <p:cNvCxnSpPr/>
              <p:nvPr/>
            </p:nvCxnSpPr>
            <p:spPr>
              <a:xfrm>
                <a:off x="8242258" y="3141858"/>
                <a:ext cx="0" cy="147708"/>
              </a:xfrm>
              <a:prstGeom prst="straightConnector1">
                <a:avLst/>
              </a:prstGeom>
              <a:noFill/>
              <a:ln cap="rnd" cmpd="sng" w="38100">
                <a:solidFill>
                  <a:schemeClr val="accent1"/>
                </a:solidFill>
                <a:prstDash val="dot"/>
                <a:bevel/>
                <a:headEnd len="sm" w="sm" type="none"/>
                <a:tailEnd len="sm" w="sm" type="none"/>
              </a:ln>
            </p:spPr>
          </p:cxnSp>
          <p:cxnSp>
            <p:nvCxnSpPr>
              <p:cNvPr id="356" name="Google Shape;356;p11"/>
              <p:cNvCxnSpPr/>
              <p:nvPr/>
            </p:nvCxnSpPr>
            <p:spPr>
              <a:xfrm>
                <a:off x="8242258" y="3637295"/>
                <a:ext cx="0" cy="132322"/>
              </a:xfrm>
              <a:prstGeom prst="straightConnector1">
                <a:avLst/>
              </a:prstGeom>
              <a:noFill/>
              <a:ln cap="rnd" cmpd="sng" w="38100">
                <a:solidFill>
                  <a:schemeClr val="accent1"/>
                </a:solidFill>
                <a:prstDash val="dot"/>
                <a:bevel/>
                <a:headEnd len="sm" w="sm" type="none"/>
                <a:tailEnd len="sm" w="sm" type="none"/>
              </a:ln>
            </p:spPr>
          </p:cxnSp>
          <p:cxnSp>
            <p:nvCxnSpPr>
              <p:cNvPr id="357" name="Google Shape;357;p11"/>
              <p:cNvCxnSpPr/>
              <p:nvPr/>
            </p:nvCxnSpPr>
            <p:spPr>
              <a:xfrm>
                <a:off x="9870434" y="3141858"/>
                <a:ext cx="0" cy="147708"/>
              </a:xfrm>
              <a:prstGeom prst="straightConnector1">
                <a:avLst/>
              </a:prstGeom>
              <a:noFill/>
              <a:ln cap="rnd" cmpd="sng" w="38100">
                <a:solidFill>
                  <a:schemeClr val="accent1"/>
                </a:solidFill>
                <a:prstDash val="dot"/>
                <a:bevel/>
                <a:headEnd len="sm" w="sm" type="none"/>
                <a:tailEnd len="sm" w="sm" type="none"/>
              </a:ln>
            </p:spPr>
          </p:cxnSp>
          <p:cxnSp>
            <p:nvCxnSpPr>
              <p:cNvPr id="358" name="Google Shape;358;p11"/>
              <p:cNvCxnSpPr/>
              <p:nvPr/>
            </p:nvCxnSpPr>
            <p:spPr>
              <a:xfrm>
                <a:off x="9870434" y="3637295"/>
                <a:ext cx="0" cy="132322"/>
              </a:xfrm>
              <a:prstGeom prst="straightConnector1">
                <a:avLst/>
              </a:prstGeom>
              <a:noFill/>
              <a:ln cap="rnd" cmpd="sng" w="38100">
                <a:solidFill>
                  <a:schemeClr val="accent1"/>
                </a:solidFill>
                <a:prstDash val="dot"/>
                <a:bevel/>
                <a:headEnd len="sm" w="sm" type="none"/>
                <a:tailEnd len="sm" w="sm" type="none"/>
              </a:ln>
            </p:spPr>
          </p:cxnSp>
          <p:cxnSp>
            <p:nvCxnSpPr>
              <p:cNvPr id="359" name="Google Shape;359;p11"/>
              <p:cNvCxnSpPr/>
              <p:nvPr/>
            </p:nvCxnSpPr>
            <p:spPr>
              <a:xfrm>
                <a:off x="8242258" y="4084726"/>
                <a:ext cx="0" cy="132322"/>
              </a:xfrm>
              <a:prstGeom prst="straightConnector1">
                <a:avLst/>
              </a:prstGeom>
              <a:noFill/>
              <a:ln cap="rnd" cmpd="sng" w="38100">
                <a:solidFill>
                  <a:schemeClr val="accent1"/>
                </a:solidFill>
                <a:prstDash val="dot"/>
                <a:bevel/>
                <a:headEnd len="sm" w="sm" type="none"/>
                <a:tailEnd len="sm" w="sm" type="none"/>
              </a:ln>
            </p:spPr>
          </p:cxnSp>
          <p:cxnSp>
            <p:nvCxnSpPr>
              <p:cNvPr id="360" name="Google Shape;360;p11"/>
              <p:cNvCxnSpPr/>
              <p:nvPr/>
            </p:nvCxnSpPr>
            <p:spPr>
              <a:xfrm>
                <a:off x="9866741" y="4084726"/>
                <a:ext cx="0" cy="132322"/>
              </a:xfrm>
              <a:prstGeom prst="straightConnector1">
                <a:avLst/>
              </a:prstGeom>
              <a:noFill/>
              <a:ln cap="rnd" cmpd="sng" w="38100">
                <a:solidFill>
                  <a:schemeClr val="accent1"/>
                </a:solidFill>
                <a:prstDash val="dot"/>
                <a:bevel/>
                <a:headEnd len="sm" w="sm" type="none"/>
                <a:tailEnd len="sm" w="sm" type="none"/>
              </a:ln>
            </p:spPr>
          </p:cxnSp>
          <p:sp>
            <p:nvSpPr>
              <p:cNvPr id="361" name="Google Shape;361;p11"/>
              <p:cNvSpPr txBox="1"/>
              <p:nvPr/>
            </p:nvSpPr>
            <p:spPr>
              <a:xfrm>
                <a:off x="10347251" y="4491911"/>
                <a:ext cx="670346" cy="2968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23">
                    <a:solidFill>
                      <a:schemeClr val="dk1"/>
                    </a:solidFill>
                    <a:latin typeface="Arial"/>
                    <a:ea typeface="Arial"/>
                    <a:cs typeface="Arial"/>
                    <a:sym typeface="Arial"/>
                  </a:rPr>
                  <a:t>List 10</a:t>
                </a:r>
                <a:endParaRPr sz="1800">
                  <a:solidFill>
                    <a:schemeClr val="dk1"/>
                  </a:solidFill>
                  <a:latin typeface="Arial"/>
                  <a:ea typeface="Arial"/>
                  <a:cs typeface="Arial"/>
                  <a:sym typeface="Arial"/>
                </a:endParaRPr>
              </a:p>
            </p:txBody>
          </p:sp>
          <p:cxnSp>
            <p:nvCxnSpPr>
              <p:cNvPr id="362" name="Google Shape;362;p11"/>
              <p:cNvCxnSpPr/>
              <p:nvPr/>
            </p:nvCxnSpPr>
            <p:spPr>
              <a:xfrm>
                <a:off x="8242258" y="4528273"/>
                <a:ext cx="0" cy="132322"/>
              </a:xfrm>
              <a:prstGeom prst="straightConnector1">
                <a:avLst/>
              </a:prstGeom>
              <a:noFill/>
              <a:ln cap="rnd" cmpd="sng" w="38100">
                <a:solidFill>
                  <a:schemeClr val="accent1"/>
                </a:solidFill>
                <a:prstDash val="dot"/>
                <a:bevel/>
                <a:headEnd len="sm" w="sm" type="none"/>
                <a:tailEnd len="sm" w="sm" type="none"/>
              </a:ln>
            </p:spPr>
          </p:cxnSp>
          <p:cxnSp>
            <p:nvCxnSpPr>
              <p:cNvPr id="363" name="Google Shape;363;p11"/>
              <p:cNvCxnSpPr/>
              <p:nvPr/>
            </p:nvCxnSpPr>
            <p:spPr>
              <a:xfrm>
                <a:off x="9866741" y="4528273"/>
                <a:ext cx="0" cy="132322"/>
              </a:xfrm>
              <a:prstGeom prst="straightConnector1">
                <a:avLst/>
              </a:prstGeom>
              <a:noFill/>
              <a:ln cap="rnd" cmpd="sng" w="38100">
                <a:solidFill>
                  <a:schemeClr val="accent1"/>
                </a:solidFill>
                <a:prstDash val="dot"/>
                <a:bevel/>
                <a:headEnd len="sm" w="sm" type="none"/>
                <a:tailEnd len="sm" w="sm"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par>
                                <p:cTn fill="hold" nodeType="with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2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6"/>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2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2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3"/>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2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2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3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2"/>
          <p:cNvSpPr txBox="1"/>
          <p:nvPr>
            <p:ph type="title"/>
          </p:nvPr>
        </p:nvSpPr>
        <p:spPr>
          <a:xfrm>
            <a:off x="244446" y="-333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Final Testing Groups</a:t>
            </a:r>
            <a:endParaRPr/>
          </a:p>
        </p:txBody>
      </p:sp>
      <p:sp>
        <p:nvSpPr>
          <p:cNvPr id="370" name="Google Shape;370;p12"/>
          <p:cNvSpPr txBox="1"/>
          <p:nvPr>
            <p:ph idx="1" type="body"/>
          </p:nvPr>
        </p:nvSpPr>
        <p:spPr>
          <a:xfrm>
            <a:off x="130632" y="1979090"/>
            <a:ext cx="6196879" cy="3931076"/>
          </a:xfrm>
          <a:prstGeom prst="rect">
            <a:avLst/>
          </a:prstGeom>
          <a:noFill/>
          <a:ln>
            <a:noFill/>
          </a:ln>
        </p:spPr>
        <p:txBody>
          <a:bodyPr anchorCtr="0" anchor="ctr"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000"/>
              <a:buFont typeface="Arial"/>
              <a:buChar char="•"/>
            </a:pPr>
            <a:r>
              <a:rPr b="1" lang="en-US" sz="2000"/>
              <a:t>Random Group</a:t>
            </a:r>
            <a:r>
              <a:rPr lang="en-US" sz="2000"/>
              <a:t>: Final targets and foils were randomly mixed across lists.</a:t>
            </a:r>
            <a:endParaRPr/>
          </a:p>
          <a:p>
            <a:pPr indent="-228600" lvl="0" marL="228600" rtl="0" algn="l">
              <a:lnSpc>
                <a:spcPct val="90000"/>
              </a:lnSpc>
              <a:spcBef>
                <a:spcPts val="1000"/>
              </a:spcBef>
              <a:spcAft>
                <a:spcPts val="0"/>
              </a:spcAft>
              <a:buClr>
                <a:schemeClr val="dk1"/>
              </a:buClr>
              <a:buSzPts val="2000"/>
              <a:buFont typeface="Arial"/>
              <a:buChar char="•"/>
            </a:pPr>
            <a:r>
              <a:rPr b="1" lang="en-US" sz="2000"/>
              <a:t>Forward Group</a:t>
            </a:r>
            <a:r>
              <a:rPr lang="en-US" sz="2000"/>
              <a:t>:</a:t>
            </a:r>
            <a:endParaRPr/>
          </a:p>
          <a:p>
            <a:pPr indent="-285750" lvl="1" marL="742950" rtl="0" algn="l">
              <a:lnSpc>
                <a:spcPct val="90000"/>
              </a:lnSpc>
              <a:spcBef>
                <a:spcPts val="500"/>
              </a:spcBef>
              <a:spcAft>
                <a:spcPts val="0"/>
              </a:spcAft>
              <a:buClr>
                <a:srgbClr val="0070C0"/>
              </a:buClr>
              <a:buSzPts val="2000"/>
              <a:buFont typeface="Arial"/>
              <a:buChar char="•"/>
            </a:pPr>
            <a:r>
              <a:rPr lang="en-US" sz="2000">
                <a:solidFill>
                  <a:srgbClr val="0070C0"/>
                </a:solidFill>
              </a:rPr>
              <a:t>Testing began with targets from the first list </a:t>
            </a:r>
            <a:r>
              <a:rPr lang="en-US" sz="2000"/>
              <a:t>studied.</a:t>
            </a:r>
            <a:endParaRPr/>
          </a:p>
          <a:p>
            <a:pPr indent="-285750" lvl="1" marL="742950" rtl="0" algn="l">
              <a:lnSpc>
                <a:spcPct val="90000"/>
              </a:lnSpc>
              <a:spcBef>
                <a:spcPts val="500"/>
              </a:spcBef>
              <a:spcAft>
                <a:spcPts val="0"/>
              </a:spcAft>
              <a:buClr>
                <a:srgbClr val="0070C0"/>
              </a:buClr>
              <a:buSzPts val="2000"/>
              <a:buFont typeface="Arial"/>
              <a:buChar char="•"/>
            </a:pPr>
            <a:r>
              <a:rPr lang="en-US" sz="2000">
                <a:solidFill>
                  <a:srgbClr val="0070C0"/>
                </a:solidFill>
              </a:rPr>
              <a:t>Proceeded with the next initial list </a:t>
            </a:r>
            <a:r>
              <a:rPr lang="en-US" sz="2000"/>
              <a:t>until all pictures were tested.</a:t>
            </a:r>
            <a:endParaRPr/>
          </a:p>
          <a:p>
            <a:pPr indent="-228600" lvl="0" marL="228600" rtl="0" algn="l">
              <a:lnSpc>
                <a:spcPct val="90000"/>
              </a:lnSpc>
              <a:spcBef>
                <a:spcPts val="1000"/>
              </a:spcBef>
              <a:spcAft>
                <a:spcPts val="0"/>
              </a:spcAft>
              <a:buClr>
                <a:schemeClr val="dk1"/>
              </a:buClr>
              <a:buSzPts val="2000"/>
              <a:buFont typeface="Arial"/>
              <a:buChar char="•"/>
            </a:pPr>
            <a:r>
              <a:rPr b="1" lang="en-US" sz="2000"/>
              <a:t>Backward Group</a:t>
            </a:r>
            <a:r>
              <a:rPr lang="en-US" sz="2000"/>
              <a:t>:</a:t>
            </a:r>
            <a:endParaRPr/>
          </a:p>
          <a:p>
            <a:pPr indent="-285750" lvl="1" marL="742950" rtl="0" algn="l">
              <a:lnSpc>
                <a:spcPct val="90000"/>
              </a:lnSpc>
              <a:spcBef>
                <a:spcPts val="500"/>
              </a:spcBef>
              <a:spcAft>
                <a:spcPts val="0"/>
              </a:spcAft>
              <a:buClr>
                <a:srgbClr val="0070C0"/>
              </a:buClr>
              <a:buSzPts val="2000"/>
              <a:buFont typeface="Arial"/>
              <a:buChar char="•"/>
            </a:pPr>
            <a:r>
              <a:rPr lang="en-US" sz="2000">
                <a:solidFill>
                  <a:srgbClr val="0070C0"/>
                </a:solidFill>
              </a:rPr>
              <a:t>Testing began with targets from the last list</a:t>
            </a:r>
            <a:r>
              <a:rPr lang="en-US" sz="2000"/>
              <a:t> studied.</a:t>
            </a:r>
            <a:endParaRPr/>
          </a:p>
          <a:p>
            <a:pPr indent="-285750" lvl="1" marL="742950" rtl="0" algn="l">
              <a:lnSpc>
                <a:spcPct val="90000"/>
              </a:lnSpc>
              <a:spcBef>
                <a:spcPts val="500"/>
              </a:spcBef>
              <a:spcAft>
                <a:spcPts val="0"/>
              </a:spcAft>
              <a:buClr>
                <a:srgbClr val="0070C0"/>
              </a:buClr>
              <a:buSzPts val="2000"/>
              <a:buFont typeface="Arial"/>
              <a:buChar char="•"/>
            </a:pPr>
            <a:r>
              <a:rPr lang="en-US" sz="2000">
                <a:solidFill>
                  <a:srgbClr val="0070C0"/>
                </a:solidFill>
              </a:rPr>
              <a:t>Proceeded with the next-to-last initial list </a:t>
            </a:r>
            <a:r>
              <a:rPr lang="en-US" sz="2000"/>
              <a:t>until all pictures were tested.</a:t>
            </a:r>
            <a:endParaRPr/>
          </a:p>
        </p:txBody>
      </p:sp>
      <p:grpSp>
        <p:nvGrpSpPr>
          <p:cNvPr id="371" name="Google Shape;371;p12"/>
          <p:cNvGrpSpPr/>
          <p:nvPr/>
        </p:nvGrpSpPr>
        <p:grpSpPr>
          <a:xfrm>
            <a:off x="6311792" y="1975389"/>
            <a:ext cx="5680820" cy="4751863"/>
            <a:chOff x="6352180" y="545732"/>
            <a:chExt cx="5680820" cy="4751863"/>
          </a:xfrm>
        </p:grpSpPr>
        <p:sp>
          <p:nvSpPr>
            <p:cNvPr id="372" name="Google Shape;372;p12"/>
            <p:cNvSpPr/>
            <p:nvPr/>
          </p:nvSpPr>
          <p:spPr>
            <a:xfrm>
              <a:off x="6352180" y="1811935"/>
              <a:ext cx="5661991" cy="1108056"/>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Forward group</a:t>
              </a:r>
              <a:endParaRPr/>
            </a:p>
          </p:txBody>
        </p:sp>
        <p:sp>
          <p:nvSpPr>
            <p:cNvPr id="373" name="Google Shape;373;p12"/>
            <p:cNvSpPr/>
            <p:nvPr/>
          </p:nvSpPr>
          <p:spPr>
            <a:xfrm>
              <a:off x="6352180" y="3217011"/>
              <a:ext cx="5661991" cy="1100105"/>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Backward group</a:t>
              </a:r>
              <a:endParaRPr/>
            </a:p>
          </p:txBody>
        </p:sp>
        <p:sp>
          <p:nvSpPr>
            <p:cNvPr id="374" name="Google Shape;374;p12"/>
            <p:cNvSpPr/>
            <p:nvPr/>
          </p:nvSpPr>
          <p:spPr>
            <a:xfrm>
              <a:off x="6371009" y="545732"/>
              <a:ext cx="5661991" cy="1108056"/>
            </a:xfrm>
            <a:prstGeom prst="roundRect">
              <a:avLst>
                <a:gd fmla="val 16667" name="adj"/>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Random group</a:t>
              </a:r>
              <a:endParaRPr/>
            </a:p>
          </p:txBody>
        </p:sp>
        <p:grpSp>
          <p:nvGrpSpPr>
            <p:cNvPr id="375" name="Google Shape;375;p12"/>
            <p:cNvGrpSpPr/>
            <p:nvPr/>
          </p:nvGrpSpPr>
          <p:grpSpPr>
            <a:xfrm>
              <a:off x="9166432" y="1253119"/>
              <a:ext cx="2644866" cy="4044476"/>
              <a:chOff x="6535737" y="-1136350"/>
              <a:chExt cx="2644865" cy="4044476"/>
            </a:xfrm>
          </p:grpSpPr>
          <p:sp>
            <p:nvSpPr>
              <p:cNvPr id="376" name="Google Shape;376;p12"/>
              <p:cNvSpPr/>
              <p:nvPr/>
            </p:nvSpPr>
            <p:spPr>
              <a:xfrm>
                <a:off x="7627044" y="-1136350"/>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12"/>
              <p:cNvSpPr/>
              <p:nvPr/>
            </p:nvSpPr>
            <p:spPr>
              <a:xfrm>
                <a:off x="7263275" y="-1136350"/>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12"/>
              <p:cNvSpPr/>
              <p:nvPr/>
            </p:nvSpPr>
            <p:spPr>
              <a:xfrm>
                <a:off x="6899506" y="-1136350"/>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12"/>
              <p:cNvSpPr/>
              <p:nvPr/>
            </p:nvSpPr>
            <p:spPr>
              <a:xfrm>
                <a:off x="6535737" y="-1136350"/>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12"/>
              <p:cNvSpPr/>
              <p:nvPr/>
            </p:nvSpPr>
            <p:spPr>
              <a:xfrm>
                <a:off x="7990813" y="-1136350"/>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81" name="Google Shape;381;p12"/>
              <p:cNvCxnSpPr/>
              <p:nvPr/>
            </p:nvCxnSpPr>
            <p:spPr>
              <a:xfrm>
                <a:off x="8433496" y="-1133286"/>
                <a:ext cx="0" cy="183799"/>
              </a:xfrm>
              <a:prstGeom prst="straightConnector1">
                <a:avLst/>
              </a:prstGeom>
              <a:noFill/>
              <a:ln cap="rnd" cmpd="sng" w="38100">
                <a:solidFill>
                  <a:schemeClr val="accent1"/>
                </a:solidFill>
                <a:prstDash val="dot"/>
                <a:bevel/>
                <a:headEnd len="sm" w="sm" type="none"/>
                <a:tailEnd len="sm" w="sm" type="none"/>
              </a:ln>
            </p:spPr>
          </p:cxnSp>
          <p:cxnSp>
            <p:nvCxnSpPr>
              <p:cNvPr id="382" name="Google Shape;382;p12"/>
              <p:cNvCxnSpPr/>
              <p:nvPr/>
            </p:nvCxnSpPr>
            <p:spPr>
              <a:xfrm>
                <a:off x="8807050" y="-1133143"/>
                <a:ext cx="0" cy="183799"/>
              </a:xfrm>
              <a:prstGeom prst="straightConnector1">
                <a:avLst/>
              </a:prstGeom>
              <a:noFill/>
              <a:ln cap="rnd" cmpd="sng" w="38100">
                <a:solidFill>
                  <a:schemeClr val="accent1"/>
                </a:solidFill>
                <a:prstDash val="dot"/>
                <a:bevel/>
                <a:headEnd len="sm" w="sm" type="none"/>
                <a:tailEnd len="sm" w="sm" type="none"/>
              </a:ln>
            </p:spPr>
          </p:cxnSp>
          <p:cxnSp>
            <p:nvCxnSpPr>
              <p:cNvPr id="383" name="Google Shape;383;p12"/>
              <p:cNvCxnSpPr/>
              <p:nvPr/>
            </p:nvCxnSpPr>
            <p:spPr>
              <a:xfrm>
                <a:off x="9088703" y="-1142641"/>
                <a:ext cx="0" cy="183799"/>
              </a:xfrm>
              <a:prstGeom prst="straightConnector1">
                <a:avLst/>
              </a:prstGeom>
              <a:noFill/>
              <a:ln cap="rnd" cmpd="sng" w="38100">
                <a:solidFill>
                  <a:schemeClr val="accent1"/>
                </a:solidFill>
                <a:prstDash val="dot"/>
                <a:bevel/>
                <a:headEnd len="sm" w="sm" type="none"/>
                <a:tailEnd len="sm" w="sm" type="none"/>
              </a:ln>
            </p:spPr>
          </p:cxnSp>
          <p:sp>
            <p:nvSpPr>
              <p:cNvPr id="384" name="Google Shape;384;p12"/>
              <p:cNvSpPr txBox="1"/>
              <p:nvPr/>
            </p:nvSpPr>
            <p:spPr>
              <a:xfrm>
                <a:off x="6994658" y="2538794"/>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385" name="Google Shape;385;p12"/>
            <p:cNvGrpSpPr/>
            <p:nvPr/>
          </p:nvGrpSpPr>
          <p:grpSpPr>
            <a:xfrm>
              <a:off x="7808268" y="2196073"/>
              <a:ext cx="4068316" cy="675825"/>
              <a:chOff x="5752132" y="3037933"/>
              <a:chExt cx="4068315" cy="675825"/>
            </a:xfrm>
          </p:grpSpPr>
          <p:grpSp>
            <p:nvGrpSpPr>
              <p:cNvPr id="386" name="Google Shape;386;p12"/>
              <p:cNvGrpSpPr/>
              <p:nvPr/>
            </p:nvGrpSpPr>
            <p:grpSpPr>
              <a:xfrm>
                <a:off x="5752132" y="3037933"/>
                <a:ext cx="3954471" cy="586736"/>
                <a:chOff x="5187185" y="2538794"/>
                <a:chExt cx="3954471" cy="586736"/>
              </a:xfrm>
            </p:grpSpPr>
            <p:sp>
              <p:nvSpPr>
                <p:cNvPr id="387" name="Google Shape;387;p12"/>
                <p:cNvSpPr/>
                <p:nvPr/>
              </p:nvSpPr>
              <p:spPr>
                <a:xfrm>
                  <a:off x="7662617"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8" name="Google Shape;388;p12"/>
                <p:cNvSpPr/>
                <p:nvPr/>
              </p:nvSpPr>
              <p:spPr>
                <a:xfrm>
                  <a:off x="7298848" y="296470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9" name="Google Shape;389;p12"/>
                <p:cNvSpPr/>
                <p:nvPr/>
              </p:nvSpPr>
              <p:spPr>
                <a:xfrm>
                  <a:off x="6935079" y="2964705"/>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0" name="Google Shape;390;p12"/>
                <p:cNvSpPr/>
                <p:nvPr/>
              </p:nvSpPr>
              <p:spPr>
                <a:xfrm>
                  <a:off x="6571310"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1" name="Google Shape;391;p12"/>
                <p:cNvSpPr/>
                <p:nvPr/>
              </p:nvSpPr>
              <p:spPr>
                <a:xfrm>
                  <a:off x="8026386" y="296470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92" name="Google Shape;392;p12"/>
                <p:cNvCxnSpPr/>
                <p:nvPr/>
              </p:nvCxnSpPr>
              <p:spPr>
                <a:xfrm>
                  <a:off x="8469069" y="2967769"/>
                  <a:ext cx="0" cy="183799"/>
                </a:xfrm>
                <a:prstGeom prst="straightConnector1">
                  <a:avLst/>
                </a:prstGeom>
                <a:noFill/>
                <a:ln cap="rnd" cmpd="sng" w="38100">
                  <a:solidFill>
                    <a:schemeClr val="accent1"/>
                  </a:solidFill>
                  <a:prstDash val="dot"/>
                  <a:bevel/>
                  <a:headEnd len="sm" w="sm" type="none"/>
                  <a:tailEnd len="sm" w="sm" type="none"/>
                </a:ln>
              </p:spPr>
            </p:cxnSp>
            <p:cxnSp>
              <p:nvCxnSpPr>
                <p:cNvPr id="393" name="Google Shape;393;p12"/>
                <p:cNvCxnSpPr/>
                <p:nvPr/>
              </p:nvCxnSpPr>
              <p:spPr>
                <a:xfrm>
                  <a:off x="8842623" y="2967912"/>
                  <a:ext cx="0" cy="183799"/>
                </a:xfrm>
                <a:prstGeom prst="straightConnector1">
                  <a:avLst/>
                </a:prstGeom>
                <a:noFill/>
                <a:ln cap="rnd" cmpd="sng" w="38100">
                  <a:solidFill>
                    <a:schemeClr val="accent1"/>
                  </a:solidFill>
                  <a:prstDash val="dot"/>
                  <a:bevel/>
                  <a:headEnd len="sm" w="sm" type="none"/>
                  <a:tailEnd len="sm" w="sm" type="none"/>
                </a:ln>
              </p:spPr>
            </p:cxnSp>
            <p:sp>
              <p:nvSpPr>
                <p:cNvPr id="394" name="Google Shape;394;p12"/>
                <p:cNvSpPr txBox="1"/>
                <p:nvPr/>
              </p:nvSpPr>
              <p:spPr>
                <a:xfrm>
                  <a:off x="5187185" y="2538794"/>
                  <a:ext cx="39544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List 1                                                         2     ...</a:t>
                  </a:r>
                  <a:endParaRPr/>
                </a:p>
              </p:txBody>
            </p:sp>
          </p:grpSp>
          <p:cxnSp>
            <p:nvCxnSpPr>
              <p:cNvPr id="395" name="Google Shape;395;p12"/>
              <p:cNvCxnSpPr/>
              <p:nvPr/>
            </p:nvCxnSpPr>
            <p:spPr>
              <a:xfrm>
                <a:off x="8892988" y="3119718"/>
                <a:ext cx="0" cy="594040"/>
              </a:xfrm>
              <a:prstGeom prst="straightConnector1">
                <a:avLst/>
              </a:prstGeom>
              <a:noFill/>
              <a:ln cap="flat" cmpd="sng" w="19050">
                <a:solidFill>
                  <a:schemeClr val="dk1"/>
                </a:solidFill>
                <a:prstDash val="dash"/>
                <a:round/>
                <a:headEnd len="sm" w="sm" type="none"/>
                <a:tailEnd len="sm" w="sm" type="none"/>
              </a:ln>
            </p:spPr>
          </p:cxnSp>
          <p:cxnSp>
            <p:nvCxnSpPr>
              <p:cNvPr id="396" name="Google Shape;396;p12"/>
              <p:cNvCxnSpPr/>
              <p:nvPr/>
            </p:nvCxnSpPr>
            <p:spPr>
              <a:xfrm>
                <a:off x="9728548" y="3466908"/>
                <a:ext cx="0" cy="183799"/>
              </a:xfrm>
              <a:prstGeom prst="straightConnector1">
                <a:avLst/>
              </a:prstGeom>
              <a:noFill/>
              <a:ln cap="rnd" cmpd="sng" w="38100">
                <a:solidFill>
                  <a:schemeClr val="accent1"/>
                </a:solidFill>
                <a:prstDash val="dot"/>
                <a:bevel/>
                <a:headEnd len="sm" w="sm" type="none"/>
                <a:tailEnd len="sm" w="sm" type="none"/>
              </a:ln>
            </p:spPr>
          </p:cxnSp>
          <p:cxnSp>
            <p:nvCxnSpPr>
              <p:cNvPr id="397" name="Google Shape;397;p12"/>
              <p:cNvCxnSpPr/>
              <p:nvPr/>
            </p:nvCxnSpPr>
            <p:spPr>
              <a:xfrm>
                <a:off x="9224682" y="3110245"/>
                <a:ext cx="0" cy="594040"/>
              </a:xfrm>
              <a:prstGeom prst="straightConnector1">
                <a:avLst/>
              </a:prstGeom>
              <a:noFill/>
              <a:ln cap="flat" cmpd="sng" w="19050">
                <a:solidFill>
                  <a:schemeClr val="dk1"/>
                </a:solidFill>
                <a:prstDash val="dash"/>
                <a:round/>
                <a:headEnd len="sm" w="sm" type="none"/>
                <a:tailEnd len="sm" w="sm" type="none"/>
              </a:ln>
            </p:spPr>
          </p:cxnSp>
          <p:cxnSp>
            <p:nvCxnSpPr>
              <p:cNvPr id="398" name="Google Shape;398;p12"/>
              <p:cNvCxnSpPr/>
              <p:nvPr/>
            </p:nvCxnSpPr>
            <p:spPr>
              <a:xfrm>
                <a:off x="9606935" y="3110245"/>
                <a:ext cx="0" cy="594040"/>
              </a:xfrm>
              <a:prstGeom prst="straightConnector1">
                <a:avLst/>
              </a:prstGeom>
              <a:noFill/>
              <a:ln cap="flat" cmpd="sng" w="19050">
                <a:solidFill>
                  <a:schemeClr val="dk1"/>
                </a:solidFill>
                <a:prstDash val="dash"/>
                <a:round/>
                <a:headEnd len="sm" w="sm" type="none"/>
                <a:tailEnd len="sm" w="sm" type="none"/>
              </a:ln>
            </p:spPr>
          </p:cxnSp>
        </p:grpSp>
        <p:grpSp>
          <p:nvGrpSpPr>
            <p:cNvPr id="399" name="Google Shape;399;p12"/>
            <p:cNvGrpSpPr/>
            <p:nvPr/>
          </p:nvGrpSpPr>
          <p:grpSpPr>
            <a:xfrm>
              <a:off x="7964378" y="3596785"/>
              <a:ext cx="3945383" cy="603513"/>
              <a:chOff x="5875064" y="3110245"/>
              <a:chExt cx="3945383" cy="603513"/>
            </a:xfrm>
          </p:grpSpPr>
          <p:grpSp>
            <p:nvGrpSpPr>
              <p:cNvPr id="400" name="Google Shape;400;p12"/>
              <p:cNvGrpSpPr/>
              <p:nvPr/>
            </p:nvGrpSpPr>
            <p:grpSpPr>
              <a:xfrm>
                <a:off x="5875064" y="3131957"/>
                <a:ext cx="3758934" cy="492712"/>
                <a:chOff x="5310117" y="2632818"/>
                <a:chExt cx="3758934" cy="492712"/>
              </a:xfrm>
            </p:grpSpPr>
            <p:sp>
              <p:nvSpPr>
                <p:cNvPr id="401" name="Google Shape;401;p12"/>
                <p:cNvSpPr/>
                <p:nvPr/>
              </p:nvSpPr>
              <p:spPr>
                <a:xfrm>
                  <a:off x="7662617"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2" name="Google Shape;402;p12"/>
                <p:cNvSpPr/>
                <p:nvPr/>
              </p:nvSpPr>
              <p:spPr>
                <a:xfrm>
                  <a:off x="7298848" y="2964705"/>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3" name="Google Shape;403;p12"/>
                <p:cNvSpPr/>
                <p:nvPr/>
              </p:nvSpPr>
              <p:spPr>
                <a:xfrm>
                  <a:off x="6935079" y="2964705"/>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4" name="Google Shape;404;p12"/>
                <p:cNvSpPr/>
                <p:nvPr/>
              </p:nvSpPr>
              <p:spPr>
                <a:xfrm>
                  <a:off x="6571310" y="296470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5" name="Google Shape;405;p12"/>
                <p:cNvSpPr/>
                <p:nvPr/>
              </p:nvSpPr>
              <p:spPr>
                <a:xfrm>
                  <a:off x="8026386" y="2964705"/>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06" name="Google Shape;406;p12"/>
                <p:cNvCxnSpPr/>
                <p:nvPr/>
              </p:nvCxnSpPr>
              <p:spPr>
                <a:xfrm>
                  <a:off x="8469069" y="2967769"/>
                  <a:ext cx="0" cy="183799"/>
                </a:xfrm>
                <a:prstGeom prst="straightConnector1">
                  <a:avLst/>
                </a:prstGeom>
                <a:noFill/>
                <a:ln cap="rnd" cmpd="sng" w="38100">
                  <a:solidFill>
                    <a:schemeClr val="accent1"/>
                  </a:solidFill>
                  <a:prstDash val="dot"/>
                  <a:bevel/>
                  <a:headEnd len="sm" w="sm" type="none"/>
                  <a:tailEnd len="sm" w="sm" type="none"/>
                </a:ln>
              </p:spPr>
            </p:cxnSp>
            <p:cxnSp>
              <p:nvCxnSpPr>
                <p:cNvPr id="407" name="Google Shape;407;p12"/>
                <p:cNvCxnSpPr/>
                <p:nvPr/>
              </p:nvCxnSpPr>
              <p:spPr>
                <a:xfrm>
                  <a:off x="8842623" y="2967912"/>
                  <a:ext cx="0" cy="183799"/>
                </a:xfrm>
                <a:prstGeom prst="straightConnector1">
                  <a:avLst/>
                </a:prstGeom>
                <a:noFill/>
                <a:ln cap="rnd" cmpd="sng" w="38100">
                  <a:solidFill>
                    <a:schemeClr val="accent1"/>
                  </a:solidFill>
                  <a:prstDash val="dot"/>
                  <a:bevel/>
                  <a:headEnd len="sm" w="sm" type="none"/>
                  <a:tailEnd len="sm" w="sm" type="none"/>
                </a:ln>
              </p:spPr>
            </p:cxnSp>
            <p:sp>
              <p:nvSpPr>
                <p:cNvPr id="408" name="Google Shape;408;p12"/>
                <p:cNvSpPr txBox="1"/>
                <p:nvPr/>
              </p:nvSpPr>
              <p:spPr>
                <a:xfrm>
                  <a:off x="5310117" y="2632818"/>
                  <a:ext cx="37589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List 10                                                    9    ...</a:t>
                  </a:r>
                  <a:endParaRPr/>
                </a:p>
              </p:txBody>
            </p:sp>
          </p:grpSp>
          <p:cxnSp>
            <p:nvCxnSpPr>
              <p:cNvPr id="409" name="Google Shape;409;p12"/>
              <p:cNvCxnSpPr/>
              <p:nvPr/>
            </p:nvCxnSpPr>
            <p:spPr>
              <a:xfrm>
                <a:off x="8892988" y="3119718"/>
                <a:ext cx="0" cy="594040"/>
              </a:xfrm>
              <a:prstGeom prst="straightConnector1">
                <a:avLst/>
              </a:prstGeom>
              <a:noFill/>
              <a:ln cap="flat" cmpd="sng" w="19050">
                <a:solidFill>
                  <a:schemeClr val="dk1"/>
                </a:solidFill>
                <a:prstDash val="dash"/>
                <a:round/>
                <a:headEnd len="sm" w="sm" type="none"/>
                <a:tailEnd len="sm" w="sm" type="none"/>
              </a:ln>
            </p:spPr>
          </p:cxnSp>
          <p:cxnSp>
            <p:nvCxnSpPr>
              <p:cNvPr id="410" name="Google Shape;410;p12"/>
              <p:cNvCxnSpPr/>
              <p:nvPr/>
            </p:nvCxnSpPr>
            <p:spPr>
              <a:xfrm>
                <a:off x="9728548" y="3466908"/>
                <a:ext cx="0" cy="183799"/>
              </a:xfrm>
              <a:prstGeom prst="straightConnector1">
                <a:avLst/>
              </a:prstGeom>
              <a:noFill/>
              <a:ln cap="rnd" cmpd="sng" w="38100">
                <a:solidFill>
                  <a:schemeClr val="accent1"/>
                </a:solidFill>
                <a:prstDash val="dot"/>
                <a:bevel/>
                <a:headEnd len="sm" w="sm" type="none"/>
                <a:tailEnd len="sm" w="sm" type="none"/>
              </a:ln>
            </p:spPr>
          </p:cxnSp>
          <p:cxnSp>
            <p:nvCxnSpPr>
              <p:cNvPr id="411" name="Google Shape;411;p12"/>
              <p:cNvCxnSpPr/>
              <p:nvPr/>
            </p:nvCxnSpPr>
            <p:spPr>
              <a:xfrm>
                <a:off x="9224682" y="3110245"/>
                <a:ext cx="0" cy="594040"/>
              </a:xfrm>
              <a:prstGeom prst="straightConnector1">
                <a:avLst/>
              </a:prstGeom>
              <a:noFill/>
              <a:ln cap="flat" cmpd="sng" w="19050">
                <a:solidFill>
                  <a:schemeClr val="dk1"/>
                </a:solidFill>
                <a:prstDash val="dash"/>
                <a:round/>
                <a:headEnd len="sm" w="sm" type="none"/>
                <a:tailEnd len="sm" w="sm" type="none"/>
              </a:ln>
            </p:spPr>
          </p:cxnSp>
          <p:cxnSp>
            <p:nvCxnSpPr>
              <p:cNvPr id="412" name="Google Shape;412;p12"/>
              <p:cNvCxnSpPr/>
              <p:nvPr/>
            </p:nvCxnSpPr>
            <p:spPr>
              <a:xfrm>
                <a:off x="9606935" y="3110245"/>
                <a:ext cx="0" cy="594040"/>
              </a:xfrm>
              <a:prstGeom prst="straightConnector1">
                <a:avLst/>
              </a:prstGeom>
              <a:noFill/>
              <a:ln cap="flat" cmpd="sng" w="19050">
                <a:solidFill>
                  <a:schemeClr val="dk1"/>
                </a:solidFill>
                <a:prstDash val="dash"/>
                <a:round/>
                <a:headEnd len="sm" w="sm" type="none"/>
                <a:tailEnd len="sm" w="sm" type="none"/>
              </a:ln>
            </p:spPr>
          </p:cxnSp>
        </p:grpSp>
        <p:sp>
          <p:nvSpPr>
            <p:cNvPr id="413" name="Google Shape;413;p12"/>
            <p:cNvSpPr txBox="1"/>
            <p:nvPr/>
          </p:nvSpPr>
          <p:spPr>
            <a:xfrm>
              <a:off x="7622895" y="823055"/>
              <a:ext cx="34412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5C99"/>
                  </a:solidFill>
                  <a:latin typeface="Arial"/>
                  <a:ea typeface="Arial"/>
                  <a:cs typeface="Arial"/>
                  <a:sym typeface="Arial"/>
                </a:rPr>
                <a:t>Randomly mixed across lists</a:t>
              </a:r>
              <a:endParaRPr/>
            </a:p>
          </p:txBody>
        </p:sp>
        <p:sp>
          <p:nvSpPr>
            <p:cNvPr id="414" name="Google Shape;414;p12"/>
            <p:cNvSpPr/>
            <p:nvPr/>
          </p:nvSpPr>
          <p:spPr>
            <a:xfrm>
              <a:off x="8451526" y="2619600"/>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5" name="Google Shape;415;p12"/>
            <p:cNvSpPr/>
            <p:nvPr/>
          </p:nvSpPr>
          <p:spPr>
            <a:xfrm>
              <a:off x="8826229" y="2619601"/>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6" name="Google Shape;416;p12"/>
            <p:cNvSpPr/>
            <p:nvPr/>
          </p:nvSpPr>
          <p:spPr>
            <a:xfrm>
              <a:off x="8081093" y="2619599"/>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7" name="Google Shape;417;p12"/>
            <p:cNvSpPr/>
            <p:nvPr/>
          </p:nvSpPr>
          <p:spPr>
            <a:xfrm>
              <a:off x="7697869" y="2619598"/>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8" name="Google Shape;418;p12"/>
            <p:cNvSpPr/>
            <p:nvPr/>
          </p:nvSpPr>
          <p:spPr>
            <a:xfrm>
              <a:off x="7341611" y="2619599"/>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9" name="Google Shape;419;p12"/>
            <p:cNvSpPr/>
            <p:nvPr/>
          </p:nvSpPr>
          <p:spPr>
            <a:xfrm>
              <a:off x="6971178" y="261959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0" name="Google Shape;420;p12"/>
            <p:cNvSpPr/>
            <p:nvPr/>
          </p:nvSpPr>
          <p:spPr>
            <a:xfrm>
              <a:off x="6587954" y="2619597"/>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1" name="Google Shape;421;p12"/>
            <p:cNvSpPr/>
            <p:nvPr/>
          </p:nvSpPr>
          <p:spPr>
            <a:xfrm>
              <a:off x="8487099" y="3944632"/>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2" name="Google Shape;422;p12"/>
            <p:cNvSpPr/>
            <p:nvPr/>
          </p:nvSpPr>
          <p:spPr>
            <a:xfrm>
              <a:off x="8861802" y="3944633"/>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3" name="Google Shape;423;p12"/>
            <p:cNvSpPr/>
            <p:nvPr/>
          </p:nvSpPr>
          <p:spPr>
            <a:xfrm>
              <a:off x="8116666" y="3944631"/>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4" name="Google Shape;424;p12"/>
            <p:cNvSpPr/>
            <p:nvPr/>
          </p:nvSpPr>
          <p:spPr>
            <a:xfrm>
              <a:off x="7733442" y="3944630"/>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5" name="Google Shape;425;p12"/>
            <p:cNvSpPr/>
            <p:nvPr/>
          </p:nvSpPr>
          <p:spPr>
            <a:xfrm>
              <a:off x="7377184" y="3944631"/>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6" name="Google Shape;426;p12"/>
            <p:cNvSpPr/>
            <p:nvPr/>
          </p:nvSpPr>
          <p:spPr>
            <a:xfrm>
              <a:off x="7006751" y="3944630"/>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7" name="Google Shape;427;p12"/>
            <p:cNvSpPr/>
            <p:nvPr/>
          </p:nvSpPr>
          <p:spPr>
            <a:xfrm>
              <a:off x="6623527" y="3944629"/>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8" name="Google Shape;428;p12"/>
            <p:cNvSpPr/>
            <p:nvPr/>
          </p:nvSpPr>
          <p:spPr>
            <a:xfrm>
              <a:off x="8451526" y="1253118"/>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9" name="Google Shape;429;p12"/>
            <p:cNvSpPr/>
            <p:nvPr/>
          </p:nvSpPr>
          <p:spPr>
            <a:xfrm>
              <a:off x="8826229" y="1253119"/>
              <a:ext cx="225154" cy="160825"/>
            </a:xfrm>
            <a:prstGeom prst="rect">
              <a:avLst/>
            </a:prstGeom>
            <a:solidFill>
              <a:srgbClr val="FFC00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0" name="Google Shape;430;p12"/>
            <p:cNvSpPr/>
            <p:nvPr/>
          </p:nvSpPr>
          <p:spPr>
            <a:xfrm>
              <a:off x="8081093" y="1253117"/>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1" name="Google Shape;431;p12"/>
            <p:cNvSpPr/>
            <p:nvPr/>
          </p:nvSpPr>
          <p:spPr>
            <a:xfrm>
              <a:off x="7697869" y="1253116"/>
              <a:ext cx="225154" cy="16082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2" name="Google Shape;432;p12"/>
            <p:cNvSpPr/>
            <p:nvPr/>
          </p:nvSpPr>
          <p:spPr>
            <a:xfrm>
              <a:off x="7341611" y="1253117"/>
              <a:ext cx="225154" cy="160825"/>
            </a:xfrm>
            <a:prstGeom prst="rect">
              <a:avLst/>
            </a:prstGeom>
            <a:solidFill>
              <a:schemeClr val="accent4"/>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3" name="Google Shape;433;p12"/>
            <p:cNvSpPr/>
            <p:nvPr/>
          </p:nvSpPr>
          <p:spPr>
            <a:xfrm>
              <a:off x="6971178" y="1253116"/>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4" name="Google Shape;434;p12"/>
            <p:cNvSpPr/>
            <p:nvPr/>
          </p:nvSpPr>
          <p:spPr>
            <a:xfrm>
              <a:off x="6587954" y="1253115"/>
              <a:ext cx="225154" cy="160825"/>
            </a:xfrm>
            <a:prstGeom prst="rect">
              <a:avLst/>
            </a:prstGeom>
            <a:solidFill>
              <a:schemeClr val="accent6"/>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9" name="Shape 439"/>
        <p:cNvGrpSpPr/>
        <p:nvPr/>
      </p:nvGrpSpPr>
      <p:grpSpPr>
        <a:xfrm>
          <a:off x="0" y="0"/>
          <a:ext cx="0" cy="0"/>
          <a:chOff x="0" y="0"/>
          <a:chExt cx="0" cy="0"/>
        </a:xfrm>
      </p:grpSpPr>
      <p:sp>
        <p:nvSpPr>
          <p:cNvPr id="440" name="Google Shape;440;p13"/>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1" name="Google Shape;441;p13"/>
          <p:cNvSpPr txBox="1"/>
          <p:nvPr>
            <p:ph type="title"/>
          </p:nvPr>
        </p:nvSpPr>
        <p:spPr>
          <a:xfrm>
            <a:off x="838200" y="557188"/>
            <a:ext cx="10515600" cy="113349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lay"/>
              <a:buNone/>
            </a:pPr>
            <a:r>
              <a:rPr lang="en-US" sz="4000"/>
              <a:t>Participant Recruitment and Testing Information</a:t>
            </a:r>
            <a:endParaRPr/>
          </a:p>
        </p:txBody>
      </p:sp>
      <p:grpSp>
        <p:nvGrpSpPr>
          <p:cNvPr id="442" name="Google Shape;442;p13"/>
          <p:cNvGrpSpPr/>
          <p:nvPr/>
        </p:nvGrpSpPr>
        <p:grpSpPr>
          <a:xfrm>
            <a:off x="8409984" y="2055691"/>
            <a:ext cx="3203971" cy="3898760"/>
            <a:chOff x="841486" y="2055691"/>
            <a:chExt cx="3203971" cy="3898760"/>
          </a:xfrm>
        </p:grpSpPr>
        <p:sp>
          <p:nvSpPr>
            <p:cNvPr id="443" name="Google Shape;443;p13"/>
            <p:cNvSpPr/>
            <p:nvPr/>
          </p:nvSpPr>
          <p:spPr>
            <a:xfrm>
              <a:off x="841486" y="2055691"/>
              <a:ext cx="3203971" cy="1016992"/>
            </a:xfrm>
            <a:custGeom>
              <a:rect b="b" l="l" r="r" t="t"/>
              <a:pathLst>
                <a:path extrusionOk="0" h="1016992" w="3203971">
                  <a:moveTo>
                    <a:pt x="0" y="0"/>
                  </a:moveTo>
                  <a:lnTo>
                    <a:pt x="3203971" y="0"/>
                  </a:lnTo>
                  <a:lnTo>
                    <a:pt x="3203971" y="1016992"/>
                  </a:lnTo>
                  <a:lnTo>
                    <a:pt x="0" y="1016992"/>
                  </a:lnTo>
                  <a:lnTo>
                    <a:pt x="0" y="0"/>
                  </a:lnTo>
                  <a:close/>
                </a:path>
              </a:pathLst>
            </a:custGeom>
            <a:solidFill>
              <a:schemeClr val="lt1"/>
            </a:solidFill>
            <a:ln cap="flat" cmpd="sng" w="19050">
              <a:solidFill>
                <a:schemeClr val="dk1"/>
              </a:solidFill>
              <a:prstDash val="solid"/>
              <a:miter lim="800000"/>
              <a:headEnd len="sm" w="sm" type="none"/>
              <a:tailEnd len="sm" w="sm" type="none"/>
            </a:ln>
          </p:spPr>
          <p:txBody>
            <a:bodyPr anchorCtr="0" anchor="ctr" bIns="81275" lIns="142225" spcFirstLastPara="1" rIns="142225" wrap="square" tIns="81275">
              <a:noAutofit/>
            </a:bodyPr>
            <a:lstStyle/>
            <a:p>
              <a:pPr indent="0" lvl="0" marL="0" marR="0" rtl="0" algn="ctr">
                <a:lnSpc>
                  <a:spcPct val="90000"/>
                </a:lnSpc>
                <a:spcBef>
                  <a:spcPts val="0"/>
                </a:spcBef>
                <a:spcAft>
                  <a:spcPts val="0"/>
                </a:spcAft>
                <a:buClr>
                  <a:schemeClr val="dk1"/>
                </a:buClr>
                <a:buSzPts val="2000"/>
                <a:buFont typeface="Arial"/>
                <a:buNone/>
              </a:pPr>
              <a:r>
                <a:rPr b="1" i="0" lang="en-US" sz="2000">
                  <a:solidFill>
                    <a:schemeClr val="dk1"/>
                  </a:solidFill>
                  <a:latin typeface="Arial"/>
                  <a:ea typeface="Arial"/>
                  <a:cs typeface="Arial"/>
                  <a:sym typeface="Arial"/>
                </a:rPr>
                <a:t>Participant Recruitment</a:t>
              </a:r>
              <a:endParaRPr sz="2000">
                <a:solidFill>
                  <a:schemeClr val="dk1"/>
                </a:solidFill>
                <a:latin typeface="Arial"/>
                <a:ea typeface="Arial"/>
                <a:cs typeface="Arial"/>
                <a:sym typeface="Arial"/>
              </a:endParaRPr>
            </a:p>
          </p:txBody>
        </p:sp>
        <p:sp>
          <p:nvSpPr>
            <p:cNvPr id="444" name="Google Shape;444;p13"/>
            <p:cNvSpPr/>
            <p:nvPr/>
          </p:nvSpPr>
          <p:spPr>
            <a:xfrm>
              <a:off x="841486" y="3072684"/>
              <a:ext cx="3203971" cy="2881767"/>
            </a:xfrm>
            <a:custGeom>
              <a:rect b="b" l="l" r="r" t="t"/>
              <a:pathLst>
                <a:path extrusionOk="0" h="2881767" w="3203971">
                  <a:moveTo>
                    <a:pt x="0" y="0"/>
                  </a:moveTo>
                  <a:lnTo>
                    <a:pt x="3203971" y="0"/>
                  </a:lnTo>
                  <a:lnTo>
                    <a:pt x="3203971" y="2881767"/>
                  </a:lnTo>
                  <a:lnTo>
                    <a:pt x="0" y="2881767"/>
                  </a:lnTo>
                  <a:lnTo>
                    <a:pt x="0" y="0"/>
                  </a:lnTo>
                  <a:close/>
                </a:path>
              </a:pathLst>
            </a:custGeom>
            <a:solidFill>
              <a:schemeClr val="lt1">
                <a:alpha val="89803"/>
              </a:schemeClr>
            </a:solidFill>
            <a:ln cap="flat" cmpd="sng" w="19050">
              <a:solidFill>
                <a:schemeClr val="dk1">
                  <a:alpha val="89803"/>
                </a:schemeClr>
              </a:solidFill>
              <a:prstDash val="solid"/>
              <a:miter lim="800000"/>
              <a:headEnd len="sm" w="sm" type="none"/>
              <a:tailEnd len="sm" w="sm" type="none"/>
            </a:ln>
          </p:spPr>
          <p:txBody>
            <a:bodyPr anchorCtr="0" anchor="t" bIns="160000" lIns="106675" spcFirstLastPara="1" rIns="142225" wrap="square" tIns="106675">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Participants were recruited online through Prolific.</a:t>
              </a:r>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50 participants each in forward/backward; 100 in random condition</a:t>
              </a:r>
              <a:endParaRPr b="0" i="0" sz="2000" u="none" cap="none" strike="noStrike">
                <a:solidFill>
                  <a:schemeClr val="dk1"/>
                </a:solidFill>
                <a:latin typeface="Arial"/>
                <a:ea typeface="Arial"/>
                <a:cs typeface="Arial"/>
                <a:sym typeface="Arial"/>
              </a:endParaRPr>
            </a:p>
          </p:txBody>
        </p:sp>
      </p:grpSp>
      <p:grpSp>
        <p:nvGrpSpPr>
          <p:cNvPr id="445" name="Google Shape;445;p13"/>
          <p:cNvGrpSpPr/>
          <p:nvPr/>
        </p:nvGrpSpPr>
        <p:grpSpPr>
          <a:xfrm>
            <a:off x="771100" y="2055691"/>
            <a:ext cx="3203971" cy="3898760"/>
            <a:chOff x="4494014" y="2055691"/>
            <a:chExt cx="3203971" cy="3898760"/>
          </a:xfrm>
        </p:grpSpPr>
        <p:sp>
          <p:nvSpPr>
            <p:cNvPr id="446" name="Google Shape;446;p13"/>
            <p:cNvSpPr/>
            <p:nvPr/>
          </p:nvSpPr>
          <p:spPr>
            <a:xfrm>
              <a:off x="4494014" y="2055691"/>
              <a:ext cx="3203971" cy="1016992"/>
            </a:xfrm>
            <a:custGeom>
              <a:rect b="b" l="l" r="r" t="t"/>
              <a:pathLst>
                <a:path extrusionOk="0" h="1016992" w="3203971">
                  <a:moveTo>
                    <a:pt x="0" y="0"/>
                  </a:moveTo>
                  <a:lnTo>
                    <a:pt x="3203971" y="0"/>
                  </a:lnTo>
                  <a:lnTo>
                    <a:pt x="3203971" y="1016992"/>
                  </a:lnTo>
                  <a:lnTo>
                    <a:pt x="0" y="1016992"/>
                  </a:lnTo>
                  <a:lnTo>
                    <a:pt x="0" y="0"/>
                  </a:lnTo>
                  <a:close/>
                </a:path>
              </a:pathLst>
            </a:custGeom>
            <a:solidFill>
              <a:schemeClr val="lt1"/>
            </a:solidFill>
            <a:ln cap="flat" cmpd="sng" w="19050">
              <a:solidFill>
                <a:schemeClr val="dk1"/>
              </a:solidFill>
              <a:prstDash val="solid"/>
              <a:miter lim="800000"/>
              <a:headEnd len="sm" w="sm" type="none"/>
              <a:tailEnd len="sm" w="sm" type="none"/>
            </a:ln>
          </p:spPr>
          <p:txBody>
            <a:bodyPr anchorCtr="0" anchor="ctr" bIns="81275" lIns="142225" spcFirstLastPara="1" rIns="142225" wrap="square" tIns="81275">
              <a:noAutofit/>
            </a:bodyPr>
            <a:lstStyle/>
            <a:p>
              <a:pPr indent="0" lvl="0" marL="0" marR="0" rtl="0" algn="ctr">
                <a:lnSpc>
                  <a:spcPct val="90000"/>
                </a:lnSpc>
                <a:spcBef>
                  <a:spcPts val="0"/>
                </a:spcBef>
                <a:spcAft>
                  <a:spcPts val="0"/>
                </a:spcAft>
                <a:buClr>
                  <a:schemeClr val="dk1"/>
                </a:buClr>
                <a:buSzPts val="2000"/>
                <a:buFont typeface="Arial"/>
                <a:buNone/>
              </a:pPr>
              <a:r>
                <a:rPr b="1" i="0" lang="en-US" sz="2000">
                  <a:solidFill>
                    <a:schemeClr val="dk1"/>
                  </a:solidFill>
                  <a:latin typeface="Arial"/>
                  <a:ea typeface="Arial"/>
                  <a:cs typeface="Arial"/>
                  <a:sym typeface="Arial"/>
                </a:rPr>
                <a:t>Instructions for </a:t>
              </a:r>
              <a:r>
                <a:rPr b="1" lang="en-US" sz="2000">
                  <a:solidFill>
                    <a:schemeClr val="dk1"/>
                  </a:solidFill>
                  <a:latin typeface="Arial"/>
                  <a:ea typeface="Arial"/>
                  <a:cs typeface="Arial"/>
                  <a:sym typeface="Arial"/>
                </a:rPr>
                <a:t>F</a:t>
              </a:r>
              <a:r>
                <a:rPr b="1" i="0" lang="en-US" sz="2000">
                  <a:solidFill>
                    <a:schemeClr val="dk1"/>
                  </a:solidFill>
                  <a:latin typeface="Arial"/>
                  <a:ea typeface="Arial"/>
                  <a:cs typeface="Arial"/>
                  <a:sym typeface="Arial"/>
                </a:rPr>
                <a:t>orward and Backward </a:t>
              </a:r>
              <a:r>
                <a:rPr b="1" lang="en-US" sz="2000">
                  <a:solidFill>
                    <a:schemeClr val="dk1"/>
                  </a:solidFill>
                  <a:latin typeface="Arial"/>
                  <a:ea typeface="Arial"/>
                  <a:cs typeface="Arial"/>
                  <a:sym typeface="Arial"/>
                </a:rPr>
                <a:t>but not for Random group</a:t>
              </a:r>
              <a:r>
                <a:rPr b="0" i="0"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447" name="Google Shape;447;p13"/>
            <p:cNvSpPr/>
            <p:nvPr/>
          </p:nvSpPr>
          <p:spPr>
            <a:xfrm>
              <a:off x="4494014" y="3072684"/>
              <a:ext cx="3203971" cy="2881767"/>
            </a:xfrm>
            <a:custGeom>
              <a:rect b="b" l="l" r="r" t="t"/>
              <a:pathLst>
                <a:path extrusionOk="0" h="2881767" w="3203971">
                  <a:moveTo>
                    <a:pt x="0" y="0"/>
                  </a:moveTo>
                  <a:lnTo>
                    <a:pt x="3203971" y="0"/>
                  </a:lnTo>
                  <a:lnTo>
                    <a:pt x="3203971" y="2881767"/>
                  </a:lnTo>
                  <a:lnTo>
                    <a:pt x="0" y="2881767"/>
                  </a:lnTo>
                  <a:lnTo>
                    <a:pt x="0" y="0"/>
                  </a:lnTo>
                  <a:close/>
                </a:path>
              </a:pathLst>
            </a:custGeom>
            <a:solidFill>
              <a:schemeClr val="lt1">
                <a:alpha val="89803"/>
              </a:schemeClr>
            </a:solidFill>
            <a:ln cap="flat" cmpd="sng" w="19050">
              <a:solidFill>
                <a:schemeClr val="dk1">
                  <a:alpha val="89803"/>
                </a:schemeClr>
              </a:solidFill>
              <a:prstDash val="solid"/>
              <a:miter lim="800000"/>
              <a:headEnd len="sm" w="sm" type="none"/>
              <a:tailEnd len="sm" w="sm" type="none"/>
            </a:ln>
          </p:spPr>
          <p:txBody>
            <a:bodyPr anchorCtr="0" anchor="t" bIns="160000" lIns="106675" spcFirstLastPara="1" rIns="142225" wrap="square" tIns="106675">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Informed about the </a:t>
              </a:r>
              <a:r>
                <a:rPr b="0" i="1" lang="en-US" sz="2000" u="none" cap="none" strike="noStrike">
                  <a:solidFill>
                    <a:schemeClr val="dk1"/>
                  </a:solidFill>
                  <a:latin typeface="Arial"/>
                  <a:ea typeface="Arial"/>
                  <a:cs typeface="Arial"/>
                  <a:sym typeface="Arial"/>
                </a:rPr>
                <a:t>order of final testing</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Before each set of 42 tests, </a:t>
              </a:r>
              <a:r>
                <a:rPr b="1" i="0" lang="en-US" sz="2000" u="none" cap="none" strike="noStrike">
                  <a:solidFill>
                    <a:schemeClr val="dk1"/>
                  </a:solidFill>
                  <a:latin typeface="Arial"/>
                  <a:ea typeface="Arial"/>
                  <a:cs typeface="Arial"/>
                  <a:sym typeface="Arial"/>
                </a:rPr>
                <a:t>they were told which </a:t>
              </a:r>
              <a:r>
                <a:rPr b="1" i="1" lang="en-US" sz="2000" u="none" cap="none" strike="noStrike">
                  <a:solidFill>
                    <a:schemeClr val="dk1"/>
                  </a:solidFill>
                  <a:latin typeface="Arial"/>
                  <a:ea typeface="Arial"/>
                  <a:cs typeface="Arial"/>
                  <a:sym typeface="Arial"/>
                </a:rPr>
                <a:t>initial list</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the new targets were from.</a:t>
              </a:r>
              <a:endParaRPr b="0" i="0" sz="2000" u="none" cap="none" strike="noStrike">
                <a:solidFill>
                  <a:schemeClr val="dk1"/>
                </a:solidFill>
                <a:latin typeface="Arial"/>
                <a:ea typeface="Arial"/>
                <a:cs typeface="Arial"/>
                <a:sym typeface="Arial"/>
              </a:endParaRPr>
            </a:p>
          </p:txBody>
        </p:sp>
      </p:grpSp>
      <p:grpSp>
        <p:nvGrpSpPr>
          <p:cNvPr id="448" name="Google Shape;448;p13"/>
          <p:cNvGrpSpPr/>
          <p:nvPr/>
        </p:nvGrpSpPr>
        <p:grpSpPr>
          <a:xfrm>
            <a:off x="4590542" y="2055691"/>
            <a:ext cx="3203971" cy="3898760"/>
            <a:chOff x="8146542" y="2055691"/>
            <a:chExt cx="3203971" cy="3898760"/>
          </a:xfrm>
        </p:grpSpPr>
        <p:sp>
          <p:nvSpPr>
            <p:cNvPr id="449" name="Google Shape;449;p13"/>
            <p:cNvSpPr/>
            <p:nvPr/>
          </p:nvSpPr>
          <p:spPr>
            <a:xfrm>
              <a:off x="8146542" y="2055691"/>
              <a:ext cx="3203971" cy="1016992"/>
            </a:xfrm>
            <a:custGeom>
              <a:rect b="b" l="l" r="r" t="t"/>
              <a:pathLst>
                <a:path extrusionOk="0" h="1016992" w="3203971">
                  <a:moveTo>
                    <a:pt x="0" y="0"/>
                  </a:moveTo>
                  <a:lnTo>
                    <a:pt x="3203971" y="0"/>
                  </a:lnTo>
                  <a:lnTo>
                    <a:pt x="3203971" y="1016992"/>
                  </a:lnTo>
                  <a:lnTo>
                    <a:pt x="0" y="1016992"/>
                  </a:lnTo>
                  <a:lnTo>
                    <a:pt x="0" y="0"/>
                  </a:lnTo>
                  <a:close/>
                </a:path>
              </a:pathLst>
            </a:custGeom>
            <a:solidFill>
              <a:schemeClr val="lt1"/>
            </a:solidFill>
            <a:ln cap="flat" cmpd="sng" w="19050">
              <a:solidFill>
                <a:schemeClr val="dk1"/>
              </a:solidFill>
              <a:prstDash val="solid"/>
              <a:miter lim="800000"/>
              <a:headEnd len="sm" w="sm" type="none"/>
              <a:tailEnd len="sm" w="sm" type="none"/>
            </a:ln>
          </p:spPr>
          <p:txBody>
            <a:bodyPr anchorCtr="0" anchor="ctr" bIns="81275" lIns="142225" spcFirstLastPara="1" rIns="142225" wrap="square" tIns="81275">
              <a:noAutofit/>
            </a:bodyPr>
            <a:lstStyle/>
            <a:p>
              <a:pPr indent="0" lvl="0" marL="0" marR="0" rtl="0" algn="ctr">
                <a:lnSpc>
                  <a:spcPct val="90000"/>
                </a:lnSpc>
                <a:spcBef>
                  <a:spcPts val="0"/>
                </a:spcBef>
                <a:spcAft>
                  <a:spcPts val="0"/>
                </a:spcAft>
                <a:buClr>
                  <a:schemeClr val="dk1"/>
                </a:buClr>
                <a:buSzPts val="2000"/>
                <a:buFont typeface="Arial"/>
                <a:buNone/>
              </a:pPr>
              <a:r>
                <a:rPr b="1" i="0" lang="en-US" sz="2000">
                  <a:solidFill>
                    <a:schemeClr val="dk1"/>
                  </a:solidFill>
                  <a:latin typeface="Arial"/>
                  <a:ea typeface="Arial"/>
                  <a:cs typeface="Arial"/>
                  <a:sym typeface="Arial"/>
                </a:rPr>
                <a:t>Purpose of Forward and Backward Groups</a:t>
              </a:r>
              <a:endParaRPr sz="2000">
                <a:solidFill>
                  <a:schemeClr val="dk1"/>
                </a:solidFill>
                <a:latin typeface="Arial"/>
                <a:ea typeface="Arial"/>
                <a:cs typeface="Arial"/>
                <a:sym typeface="Arial"/>
              </a:endParaRPr>
            </a:p>
          </p:txBody>
        </p:sp>
        <p:sp>
          <p:nvSpPr>
            <p:cNvPr id="450" name="Google Shape;450;p13"/>
            <p:cNvSpPr/>
            <p:nvPr/>
          </p:nvSpPr>
          <p:spPr>
            <a:xfrm>
              <a:off x="8146542" y="3072684"/>
              <a:ext cx="3203971" cy="2881767"/>
            </a:xfrm>
            <a:custGeom>
              <a:rect b="b" l="l" r="r" t="t"/>
              <a:pathLst>
                <a:path extrusionOk="0" h="2881767" w="3203971">
                  <a:moveTo>
                    <a:pt x="0" y="0"/>
                  </a:moveTo>
                  <a:lnTo>
                    <a:pt x="3203971" y="0"/>
                  </a:lnTo>
                  <a:lnTo>
                    <a:pt x="3203971" y="2881767"/>
                  </a:lnTo>
                  <a:lnTo>
                    <a:pt x="0" y="2881767"/>
                  </a:lnTo>
                  <a:lnTo>
                    <a:pt x="0" y="0"/>
                  </a:lnTo>
                  <a:close/>
                </a:path>
              </a:pathLst>
            </a:custGeom>
            <a:solidFill>
              <a:schemeClr val="lt1">
                <a:alpha val="89803"/>
              </a:schemeClr>
            </a:solidFill>
            <a:ln cap="flat" cmpd="sng" w="19050">
              <a:solidFill>
                <a:schemeClr val="dk1">
                  <a:alpha val="89803"/>
                </a:schemeClr>
              </a:solidFill>
              <a:prstDash val="solid"/>
              <a:miter lim="800000"/>
              <a:headEnd len="sm" w="sm" type="none"/>
              <a:tailEnd len="sm" w="sm" type="none"/>
            </a:ln>
          </p:spPr>
          <p:txBody>
            <a:bodyPr anchorCtr="0" anchor="t" bIns="160000" lIns="106675" spcFirstLastPara="1" rIns="142225" wrap="square" tIns="106675">
              <a:noAutofit/>
            </a:bodyPr>
            <a:lstStyle/>
            <a:p>
              <a:pPr indent="-228600" lvl="1" marL="2286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Designed to assess if knowing the initial list helps use context appropriately.</a:t>
              </a:r>
              <a:endParaRPr b="0" i="0" sz="2000" u="none" cap="none" strike="noStrike">
                <a:solidFill>
                  <a:schemeClr val="dk1"/>
                </a:solidFill>
                <a:latin typeface="Arial"/>
                <a:ea typeface="Arial"/>
                <a:cs typeface="Arial"/>
                <a:sym typeface="Arial"/>
              </a:endParaRPr>
            </a:p>
            <a:p>
              <a:pPr indent="-228600" lvl="1" marL="22860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Aimed to determine if this knowledge leads to better retrieval compared to the Random group.</a:t>
              </a:r>
              <a:endParaRPr b="0" i="0" sz="20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4"/>
          <p:cNvSpPr txBox="1"/>
          <p:nvPr>
            <p:ph idx="1" type="body"/>
          </p:nvPr>
        </p:nvSpPr>
        <p:spPr>
          <a:xfrm>
            <a:off x="838200" y="222422"/>
            <a:ext cx="10515600" cy="595454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i="1" lang="en-US"/>
              <a:t>Within list </a:t>
            </a:r>
            <a:r>
              <a:rPr lang="en-US"/>
              <a:t>results during </a:t>
            </a:r>
            <a:r>
              <a:rPr b="1" i="1" lang="en-US"/>
              <a:t>Initial Testing:</a:t>
            </a:r>
            <a:endParaRPr/>
          </a:p>
        </p:txBody>
      </p:sp>
      <p:pic>
        <p:nvPicPr>
          <p:cNvPr id="457" name="Google Shape;457;p14"/>
          <p:cNvPicPr preferRelativeResize="0"/>
          <p:nvPr/>
        </p:nvPicPr>
        <p:blipFill rotWithShape="1">
          <a:blip r:embed="rId3">
            <a:alphaModFix/>
          </a:blip>
          <a:srcRect b="10721" l="0" r="0" t="3987"/>
          <a:stretch/>
        </p:blipFill>
        <p:spPr>
          <a:xfrm>
            <a:off x="405911" y="882124"/>
            <a:ext cx="10325100" cy="50937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15"/>
          <p:cNvSpPr/>
          <p:nvPr/>
        </p:nvSpPr>
        <p:spPr>
          <a:xfrm>
            <a:off x="1768100" y="-1"/>
            <a:ext cx="10423900" cy="5920155"/>
          </a:xfrm>
          <a:custGeom>
            <a:rect b="b" l="l" r="r" t="t"/>
            <a:pathLst>
              <a:path extrusionOk="0" h="5491534" w="10423900">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65" name="Google Shape;465;p15"/>
          <p:cNvSpPr/>
          <p:nvPr/>
        </p:nvSpPr>
        <p:spPr>
          <a:xfrm>
            <a:off x="5037393" y="1720416"/>
            <a:ext cx="6654800" cy="3417168"/>
          </a:xfrm>
          <a:prstGeom prst="rect">
            <a:avLst/>
          </a:prstGeom>
          <a:solidFill>
            <a:srgbClr val="CACACA"/>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466" name="Google Shape;466;p15"/>
          <p:cNvSpPr/>
          <p:nvPr/>
        </p:nvSpPr>
        <p:spPr>
          <a:xfrm>
            <a:off x="5208633" y="2458808"/>
            <a:ext cx="2031398" cy="2608890"/>
          </a:xfrm>
          <a:custGeom>
            <a:rect b="b" l="l" r="r" t="t"/>
            <a:pathLst>
              <a:path extrusionOk="0" h="2608890" w="2031398">
                <a:moveTo>
                  <a:pt x="0" y="0"/>
                </a:moveTo>
                <a:lnTo>
                  <a:pt x="2031398" y="0"/>
                </a:lnTo>
                <a:lnTo>
                  <a:pt x="2031398" y="2608890"/>
                </a:lnTo>
                <a:lnTo>
                  <a:pt x="0" y="260889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chemeClr val="dk1"/>
              </a:buClr>
              <a:buSzPts val="2000"/>
              <a:buFont typeface="Arial"/>
              <a:buNone/>
            </a:pPr>
            <a:r>
              <a:rPr b="1" i="0" lang="en-US" sz="2000">
                <a:solidFill>
                  <a:schemeClr val="dk1"/>
                </a:solidFill>
                <a:latin typeface="Arial"/>
                <a:ea typeface="Arial"/>
                <a:cs typeface="Arial"/>
                <a:sym typeface="Arial"/>
              </a:rPr>
              <a:t>Primacy and Recency Effects (S</a:t>
            </a:r>
            <a:r>
              <a:rPr b="1" lang="en-US" sz="2000">
                <a:solidFill>
                  <a:schemeClr val="dk1"/>
                </a:solidFill>
                <a:latin typeface="Arial"/>
                <a:ea typeface="Arial"/>
                <a:cs typeface="Arial"/>
                <a:sym typeface="Arial"/>
              </a:rPr>
              <a:t>tudy </a:t>
            </a:r>
            <a:r>
              <a:rPr b="1" i="0" lang="en-US" sz="2000">
                <a:solidFill>
                  <a:schemeClr val="dk1"/>
                </a:solidFill>
                <a:latin typeface="Arial"/>
                <a:ea typeface="Arial"/>
                <a:cs typeface="Arial"/>
                <a:sym typeface="Arial"/>
              </a:rPr>
              <a:t>position)</a:t>
            </a:r>
            <a:endParaRPr sz="2000">
              <a:solidFill>
                <a:schemeClr val="dk1"/>
              </a:solidFill>
              <a:latin typeface="Arial"/>
              <a:ea typeface="Arial"/>
              <a:cs typeface="Arial"/>
              <a:sym typeface="Arial"/>
            </a:endParaRPr>
          </a:p>
          <a:p>
            <a:pPr indent="-171450" lvl="1" marL="171450" marR="0" rtl="0" algn="l">
              <a:lnSpc>
                <a:spcPct val="90000"/>
              </a:lnSpc>
              <a:spcBef>
                <a:spcPts val="7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Analysis by study position shows some primacy and a small amount of recency.</a:t>
            </a:r>
            <a:endParaRPr b="0" i="0" sz="1900" u="none" cap="none" strike="noStrike">
              <a:solidFill>
                <a:schemeClr val="dk1"/>
              </a:solidFill>
              <a:latin typeface="Arial"/>
              <a:ea typeface="Arial"/>
              <a:cs typeface="Arial"/>
              <a:sym typeface="Arial"/>
            </a:endParaRPr>
          </a:p>
        </p:txBody>
      </p:sp>
      <p:sp>
        <p:nvSpPr>
          <p:cNvPr id="467" name="Google Shape;467;p15"/>
          <p:cNvSpPr/>
          <p:nvPr/>
        </p:nvSpPr>
        <p:spPr>
          <a:xfrm>
            <a:off x="7378112" y="2502055"/>
            <a:ext cx="4243116" cy="2367715"/>
          </a:xfrm>
          <a:custGeom>
            <a:rect b="b" l="l" r="r" t="t"/>
            <a:pathLst>
              <a:path extrusionOk="0" h="2893346" w="4243116">
                <a:moveTo>
                  <a:pt x="0" y="0"/>
                </a:moveTo>
                <a:lnTo>
                  <a:pt x="4243116" y="0"/>
                </a:lnTo>
                <a:lnTo>
                  <a:pt x="4243116" y="2893346"/>
                </a:lnTo>
                <a:lnTo>
                  <a:pt x="0" y="2893346"/>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chemeClr val="dk1"/>
              </a:buClr>
              <a:buSzPts val="2400"/>
              <a:buFont typeface="Arial"/>
              <a:buNone/>
            </a:pPr>
            <a:r>
              <a:rPr b="1" i="0" lang="en-US" sz="2400">
                <a:solidFill>
                  <a:schemeClr val="dk1"/>
                </a:solidFill>
                <a:latin typeface="Arial"/>
                <a:ea typeface="Arial"/>
                <a:cs typeface="Arial"/>
                <a:sym typeface="Arial"/>
              </a:rPr>
              <a:t>Output Interference (OI; Test position)</a:t>
            </a:r>
            <a:endParaRPr sz="2400">
              <a:solidFill>
                <a:schemeClr val="dk1"/>
              </a:solidFill>
              <a:latin typeface="Arial"/>
              <a:ea typeface="Arial"/>
              <a:cs typeface="Arial"/>
              <a:sym typeface="Arial"/>
            </a:endParaRPr>
          </a:p>
          <a:p>
            <a:pPr indent="-171450" lvl="1" marL="171450" marR="0" rtl="0" algn="l">
              <a:lnSpc>
                <a:spcPct val="90000"/>
              </a:lnSpc>
              <a:spcBef>
                <a:spcPts val="84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No evidence of OI for the 10 target and 10 foil tests for pictures.</a:t>
            </a:r>
            <a:endParaRPr b="0" i="0" sz="2000" u="none" cap="none" strike="noStrike">
              <a:solidFill>
                <a:schemeClr val="dk1"/>
              </a:solidFill>
              <a:latin typeface="Arial"/>
              <a:ea typeface="Arial"/>
              <a:cs typeface="Arial"/>
              <a:sym typeface="Arial"/>
            </a:endParaRPr>
          </a:p>
          <a:p>
            <a:pPr indent="-171450" lvl="1" marL="1714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Previous research found strong OI for words with more than ten tests.</a:t>
            </a:r>
            <a:endParaRPr/>
          </a:p>
        </p:txBody>
      </p:sp>
      <p:sp>
        <p:nvSpPr>
          <p:cNvPr id="468" name="Google Shape;468;p15"/>
          <p:cNvSpPr/>
          <p:nvPr/>
        </p:nvSpPr>
        <p:spPr>
          <a:xfrm>
            <a:off x="4871038" y="1316814"/>
            <a:ext cx="1131311" cy="1131311"/>
          </a:xfrm>
          <a:prstGeom prst="plus">
            <a:avLst>
              <a:gd fmla="val 32810" name="adj"/>
            </a:avLst>
          </a:prstGeom>
          <a:solidFill>
            <a:schemeClr val="lt1"/>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15"/>
          <p:cNvSpPr/>
          <p:nvPr/>
        </p:nvSpPr>
        <p:spPr>
          <a:xfrm>
            <a:off x="10461047" y="1723661"/>
            <a:ext cx="1064763" cy="36488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70" name="Google Shape;470;p15"/>
          <p:cNvCxnSpPr/>
          <p:nvPr/>
        </p:nvCxnSpPr>
        <p:spPr>
          <a:xfrm>
            <a:off x="7261830" y="2366210"/>
            <a:ext cx="665" cy="2444729"/>
          </a:xfrm>
          <a:prstGeom prst="straightConnector1">
            <a:avLst/>
          </a:prstGeom>
          <a:noFill/>
          <a:ln cap="flat" cmpd="sng" w="19050">
            <a:solidFill>
              <a:schemeClr val="dk1"/>
            </a:solidFill>
            <a:prstDash val="solid"/>
            <a:miter lim="800000"/>
            <a:headEnd len="sm" w="sm" type="none"/>
            <a:tailEnd len="sm" w="sm" type="none"/>
          </a:ln>
        </p:spPr>
      </p:cxnSp>
      <p:grpSp>
        <p:nvGrpSpPr>
          <p:cNvPr id="471" name="Google Shape;471;p15"/>
          <p:cNvGrpSpPr/>
          <p:nvPr/>
        </p:nvGrpSpPr>
        <p:grpSpPr>
          <a:xfrm>
            <a:off x="-105305" y="446575"/>
            <a:ext cx="4860726" cy="4110959"/>
            <a:chOff x="7088534" y="125437"/>
            <a:chExt cx="4977571" cy="4093104"/>
          </a:xfrm>
        </p:grpSpPr>
        <p:pic>
          <p:nvPicPr>
            <p:cNvPr id="472" name="Google Shape;472;p15"/>
            <p:cNvPicPr preferRelativeResize="0"/>
            <p:nvPr/>
          </p:nvPicPr>
          <p:blipFill rotWithShape="1">
            <a:blip r:embed="rId3">
              <a:alphaModFix/>
            </a:blip>
            <a:srcRect b="39628" l="73652" r="2732" t="35921"/>
            <a:stretch/>
          </p:blipFill>
          <p:spPr>
            <a:xfrm>
              <a:off x="10419003" y="3362979"/>
              <a:ext cx="1428750" cy="855562"/>
            </a:xfrm>
            <a:prstGeom prst="rect">
              <a:avLst/>
            </a:prstGeom>
            <a:noFill/>
            <a:ln>
              <a:noFill/>
            </a:ln>
          </p:spPr>
        </p:pic>
        <p:pic>
          <p:nvPicPr>
            <p:cNvPr id="473" name="Google Shape;473;p15"/>
            <p:cNvPicPr preferRelativeResize="0"/>
            <p:nvPr/>
          </p:nvPicPr>
          <p:blipFill rotWithShape="1">
            <a:blip r:embed="rId4">
              <a:alphaModFix/>
            </a:blip>
            <a:srcRect b="0" l="-1491" r="25664" t="0"/>
            <a:stretch/>
          </p:blipFill>
          <p:spPr>
            <a:xfrm>
              <a:off x="7088534" y="125437"/>
              <a:ext cx="4977571" cy="3237542"/>
            </a:xfrm>
            <a:prstGeom prst="rect">
              <a:avLst/>
            </a:prstGeom>
            <a:noFill/>
            <a:ln>
              <a:noFill/>
            </a:ln>
          </p:spPr>
        </p:pic>
      </p:grpSp>
      <p:sp>
        <p:nvSpPr>
          <p:cNvPr id="474" name="Google Shape;474;p15"/>
          <p:cNvSpPr txBox="1"/>
          <p:nvPr/>
        </p:nvSpPr>
        <p:spPr>
          <a:xfrm>
            <a:off x="289435" y="4933751"/>
            <a:ext cx="10988816" cy="1169551"/>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Higher C</a:t>
            </a:r>
            <a:r>
              <a:rPr b="1" i="0" lang="en-US" sz="2000" u="none" cap="none" strike="noStrike">
                <a:solidFill>
                  <a:schemeClr val="dk1"/>
                </a:solidFill>
                <a:latin typeface="Arial"/>
                <a:ea typeface="Arial"/>
                <a:cs typeface="Arial"/>
                <a:sym typeface="Arial"/>
              </a:rPr>
              <a:t>Rs than Hs</a:t>
            </a:r>
            <a:endParaRPr b="0" i="0" sz="2000" u="none" cap="none" strike="noStrike">
              <a:solidFill>
                <a:schemeClr val="dk1"/>
              </a:solidFill>
              <a:latin typeface="Arial"/>
              <a:ea typeface="Arial"/>
              <a:cs typeface="Arial"/>
              <a:sym typeface="Arial"/>
            </a:endParaRPr>
          </a:p>
          <a:p>
            <a:pPr indent="-127000" lvl="1" marL="457200" marR="0" rtl="0" algn="l">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Higher correct responses to foils ('correct rejections' or CRs) than to targets ('hits' or Hs).</a:t>
            </a:r>
            <a:endParaRPr/>
          </a:p>
          <a:p>
            <a:pPr indent="-127000" lvl="1" marL="457200" marR="0" rtl="0" algn="l">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Difference decreases as testing continues.</a:t>
            </a:r>
            <a:endParaRPr/>
          </a:p>
        </p:txBody>
      </p:sp>
      <p:pic>
        <p:nvPicPr>
          <p:cNvPr id="475" name="Google Shape;475;p15"/>
          <p:cNvPicPr preferRelativeResize="0"/>
          <p:nvPr/>
        </p:nvPicPr>
        <p:blipFill rotWithShape="1">
          <a:blip r:embed="rId5">
            <a:alphaModFix/>
          </a:blip>
          <a:srcRect b="0" l="0" r="0" t="0"/>
          <a:stretch/>
        </p:blipFill>
        <p:spPr>
          <a:xfrm>
            <a:off x="5119933" y="3429000"/>
            <a:ext cx="2073488" cy="1551276"/>
          </a:xfrm>
          <a:prstGeom prst="rect">
            <a:avLst/>
          </a:prstGeom>
          <a:noFill/>
          <a:ln>
            <a:noFill/>
          </a:ln>
        </p:spPr>
      </p:pic>
      <p:pic>
        <p:nvPicPr>
          <p:cNvPr id="476" name="Google Shape;476;p15"/>
          <p:cNvPicPr preferRelativeResize="0"/>
          <p:nvPr/>
        </p:nvPicPr>
        <p:blipFill rotWithShape="1">
          <a:blip r:embed="rId5">
            <a:alphaModFix/>
          </a:blip>
          <a:srcRect b="0" l="0" r="0" t="0"/>
          <a:stretch/>
        </p:blipFill>
        <p:spPr>
          <a:xfrm>
            <a:off x="7364661" y="3262330"/>
            <a:ext cx="4144354" cy="1548609"/>
          </a:xfrm>
          <a:prstGeom prst="rect">
            <a:avLst/>
          </a:prstGeom>
          <a:noFill/>
          <a:ln>
            <a:noFill/>
          </a:ln>
        </p:spPr>
      </p:pic>
      <p:sp>
        <p:nvSpPr>
          <p:cNvPr id="477" name="Google Shape;477;p15"/>
          <p:cNvSpPr txBox="1"/>
          <p:nvPr/>
        </p:nvSpPr>
        <p:spPr>
          <a:xfrm>
            <a:off x="4755421" y="174171"/>
            <a:ext cx="73640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Arial"/>
              <a:buNone/>
            </a:pPr>
            <a:r>
              <a:rPr b="1" i="1" lang="en-US" sz="3200">
                <a:solidFill>
                  <a:schemeClr val="dk1"/>
                </a:solidFill>
                <a:latin typeface="Arial"/>
                <a:ea typeface="Arial"/>
                <a:cs typeface="Arial"/>
                <a:sym typeface="Arial"/>
              </a:rPr>
              <a:t>Within list </a:t>
            </a:r>
            <a:r>
              <a:rPr lang="en-US" sz="3200">
                <a:solidFill>
                  <a:schemeClr val="dk1"/>
                </a:solidFill>
                <a:latin typeface="Arial"/>
                <a:ea typeface="Arial"/>
                <a:cs typeface="Arial"/>
                <a:sym typeface="Arial"/>
              </a:rPr>
              <a:t>results during </a:t>
            </a:r>
            <a:r>
              <a:rPr b="1" i="1" lang="en-US" sz="3200">
                <a:solidFill>
                  <a:schemeClr val="dk1"/>
                </a:solidFill>
                <a:latin typeface="Arial"/>
                <a:ea typeface="Arial"/>
                <a:cs typeface="Arial"/>
                <a:sym typeface="Arial"/>
              </a:rPr>
              <a:t>Initial Testing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75"/>
                                        </p:tgtEl>
                                      </p:cBhvr>
                                    </p:animEffect>
                                    <p:set>
                                      <p:cBhvr>
                                        <p:cTn dur="1" fill="hold">
                                          <p:stCondLst>
                                            <p:cond delay="500"/>
                                          </p:stCondLst>
                                        </p:cTn>
                                        <p:tgtEl>
                                          <p:spTgt spid="4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76"/>
                                        </p:tgtEl>
                                      </p:cBhvr>
                                    </p:animEffect>
                                    <p:set>
                                      <p:cBhvr>
                                        <p:cTn dur="1" fill="hold">
                                          <p:stCondLst>
                                            <p:cond delay="500"/>
                                          </p:stCondLst>
                                        </p:cTn>
                                        <p:tgtEl>
                                          <p:spTgt spid="4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6"/>
          <p:cNvSpPr txBox="1"/>
          <p:nvPr>
            <p:ph type="title"/>
          </p:nvPr>
        </p:nvSpPr>
        <p:spPr>
          <a:xfrm>
            <a:off x="20682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Current Model --  Storage During Testing</a:t>
            </a:r>
            <a:endParaRPr/>
          </a:p>
        </p:txBody>
      </p:sp>
      <p:sp>
        <p:nvSpPr>
          <p:cNvPr id="484" name="Google Shape;484;p16"/>
          <p:cNvSpPr txBox="1"/>
          <p:nvPr>
            <p:ph idx="1" type="body"/>
          </p:nvPr>
        </p:nvSpPr>
        <p:spPr>
          <a:xfrm>
            <a:off x="206828" y="1897028"/>
            <a:ext cx="10715625" cy="4708981"/>
          </a:xfrm>
          <a:prstGeom prst="rect">
            <a:avLst/>
          </a:prstGeom>
          <a:noFill/>
          <a:ln>
            <a:noFill/>
          </a:ln>
        </p:spPr>
        <p:txBody>
          <a:bodyPr anchorCtr="0" anchor="ctr" bIns="45700" lIns="91425" spcFirstLastPara="1" rIns="91425" wrap="square" tIns="45700">
            <a:spAutoFit/>
          </a:bodyPr>
          <a:lstStyle/>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Storage of Information During Testing</a:t>
            </a:r>
            <a:endParaRPr b="0" i="0" sz="2000" u="none" cap="none" strike="noStrike">
              <a:solidFill>
                <a:schemeClr val="dk1"/>
              </a:solidFill>
              <a:latin typeface="Arial"/>
              <a:ea typeface="Arial"/>
              <a:cs typeface="Arial"/>
              <a:sym typeface="Arial"/>
            </a:endParaRPr>
          </a:p>
          <a:p>
            <a:pPr indent="-127000" lvl="1" marL="457200" rtl="0" algn="l">
              <a:lnSpc>
                <a:spcPct val="100000"/>
              </a:lnSpc>
              <a:spcBef>
                <a:spcPts val="0"/>
              </a:spcBef>
              <a:spcAft>
                <a:spcPts val="0"/>
              </a:spcAft>
              <a:buClr>
                <a:schemeClr val="dk1"/>
              </a:buClr>
              <a:buSzPts val="2000"/>
              <a:buFont typeface="Arial"/>
              <a:buChar char="•"/>
            </a:pPr>
            <a:r>
              <a:rPr i="0" lang="en-US" sz="2000" u="none" cap="none" strike="noStrike">
                <a:solidFill>
                  <a:schemeClr val="dk1"/>
                </a:solidFill>
                <a:latin typeface="Arial"/>
                <a:ea typeface="Arial"/>
                <a:cs typeface="Arial"/>
                <a:sym typeface="Arial"/>
              </a:rPr>
              <a:t> Tests judged </a:t>
            </a:r>
            <a:r>
              <a:rPr b="1" i="0" lang="en-US" sz="2000" u="none" cap="none" strike="noStrike">
                <a:solidFill>
                  <a:schemeClr val="dk1"/>
                </a:solidFill>
                <a:latin typeface="Arial"/>
                <a:ea typeface="Arial"/>
                <a:cs typeface="Arial"/>
                <a:sym typeface="Arial"/>
              </a:rPr>
              <a:t>NEW</a:t>
            </a:r>
            <a:r>
              <a:rPr b="0" i="0" lang="en-US" sz="2000" u="none" cap="none" strike="noStrike">
                <a:solidFill>
                  <a:schemeClr val="dk1"/>
                </a:solidFill>
                <a:latin typeface="Arial"/>
                <a:ea typeface="Arial"/>
                <a:cs typeface="Arial"/>
                <a:sym typeface="Arial"/>
              </a:rPr>
              <a:t> cause storage of a new trace.</a:t>
            </a:r>
            <a:endParaRPr/>
          </a:p>
          <a:p>
            <a:pPr indent="-127000" lvl="1" marL="457200" rtl="0" algn="l">
              <a:lnSpc>
                <a:spcPct val="100000"/>
              </a:lnSpc>
              <a:spcBef>
                <a:spcPts val="0"/>
              </a:spcBef>
              <a:spcAft>
                <a:spcPts val="0"/>
              </a:spcAft>
              <a:buClr>
                <a:schemeClr val="dk1"/>
              </a:buClr>
              <a:buSzPts val="2000"/>
              <a:buFont typeface="Arial"/>
              <a:buChar char="•"/>
            </a:pPr>
            <a:r>
              <a:rPr b="1" lang="en-US" sz="2000">
                <a:latin typeface="Arial"/>
                <a:ea typeface="Arial"/>
                <a:cs typeface="Arial"/>
                <a:sym typeface="Arial"/>
              </a:rPr>
              <a:t> </a:t>
            </a:r>
            <a:r>
              <a:rPr lang="en-US" sz="2000">
                <a:latin typeface="Arial"/>
                <a:ea typeface="Arial"/>
                <a:cs typeface="Arial"/>
                <a:sym typeface="Arial"/>
              </a:rPr>
              <a:t>Tests judged </a:t>
            </a:r>
            <a:r>
              <a:rPr b="1" i="0" lang="en-US" sz="2000" u="none" cap="none" strike="noStrike">
                <a:solidFill>
                  <a:schemeClr val="dk1"/>
                </a:solidFill>
                <a:latin typeface="Arial"/>
                <a:ea typeface="Arial"/>
                <a:cs typeface="Arial"/>
                <a:sym typeface="Arial"/>
              </a:rPr>
              <a:t>OLD </a:t>
            </a:r>
            <a:r>
              <a:rPr b="0" i="0" lang="en-US" sz="2000" u="none" cap="none" strike="noStrike">
                <a:solidFill>
                  <a:schemeClr val="dk1"/>
                </a:solidFill>
                <a:latin typeface="Arial"/>
                <a:ea typeface="Arial"/>
                <a:cs typeface="Arial"/>
                <a:sym typeface="Arial"/>
              </a:rPr>
              <a:t>often involve trace </a:t>
            </a:r>
            <a:r>
              <a:rPr b="1" i="0" lang="en-US" sz="2000" u="none" cap="none" strike="noStrike">
                <a:solidFill>
                  <a:schemeClr val="dk1"/>
                </a:solidFill>
                <a:latin typeface="Arial"/>
                <a:ea typeface="Arial"/>
                <a:cs typeface="Arial"/>
                <a:sym typeface="Arial"/>
              </a:rPr>
              <a:t>recall</a:t>
            </a:r>
            <a:r>
              <a:rPr b="0" i="0" lang="en-US" sz="2000" u="none" cap="none" strike="noStrike">
                <a:solidFill>
                  <a:schemeClr val="dk1"/>
                </a:solidFill>
                <a:latin typeface="Arial"/>
                <a:ea typeface="Arial"/>
                <a:cs typeface="Arial"/>
                <a:sym typeface="Arial"/>
              </a:rPr>
              <a:t>, which is strengthened by </a:t>
            </a:r>
            <a:r>
              <a:rPr b="1" i="0" lang="en-US" sz="2000" u="none" cap="none" strike="noStrike">
                <a:solidFill>
                  <a:schemeClr val="dk1"/>
                </a:solidFill>
                <a:latin typeface="Arial"/>
                <a:ea typeface="Arial"/>
                <a:cs typeface="Arial"/>
                <a:sym typeface="Arial"/>
              </a:rPr>
              <a:t>adding</a:t>
            </a:r>
            <a:r>
              <a:rPr b="0" i="0" lang="en-US" sz="2000" u="none" cap="none" strike="noStrike">
                <a:solidFill>
                  <a:schemeClr val="dk1"/>
                </a:solidFill>
                <a:latin typeface="Arial"/>
                <a:ea typeface="Arial"/>
                <a:cs typeface="Arial"/>
                <a:sym typeface="Arial"/>
              </a:rPr>
              <a:t> information from the test item </a:t>
            </a:r>
            <a:r>
              <a:rPr lang="en-US" sz="2000">
                <a:latin typeface="Arial"/>
                <a:ea typeface="Arial"/>
                <a:cs typeface="Arial"/>
                <a:sym typeface="Arial"/>
              </a:rPr>
              <a:t>(Criss, Malmberg &amp; Shiffrin, 2011; Kilic, Criss, Malmberg &amp; Shiffrin, 2017)</a:t>
            </a:r>
            <a:r>
              <a:rPr b="0" i="0" lang="en-US" sz="2000" u="none" cap="none" strike="noStrike">
                <a:solidFill>
                  <a:schemeClr val="dk1"/>
                </a:solidFill>
                <a:latin typeface="Arial"/>
                <a:ea typeface="Arial"/>
                <a:cs typeface="Arial"/>
                <a:sym typeface="Arial"/>
              </a:rPr>
              <a:t>.</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REM (1997)</a:t>
            </a:r>
            <a:endParaRPr b="0" i="0" sz="2000" u="none" cap="none" strike="noStrike">
              <a:solidFill>
                <a:schemeClr val="dk1"/>
              </a:solidFill>
              <a:latin typeface="Arial"/>
              <a:ea typeface="Arial"/>
              <a:cs typeface="Arial"/>
              <a:sym typeface="Arial"/>
            </a:endParaRPr>
          </a:p>
          <a:p>
            <a:pPr indent="-127000" lvl="1" marL="45720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Strengthening a trace reduces its similarity to different test items tested later.</a:t>
            </a:r>
            <a:endParaRPr/>
          </a:p>
          <a:p>
            <a:pPr indent="-127000" lvl="1" marL="45720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This shift increases correct rejections and decreases hits for later items.</a:t>
            </a:r>
            <a:endParaRPr/>
          </a:p>
          <a:p>
            <a:pPr indent="0" lvl="1" marL="457200" rtl="0" algn="l">
              <a:lnSpc>
                <a:spcPct val="100000"/>
              </a:lnSpc>
              <a:spcBef>
                <a:spcPts val="0"/>
              </a:spcBef>
              <a:spcAft>
                <a:spcPts val="0"/>
              </a:spcAft>
              <a:buClr>
                <a:schemeClr val="accent1"/>
              </a:buClr>
              <a:buSzPts val="2000"/>
              <a:buNone/>
            </a:pPr>
            <a:r>
              <a:rPr b="0" i="0" lang="en-US" sz="2000" u="none" cap="none" strike="noStrike">
                <a:solidFill>
                  <a:schemeClr val="accent1"/>
                </a:solidFill>
                <a:latin typeface="Arial"/>
                <a:ea typeface="Arial"/>
                <a:cs typeface="Arial"/>
                <a:sym typeface="Arial"/>
              </a:rPr>
              <a:t>🡪 Lower similarity, lower odds, lower Hs, higher CRs </a:t>
            </a:r>
            <a:endParaRPr b="0" i="0" sz="2000" u="none" cap="none" strike="noStrike">
              <a:solidFill>
                <a:schemeClr val="accent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Adding a Filter</a:t>
            </a:r>
            <a:endParaRPr b="0" i="0" sz="2000" u="none" cap="none" strike="noStrike">
              <a:solidFill>
                <a:schemeClr val="dk1"/>
              </a:solidFill>
              <a:latin typeface="Arial"/>
              <a:ea typeface="Arial"/>
              <a:cs typeface="Arial"/>
              <a:sym typeface="Arial"/>
            </a:endParaRPr>
          </a:p>
          <a:p>
            <a:pPr indent="-127000" lvl="1" marL="45720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 filter prevents activation of traces that poorly match the probe in context and content.</a:t>
            </a:r>
            <a:endParaRPr/>
          </a:p>
          <a:p>
            <a:pPr indent="-127000" lvl="1" marL="45720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Strengthened traces become less similar, so the filter tends not to activate them.</a:t>
            </a:r>
            <a:endParaRPr/>
          </a:p>
          <a:p>
            <a:pPr indent="-127000" lvl="1" marL="45720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This could potentially decrease correct rejections, increase hits, and amplifies these effects as testing continues.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485" name="Google Shape;485;p16"/>
          <p:cNvPicPr preferRelativeResize="0"/>
          <p:nvPr/>
        </p:nvPicPr>
        <p:blipFill rotWithShape="1">
          <a:blip r:embed="rId3">
            <a:alphaModFix/>
          </a:blip>
          <a:srcRect b="0" l="-1491" r="25664" t="0"/>
          <a:stretch/>
        </p:blipFill>
        <p:spPr>
          <a:xfrm>
            <a:off x="9247237" y="774894"/>
            <a:ext cx="2737935" cy="18315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0" name="Shape 490"/>
        <p:cNvGrpSpPr/>
        <p:nvPr/>
      </p:nvGrpSpPr>
      <p:grpSpPr>
        <a:xfrm>
          <a:off x="0" y="0"/>
          <a:ext cx="0" cy="0"/>
          <a:chOff x="0" y="0"/>
          <a:chExt cx="0" cy="0"/>
        </a:xfrm>
      </p:grpSpPr>
      <p:sp>
        <p:nvSpPr>
          <p:cNvPr id="491" name="Google Shape;491;p17"/>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2" name="Google Shape;492;p17"/>
          <p:cNvSpPr txBox="1"/>
          <p:nvPr/>
        </p:nvSpPr>
        <p:spPr>
          <a:xfrm>
            <a:off x="489058" y="452841"/>
            <a:ext cx="5233222" cy="120036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i="1" lang="en-US" sz="3600">
                <a:solidFill>
                  <a:schemeClr val="dk1"/>
                </a:solidFill>
                <a:latin typeface="Play"/>
                <a:ea typeface="Play"/>
                <a:cs typeface="Play"/>
                <a:sym typeface="Play"/>
              </a:rPr>
              <a:t>Between-List </a:t>
            </a:r>
            <a:r>
              <a:rPr lang="en-US" sz="3600">
                <a:solidFill>
                  <a:schemeClr val="dk1"/>
                </a:solidFill>
                <a:latin typeface="Play"/>
                <a:ea typeface="Play"/>
                <a:cs typeface="Play"/>
                <a:sym typeface="Play"/>
              </a:rPr>
              <a:t>Results during Initial Testing</a:t>
            </a:r>
            <a:endParaRPr sz="3600">
              <a:solidFill>
                <a:schemeClr val="dk1"/>
              </a:solidFill>
              <a:latin typeface="Play"/>
              <a:ea typeface="Play"/>
              <a:cs typeface="Play"/>
              <a:sym typeface="Play"/>
            </a:endParaRPr>
          </a:p>
        </p:txBody>
      </p:sp>
      <p:sp>
        <p:nvSpPr>
          <p:cNvPr id="493" name="Google Shape;493;p17"/>
          <p:cNvSpPr/>
          <p:nvPr/>
        </p:nvSpPr>
        <p:spPr>
          <a:xfrm flipH="1">
            <a:off x="616533" y="1944913"/>
            <a:ext cx="40233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4" name="Google Shape;494;p17"/>
          <p:cNvSpPr txBox="1"/>
          <p:nvPr/>
        </p:nvSpPr>
        <p:spPr>
          <a:xfrm>
            <a:off x="111828" y="1830682"/>
            <a:ext cx="5456329" cy="4184613"/>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Performance Decline Over Lists</a:t>
            </a:r>
            <a:endParaRPr b="0" i="0" sz="1900" u="none" cap="none" strike="noStrike">
              <a:solidFill>
                <a:schemeClr val="dk1"/>
              </a:solidFill>
              <a:latin typeface="Arial"/>
              <a:ea typeface="Arial"/>
              <a:cs typeface="Arial"/>
              <a:sym typeface="Arial"/>
            </a:endParaRPr>
          </a:p>
          <a:p>
            <a:pPr indent="-228600" lvl="1" marL="457200" marR="0" rtl="0" algn="l">
              <a:lnSpc>
                <a:spcPct val="90000"/>
              </a:lnSpc>
              <a:spcBef>
                <a:spcPts val="6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There is a decrease in Hs.</a:t>
            </a:r>
            <a:endParaRPr/>
          </a:p>
          <a:p>
            <a:pPr indent="-228600" lvl="1" marL="457200" marR="0" rtl="0" algn="l">
              <a:lnSpc>
                <a:spcPct val="90000"/>
              </a:lnSpc>
              <a:spcBef>
                <a:spcPts val="6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 decrease in Hs may be due to the activation of traces from prior lists. (Aligned with Osth and Denis’s work on “context noise” from prior lists)</a:t>
            </a:r>
            <a:endParaRPr/>
          </a:p>
          <a:p>
            <a:pPr indent="-228600" lvl="1" marL="457200" marR="0" rtl="0" algn="l">
              <a:lnSpc>
                <a:spcPct val="90000"/>
              </a:lnSpc>
              <a:spcBef>
                <a:spcPts val="6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 reason this decline is observed only for hits depends on the specifics of how the REM model is extended.</a:t>
            </a:r>
            <a:endParaRPr b="0" i="0" sz="1900" u="none" cap="none" strike="noStrike">
              <a:solidFill>
                <a:schemeClr val="dk1"/>
              </a:solidFill>
              <a:latin typeface="Arial"/>
              <a:ea typeface="Arial"/>
              <a:cs typeface="Arial"/>
              <a:sym typeface="Arial"/>
            </a:endParaRPr>
          </a:p>
          <a:p>
            <a:pPr indent="-342900" lvl="0" marL="342900" marR="0" rtl="0" algn="l">
              <a:lnSpc>
                <a:spcPct val="90000"/>
              </a:lnSpc>
              <a:spcBef>
                <a:spcPts val="60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REM Model Predictions</a:t>
            </a:r>
            <a:endParaRPr b="0" i="0" sz="1900" u="none" cap="none" strike="noStrike">
              <a:solidFill>
                <a:schemeClr val="dk1"/>
              </a:solidFill>
              <a:latin typeface="Arial"/>
              <a:ea typeface="Arial"/>
              <a:cs typeface="Arial"/>
              <a:sym typeface="Arial"/>
            </a:endParaRPr>
          </a:p>
          <a:p>
            <a:pPr indent="-228600" lvl="1" marL="457200" marR="0" rtl="0" algn="l">
              <a:lnSpc>
                <a:spcPct val="90000"/>
              </a:lnSpc>
              <a:spcBef>
                <a:spcPts val="6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REM generally predicts that correct rejections (CRs) will be higher than hits (Hs) on average.</a:t>
            </a:r>
            <a:endParaRPr/>
          </a:p>
        </p:txBody>
      </p:sp>
      <p:sp>
        <p:nvSpPr>
          <p:cNvPr id="495" name="Google Shape;495;p17"/>
          <p:cNvSpPr/>
          <p:nvPr/>
        </p:nvSpPr>
        <p:spPr>
          <a:xfrm rot="5400000">
            <a:off x="-225843" y="6053360"/>
            <a:ext cx="740664" cy="15412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6" name="Google Shape;496;p17"/>
          <p:cNvSpPr/>
          <p:nvPr/>
        </p:nvSpPr>
        <p:spPr>
          <a:xfrm rot="5400000">
            <a:off x="5904923" y="215201"/>
            <a:ext cx="740664" cy="1183349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7" name="Google Shape;497;p17"/>
          <p:cNvSpPr/>
          <p:nvPr/>
        </p:nvSpPr>
        <p:spPr>
          <a:xfrm>
            <a:off x="5696793" y="354959"/>
            <a:ext cx="6184973" cy="591521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98" name="Google Shape;498;p17"/>
          <p:cNvGrpSpPr/>
          <p:nvPr/>
        </p:nvGrpSpPr>
        <p:grpSpPr>
          <a:xfrm>
            <a:off x="5954065" y="1238605"/>
            <a:ext cx="5927701" cy="3915498"/>
            <a:chOff x="5954065" y="1238605"/>
            <a:chExt cx="5927701" cy="3915498"/>
          </a:xfrm>
        </p:grpSpPr>
        <p:pic>
          <p:nvPicPr>
            <p:cNvPr id="499" name="Google Shape;499;p17"/>
            <p:cNvPicPr preferRelativeResize="0"/>
            <p:nvPr/>
          </p:nvPicPr>
          <p:blipFill rotWithShape="1">
            <a:blip r:embed="rId3">
              <a:alphaModFix/>
            </a:blip>
            <a:srcRect b="14161" l="0" r="0" t="0"/>
            <a:stretch/>
          </p:blipFill>
          <p:spPr>
            <a:xfrm>
              <a:off x="5954065" y="1238605"/>
              <a:ext cx="5927701" cy="3560539"/>
            </a:xfrm>
            <a:prstGeom prst="rect">
              <a:avLst/>
            </a:prstGeom>
            <a:noFill/>
            <a:ln>
              <a:noFill/>
            </a:ln>
          </p:spPr>
        </p:pic>
        <p:sp>
          <p:nvSpPr>
            <p:cNvPr id="500" name="Google Shape;500;p17"/>
            <p:cNvSpPr txBox="1"/>
            <p:nvPr/>
          </p:nvSpPr>
          <p:spPr>
            <a:xfrm>
              <a:off x="7747038" y="4846326"/>
              <a:ext cx="20844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List number in initial test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5" name="Shape 505"/>
        <p:cNvGrpSpPr/>
        <p:nvPr/>
      </p:nvGrpSpPr>
      <p:grpSpPr>
        <a:xfrm>
          <a:off x="0" y="0"/>
          <a:ext cx="0" cy="0"/>
          <a:chOff x="0" y="0"/>
          <a:chExt cx="0" cy="0"/>
        </a:xfrm>
      </p:grpSpPr>
      <p:grpSp>
        <p:nvGrpSpPr>
          <p:cNvPr id="506" name="Google Shape;506;p18"/>
          <p:cNvGrpSpPr/>
          <p:nvPr/>
        </p:nvGrpSpPr>
        <p:grpSpPr>
          <a:xfrm>
            <a:off x="145200" y="220600"/>
            <a:ext cx="10967823" cy="3364975"/>
            <a:chOff x="605312" y="448615"/>
            <a:chExt cx="10967823" cy="3364975"/>
          </a:xfrm>
        </p:grpSpPr>
        <p:pic>
          <p:nvPicPr>
            <p:cNvPr descr="Image preview" id="507" name="Google Shape;507;p18"/>
            <p:cNvPicPr preferRelativeResize="0"/>
            <p:nvPr/>
          </p:nvPicPr>
          <p:blipFill rotWithShape="1">
            <a:blip r:embed="rId3">
              <a:alphaModFix/>
            </a:blip>
            <a:srcRect b="13807" l="0" r="27703" t="0"/>
            <a:stretch/>
          </p:blipFill>
          <p:spPr>
            <a:xfrm>
              <a:off x="605312" y="448615"/>
              <a:ext cx="6694824" cy="3364975"/>
            </a:xfrm>
            <a:prstGeom prst="rect">
              <a:avLst/>
            </a:prstGeom>
            <a:noFill/>
            <a:ln>
              <a:noFill/>
            </a:ln>
          </p:spPr>
        </p:pic>
        <p:sp>
          <p:nvSpPr>
            <p:cNvPr id="508" name="Google Shape;508;p18"/>
            <p:cNvSpPr txBox="1"/>
            <p:nvPr/>
          </p:nvSpPr>
          <p:spPr>
            <a:xfrm>
              <a:off x="7248935" y="1954014"/>
              <a:ext cx="4324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rPr>
                <a:t>Hits:</a:t>
              </a:r>
              <a:r>
                <a:rPr lang="en-US" sz="1100">
                  <a:solidFill>
                    <a:schemeClr val="dk1"/>
                  </a:solidFill>
                  <a:latin typeface="Arial"/>
                  <a:ea typeface="Arial"/>
                  <a:cs typeface="Arial"/>
                  <a:sym typeface="Arial"/>
                </a:rPr>
                <a:t>Tested only (previous foil) – Hs</a:t>
              </a:r>
              <a:endParaRPr/>
            </a:p>
          </p:txBody>
        </p:sp>
        <p:sp>
          <p:nvSpPr>
            <p:cNvPr id="509" name="Google Shape;509;p18"/>
            <p:cNvSpPr txBox="1"/>
            <p:nvPr/>
          </p:nvSpPr>
          <p:spPr>
            <a:xfrm>
              <a:off x="7227566" y="2119790"/>
              <a:ext cx="3448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rPr>
                <a:t>Hits </a:t>
              </a:r>
              <a:r>
                <a:rPr lang="en-US" sz="1100">
                  <a:solidFill>
                    <a:schemeClr val="dk1"/>
                  </a:solidFill>
                  <a:latin typeface="Arial"/>
                  <a:ea typeface="Arial"/>
                  <a:cs typeface="Arial"/>
                  <a:sym typeface="Arial"/>
                </a:rPr>
                <a:t>Studied and tested (previous target) - Hs</a:t>
              </a:r>
              <a:endParaRPr/>
            </a:p>
          </p:txBody>
        </p:sp>
        <p:sp>
          <p:nvSpPr>
            <p:cNvPr id="510" name="Google Shape;510;p18"/>
            <p:cNvSpPr txBox="1"/>
            <p:nvPr/>
          </p:nvSpPr>
          <p:spPr>
            <a:xfrm>
              <a:off x="7248961" y="2323440"/>
              <a:ext cx="36555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rPr>
                <a:t>Correct Rejection </a:t>
              </a:r>
              <a:r>
                <a:rPr lang="en-US" sz="1100">
                  <a:solidFill>
                    <a:schemeClr val="dk1"/>
                  </a:solidFill>
                  <a:latin typeface="Arial"/>
                  <a:ea typeface="Arial"/>
                  <a:cs typeface="Arial"/>
                  <a:sym typeface="Arial"/>
                </a:rPr>
                <a:t>Studied only - </a:t>
              </a:r>
              <a:endParaRPr/>
            </a:p>
          </p:txBody>
        </p:sp>
      </p:grpSp>
      <p:sp>
        <p:nvSpPr>
          <p:cNvPr id="511" name="Google Shape;511;p18"/>
          <p:cNvSpPr/>
          <p:nvPr/>
        </p:nvSpPr>
        <p:spPr>
          <a:xfrm>
            <a:off x="4511704" y="2442067"/>
            <a:ext cx="4195202" cy="4195202"/>
          </a:xfrm>
          <a:custGeom>
            <a:rect b="b" l="l" r="r" t="t"/>
            <a:pathLst>
              <a:path extrusionOk="0" h="4195202" w="4195202">
                <a:moveTo>
                  <a:pt x="0" y="2097601"/>
                </a:moveTo>
                <a:cubicBezTo>
                  <a:pt x="0" y="939128"/>
                  <a:pt x="939128" y="0"/>
                  <a:pt x="2097601" y="0"/>
                </a:cubicBezTo>
                <a:cubicBezTo>
                  <a:pt x="3256074" y="0"/>
                  <a:pt x="4195202" y="939128"/>
                  <a:pt x="4195202" y="2097601"/>
                </a:cubicBezTo>
                <a:cubicBezTo>
                  <a:pt x="4195202" y="3256074"/>
                  <a:pt x="3256074" y="4195202"/>
                  <a:pt x="2097601" y="4195202"/>
                </a:cubicBezTo>
                <a:cubicBezTo>
                  <a:pt x="939128" y="4195202"/>
                  <a:pt x="0" y="3256074"/>
                  <a:pt x="0" y="2097601"/>
                </a:cubicBezTo>
                <a:close/>
              </a:path>
            </a:pathLst>
          </a:custGeom>
          <a:solidFill>
            <a:schemeClr val="lt1">
              <a:alpha val="49803"/>
            </a:schemeClr>
          </a:solidFill>
          <a:ln cap="flat" cmpd="sng" w="19050">
            <a:solidFill>
              <a:srgbClr val="1F5C99"/>
            </a:solidFill>
            <a:prstDash val="solid"/>
            <a:miter lim="800000"/>
            <a:headEnd len="sm" w="sm" type="none"/>
            <a:tailEnd len="sm" w="sm" type="none"/>
          </a:ln>
        </p:spPr>
        <p:txBody>
          <a:bodyPr anchorCtr="1" anchor="ctr" bIns="649925" lIns="845225" spcFirstLastPara="1" rIns="845225" wrap="square" tIns="649925">
            <a:noAutofit/>
          </a:bodyPr>
          <a:lstStyle/>
          <a:p>
            <a:pPr indent="0" lvl="0" marL="0" marR="0" rtl="0" algn="l">
              <a:lnSpc>
                <a:spcPct val="90000"/>
              </a:lnSpc>
              <a:spcBef>
                <a:spcPts val="0"/>
              </a:spcBef>
              <a:spcAft>
                <a:spcPts val="0"/>
              </a:spcAft>
              <a:buClr>
                <a:schemeClr val="dk1"/>
              </a:buClr>
              <a:buSzPts val="2800"/>
              <a:buFont typeface="Arial"/>
              <a:buNone/>
            </a:pPr>
            <a:r>
              <a:rPr b="1" i="0" lang="en-US" sz="2800">
                <a:solidFill>
                  <a:schemeClr val="dk1"/>
                </a:solidFill>
                <a:latin typeface="Arial"/>
                <a:ea typeface="Arial"/>
                <a:cs typeface="Arial"/>
                <a:sym typeface="Arial"/>
              </a:rPr>
              <a:t>Initial Study Position</a:t>
            </a:r>
            <a:endParaRPr sz="2800">
              <a:solidFill>
                <a:schemeClr val="dk1"/>
              </a:solidFill>
              <a:latin typeface="Arial"/>
              <a:ea typeface="Arial"/>
              <a:cs typeface="Arial"/>
              <a:sym typeface="Arial"/>
            </a:endParaRPr>
          </a:p>
          <a:p>
            <a:pPr indent="-228600" lvl="1" marL="228600" marR="0" rtl="0" algn="l">
              <a:lnSpc>
                <a:spcPct val="90000"/>
              </a:lnSpc>
              <a:spcBef>
                <a:spcPts val="98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Initial study position has little impact on final testing performance.</a:t>
            </a:r>
            <a:endParaRPr b="0" i="0" sz="2000" u="none" cap="none" strike="noStrike">
              <a:solidFill>
                <a:schemeClr val="dk1"/>
              </a:solidFill>
              <a:latin typeface="Arial"/>
              <a:ea typeface="Arial"/>
              <a:cs typeface="Arial"/>
              <a:sym typeface="Arial"/>
            </a:endParaRPr>
          </a:p>
        </p:txBody>
      </p:sp>
      <p:sp>
        <p:nvSpPr>
          <p:cNvPr id="512" name="Google Shape;512;p18"/>
          <p:cNvSpPr/>
          <p:nvPr/>
        </p:nvSpPr>
        <p:spPr>
          <a:xfrm>
            <a:off x="7867865" y="2442067"/>
            <a:ext cx="4324135" cy="4195202"/>
          </a:xfrm>
          <a:custGeom>
            <a:rect b="b" l="l" r="r" t="t"/>
            <a:pathLst>
              <a:path extrusionOk="0" h="4195202" w="4195202">
                <a:moveTo>
                  <a:pt x="0" y="2097601"/>
                </a:moveTo>
                <a:cubicBezTo>
                  <a:pt x="0" y="939128"/>
                  <a:pt x="939128" y="0"/>
                  <a:pt x="2097601" y="0"/>
                </a:cubicBezTo>
                <a:cubicBezTo>
                  <a:pt x="3256074" y="0"/>
                  <a:pt x="4195202" y="939128"/>
                  <a:pt x="4195202" y="2097601"/>
                </a:cubicBezTo>
                <a:cubicBezTo>
                  <a:pt x="4195202" y="3256074"/>
                  <a:pt x="3256074" y="4195202"/>
                  <a:pt x="2097601" y="4195202"/>
                </a:cubicBezTo>
                <a:cubicBezTo>
                  <a:pt x="939128" y="4195202"/>
                  <a:pt x="0" y="3256074"/>
                  <a:pt x="0" y="2097601"/>
                </a:cubicBezTo>
                <a:close/>
              </a:path>
            </a:pathLst>
          </a:custGeom>
          <a:solidFill>
            <a:schemeClr val="lt1">
              <a:alpha val="49803"/>
            </a:schemeClr>
          </a:solidFill>
          <a:ln cap="flat" cmpd="sng" w="19050">
            <a:solidFill>
              <a:srgbClr val="1F5C99"/>
            </a:solidFill>
            <a:prstDash val="solid"/>
            <a:miter lim="800000"/>
            <a:headEnd len="sm" w="sm" type="none"/>
            <a:tailEnd len="sm" w="sm" type="none"/>
          </a:ln>
        </p:spPr>
        <p:txBody>
          <a:bodyPr anchorCtr="1" anchor="ctr" bIns="644850" lIns="845225" spcFirstLastPara="1" rIns="845225" wrap="square" tIns="644850">
            <a:noAutofit/>
          </a:bodyPr>
          <a:lstStyle/>
          <a:p>
            <a:pPr indent="0" lvl="0" marL="0" marR="0" rtl="0" algn="l">
              <a:lnSpc>
                <a:spcPct val="90000"/>
              </a:lnSpc>
              <a:spcBef>
                <a:spcPts val="0"/>
              </a:spcBef>
              <a:spcAft>
                <a:spcPts val="0"/>
              </a:spcAft>
              <a:buClr>
                <a:schemeClr val="dk1"/>
              </a:buClr>
              <a:buSzPts val="2400"/>
              <a:buFont typeface="Arial"/>
              <a:buNone/>
            </a:pPr>
            <a:r>
              <a:rPr b="1" i="0" lang="en-US" sz="2400">
                <a:solidFill>
                  <a:schemeClr val="dk1"/>
                </a:solidFill>
                <a:latin typeface="Arial"/>
                <a:ea typeface="Arial"/>
                <a:cs typeface="Arial"/>
                <a:sym typeface="Arial"/>
              </a:rPr>
              <a:t>Initial Test position</a:t>
            </a:r>
            <a:endParaRPr sz="2400">
              <a:solidFill>
                <a:schemeClr val="dk1"/>
              </a:solidFill>
              <a:latin typeface="Arial"/>
              <a:ea typeface="Arial"/>
              <a:cs typeface="Arial"/>
              <a:sym typeface="Arial"/>
            </a:endParaRPr>
          </a:p>
          <a:p>
            <a:pPr indent="-171450" lvl="1" marL="171450" marR="0" rtl="0" algn="l">
              <a:lnSpc>
                <a:spcPct val="90000"/>
              </a:lnSpc>
              <a:spcBef>
                <a:spcPts val="84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Items tested later in each list are better recognized in final testing.</a:t>
            </a:r>
            <a:endParaRPr b="0" i="0" sz="1800" u="none" cap="none" strike="noStrike">
              <a:solidFill>
                <a:schemeClr val="dk1"/>
              </a:solidFill>
              <a:latin typeface="Arial"/>
              <a:ea typeface="Arial"/>
              <a:cs typeface="Arial"/>
              <a:sym typeface="Arial"/>
            </a:endParaRPr>
          </a:p>
          <a:p>
            <a:pPr indent="-171450" lvl="1" marL="171450" marR="0" rtl="0" algn="l">
              <a:lnSpc>
                <a:spcPct val="90000"/>
              </a:lnSpc>
              <a:spcBef>
                <a:spcPts val="27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Possible reason: Targets tested later may have a higher chance of recalling their trace due to associations with pictures recalled earlier in testing.</a:t>
            </a:r>
            <a:endParaRPr b="0" i="0" sz="1800" u="none" cap="none" strike="noStrike">
              <a:solidFill>
                <a:schemeClr val="dk1"/>
              </a:solidFill>
              <a:latin typeface="Arial"/>
              <a:ea typeface="Arial"/>
              <a:cs typeface="Arial"/>
              <a:sym typeface="Arial"/>
            </a:endParaRPr>
          </a:p>
        </p:txBody>
      </p:sp>
      <p:sp>
        <p:nvSpPr>
          <p:cNvPr id="513" name="Google Shape;513;p18"/>
          <p:cNvSpPr txBox="1"/>
          <p:nvPr>
            <p:ph type="title"/>
          </p:nvPr>
        </p:nvSpPr>
        <p:spPr>
          <a:xfrm>
            <a:off x="0" y="4287350"/>
            <a:ext cx="4655734" cy="16481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b="1" i="1" lang="en-US" sz="2800"/>
              <a:t>Within-List</a:t>
            </a:r>
            <a:r>
              <a:rPr b="1" lang="en-US" sz="2800"/>
              <a:t> Final test results</a:t>
            </a:r>
            <a:br>
              <a:rPr b="1" lang="en-US" sz="2800"/>
            </a:br>
            <a:br>
              <a:rPr b="1" lang="en-US" sz="2800"/>
            </a:br>
            <a:r>
              <a:rPr lang="en-US" sz="2400">
                <a:latin typeface="Arial"/>
                <a:ea typeface="Arial"/>
                <a:cs typeface="Arial"/>
                <a:sym typeface="Arial"/>
              </a:rPr>
              <a:t>- Averaged across 3 groups</a:t>
            </a:r>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19"/>
          <p:cNvSpPr txBox="1"/>
          <p:nvPr>
            <p:ph type="title"/>
          </p:nvPr>
        </p:nvSpPr>
        <p:spPr>
          <a:xfrm>
            <a:off x="511629" y="60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US" sz="4000"/>
              <a:t>Between-List Final Test Results </a:t>
            </a:r>
            <a:r>
              <a:rPr lang="en-US" sz="4000"/>
              <a:t>(by initial or final test order)</a:t>
            </a:r>
            <a:endParaRPr/>
          </a:p>
        </p:txBody>
      </p:sp>
      <p:pic>
        <p:nvPicPr>
          <p:cNvPr id="520" name="Google Shape;520;p19"/>
          <p:cNvPicPr preferRelativeResize="0"/>
          <p:nvPr>
            <p:ph idx="1" type="body"/>
          </p:nvPr>
        </p:nvPicPr>
        <p:blipFill rotWithShape="1">
          <a:blip r:embed="rId3">
            <a:alphaModFix/>
          </a:blip>
          <a:srcRect b="5521" l="0" r="48256" t="1464"/>
          <a:stretch/>
        </p:blipFill>
        <p:spPr>
          <a:xfrm>
            <a:off x="647601" y="1308837"/>
            <a:ext cx="4504969" cy="5353220"/>
          </a:xfrm>
          <a:prstGeom prst="rect">
            <a:avLst/>
          </a:prstGeom>
          <a:noFill/>
          <a:ln>
            <a:noFill/>
          </a:ln>
        </p:spPr>
      </p:pic>
      <p:sp>
        <p:nvSpPr>
          <p:cNvPr id="521" name="Google Shape;521;p19"/>
          <p:cNvSpPr txBox="1"/>
          <p:nvPr/>
        </p:nvSpPr>
        <p:spPr>
          <a:xfrm>
            <a:off x="5690333" y="3429000"/>
            <a:ext cx="578875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FF0000"/>
                </a:solidFill>
                <a:latin typeface="Arial"/>
                <a:ea typeface="Arial"/>
                <a:cs typeface="Arial"/>
                <a:sym typeface="Arial"/>
              </a:rPr>
              <a:t>Don’t look at the lines here, the plot is just for illustration!!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5" name="Shape 525"/>
        <p:cNvGrpSpPr/>
        <p:nvPr/>
      </p:nvGrpSpPr>
      <p:grpSpPr>
        <a:xfrm>
          <a:off x="0" y="0"/>
          <a:ext cx="0" cy="0"/>
          <a:chOff x="0" y="0"/>
          <a:chExt cx="0" cy="0"/>
        </a:xfrm>
      </p:grpSpPr>
      <p:sp>
        <p:nvSpPr>
          <p:cNvPr id="526" name="Google Shape;526;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7" name="Google Shape;527;p20"/>
          <p:cNvSpPr txBox="1"/>
          <p:nvPr>
            <p:ph type="title"/>
          </p:nvPr>
        </p:nvSpPr>
        <p:spPr>
          <a:xfrm>
            <a:off x="463855" y="1218824"/>
            <a:ext cx="6155988" cy="118292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900"/>
              <a:buFont typeface="Play"/>
              <a:buNone/>
            </a:pPr>
            <a:r>
              <a:rPr i="1" lang="en-US" sz="3900">
                <a:solidFill>
                  <a:schemeClr val="dk1"/>
                </a:solidFill>
                <a:latin typeface="Play"/>
                <a:ea typeface="Play"/>
                <a:cs typeface="Play"/>
                <a:sym typeface="Play"/>
              </a:rPr>
              <a:t>Between List </a:t>
            </a:r>
            <a:r>
              <a:rPr lang="en-US" sz="3900">
                <a:solidFill>
                  <a:schemeClr val="dk1"/>
                </a:solidFill>
                <a:latin typeface="Play"/>
                <a:ea typeface="Play"/>
                <a:cs typeface="Play"/>
                <a:sym typeface="Play"/>
              </a:rPr>
              <a:t>Final Test Result (by initial list position) </a:t>
            </a:r>
            <a:r>
              <a:rPr lang="en-US" sz="3900"/>
              <a:t> </a:t>
            </a:r>
            <a:endParaRPr sz="3900">
              <a:solidFill>
                <a:schemeClr val="dk1"/>
              </a:solidFill>
              <a:latin typeface="Play"/>
              <a:ea typeface="Play"/>
              <a:cs typeface="Play"/>
              <a:sym typeface="Play"/>
            </a:endParaRPr>
          </a:p>
        </p:txBody>
      </p:sp>
      <p:cxnSp>
        <p:nvCxnSpPr>
          <p:cNvPr id="528" name="Google Shape;528;p20"/>
          <p:cNvCxnSpPr/>
          <p:nvPr/>
        </p:nvCxnSpPr>
        <p:spPr>
          <a:xfrm>
            <a:off x="0" y="806470"/>
            <a:ext cx="7903723" cy="0"/>
          </a:xfrm>
          <a:prstGeom prst="straightConnector1">
            <a:avLst/>
          </a:prstGeom>
          <a:noFill/>
          <a:ln cap="sq" cmpd="sng" w="25400">
            <a:solidFill>
              <a:schemeClr val="accent1"/>
            </a:solidFill>
            <a:prstDash val="solid"/>
            <a:bevel/>
            <a:headEnd len="sm" w="sm" type="none"/>
            <a:tailEnd len="sm" w="sm" type="none"/>
          </a:ln>
        </p:spPr>
      </p:cxnSp>
      <p:sp>
        <p:nvSpPr>
          <p:cNvPr id="529" name="Google Shape;529;p20"/>
          <p:cNvSpPr txBox="1"/>
          <p:nvPr>
            <p:ph idx="1" type="body"/>
          </p:nvPr>
        </p:nvSpPr>
        <p:spPr>
          <a:xfrm>
            <a:off x="423286" y="2685638"/>
            <a:ext cx="7099947" cy="383272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b="1" lang="en-US" sz="2000">
                <a:solidFill>
                  <a:schemeClr val="dk1"/>
                </a:solidFill>
              </a:rPr>
              <a:t>Arranging by Initial list position for random condition best shows primacy/recency effect</a:t>
            </a:r>
            <a:endParaRPr/>
          </a:p>
          <a:p>
            <a:pPr indent="-228600" lvl="1" marL="685800" rtl="0" algn="l">
              <a:lnSpc>
                <a:spcPct val="90000"/>
              </a:lnSpc>
              <a:spcBef>
                <a:spcPts val="500"/>
              </a:spcBef>
              <a:spcAft>
                <a:spcPts val="0"/>
              </a:spcAft>
              <a:buClr>
                <a:schemeClr val="dk1"/>
              </a:buClr>
              <a:buSzPts val="2000"/>
              <a:buChar char="•"/>
            </a:pPr>
            <a:r>
              <a:rPr lang="en-US" sz="2000">
                <a:solidFill>
                  <a:schemeClr val="dk1"/>
                </a:solidFill>
              </a:rPr>
              <a:t>Modest primacy and recency effects.</a:t>
            </a:r>
            <a:endParaRPr/>
          </a:p>
          <a:p>
            <a:pPr indent="-228600" lvl="0" marL="228600" rtl="0" algn="l">
              <a:lnSpc>
                <a:spcPct val="90000"/>
              </a:lnSpc>
              <a:spcBef>
                <a:spcPts val="1000"/>
              </a:spcBef>
              <a:spcAft>
                <a:spcPts val="0"/>
              </a:spcAft>
              <a:buClr>
                <a:schemeClr val="dk1"/>
              </a:buClr>
              <a:buSzPts val="2000"/>
              <a:buChar char="•"/>
            </a:pPr>
            <a:r>
              <a:rPr b="1" lang="en-US" sz="2000">
                <a:solidFill>
                  <a:schemeClr val="dk1"/>
                </a:solidFill>
              </a:rPr>
              <a:t>Striking observation</a:t>
            </a:r>
            <a:endParaRPr sz="2000">
              <a:solidFill>
                <a:schemeClr val="dk1"/>
              </a:solidFill>
            </a:endParaRPr>
          </a:p>
          <a:p>
            <a:pPr indent="-228600" lvl="1" marL="742950" rtl="0" algn="l">
              <a:lnSpc>
                <a:spcPct val="90000"/>
              </a:lnSpc>
              <a:spcBef>
                <a:spcPts val="500"/>
              </a:spcBef>
              <a:spcAft>
                <a:spcPts val="0"/>
              </a:spcAft>
              <a:buClr>
                <a:schemeClr val="dk1"/>
              </a:buClr>
              <a:buSzPts val="2000"/>
              <a:buChar char="•"/>
            </a:pPr>
            <a:r>
              <a:rPr lang="en-US" sz="2000">
                <a:solidFill>
                  <a:schemeClr val="dk1"/>
                </a:solidFill>
              </a:rPr>
              <a:t>Pictures </a:t>
            </a:r>
            <a:r>
              <a:rPr i="1" lang="en-US" sz="2000">
                <a:solidFill>
                  <a:schemeClr val="accent1"/>
                </a:solidFill>
              </a:rPr>
              <a:t>studied only </a:t>
            </a:r>
            <a:r>
              <a:rPr lang="en-US" sz="2000">
                <a:solidFill>
                  <a:schemeClr val="dk1"/>
                </a:solidFill>
              </a:rPr>
              <a:t>and </a:t>
            </a:r>
            <a:r>
              <a:rPr i="1" lang="en-US" sz="2000">
                <a:solidFill>
                  <a:schemeClr val="accent1"/>
                </a:solidFill>
              </a:rPr>
              <a:t>tested only </a:t>
            </a:r>
            <a:r>
              <a:rPr lang="en-US" sz="2000">
                <a:solidFill>
                  <a:schemeClr val="dk1"/>
                </a:solidFill>
              </a:rPr>
              <a:t>earlier show similar, poor performance.</a:t>
            </a:r>
            <a:endParaRPr/>
          </a:p>
          <a:p>
            <a:pPr indent="-228600" lvl="1" marL="742950" rtl="0" algn="l">
              <a:lnSpc>
                <a:spcPct val="90000"/>
              </a:lnSpc>
              <a:spcBef>
                <a:spcPts val="500"/>
              </a:spcBef>
              <a:spcAft>
                <a:spcPts val="0"/>
              </a:spcAft>
              <a:buClr>
                <a:schemeClr val="dk1"/>
              </a:buClr>
              <a:buSzPts val="2000"/>
              <a:buChar char="•"/>
            </a:pPr>
            <a:r>
              <a:rPr lang="en-US" sz="2000">
                <a:solidFill>
                  <a:schemeClr val="dk1"/>
                </a:solidFill>
              </a:rPr>
              <a:t>Suggests both produced similar strength traces—one during study, the other during testing.</a:t>
            </a:r>
            <a:endParaRPr/>
          </a:p>
          <a:p>
            <a:pPr indent="-228600" lvl="0" marL="228600" rtl="0" algn="l">
              <a:lnSpc>
                <a:spcPct val="90000"/>
              </a:lnSpc>
              <a:spcBef>
                <a:spcPts val="1000"/>
              </a:spcBef>
              <a:spcAft>
                <a:spcPts val="0"/>
              </a:spcAft>
              <a:buClr>
                <a:schemeClr val="dk1"/>
              </a:buClr>
              <a:buSzPts val="2000"/>
              <a:buChar char="•"/>
            </a:pPr>
            <a:r>
              <a:rPr b="1" lang="en-US" sz="2000">
                <a:solidFill>
                  <a:schemeClr val="dk1"/>
                </a:solidFill>
              </a:rPr>
              <a:t>Superior performance for study and tested</a:t>
            </a:r>
            <a:endParaRPr sz="2000">
              <a:solidFill>
                <a:schemeClr val="dk1"/>
              </a:solidFill>
            </a:endParaRPr>
          </a:p>
          <a:p>
            <a:pPr indent="-228600" lvl="1" marL="742950" rtl="0" algn="l">
              <a:lnSpc>
                <a:spcPct val="90000"/>
              </a:lnSpc>
              <a:spcBef>
                <a:spcPts val="500"/>
              </a:spcBef>
              <a:spcAft>
                <a:spcPts val="0"/>
              </a:spcAft>
              <a:buClr>
                <a:schemeClr val="dk1"/>
              </a:buClr>
              <a:buSzPts val="2000"/>
              <a:buChar char="•"/>
            </a:pPr>
            <a:r>
              <a:rPr lang="en-US" sz="2000">
                <a:solidFill>
                  <a:schemeClr val="dk1"/>
                </a:solidFill>
              </a:rPr>
              <a:t>Items both studied and tested perform much better.</a:t>
            </a:r>
            <a:endParaRPr/>
          </a:p>
          <a:p>
            <a:pPr indent="-228600" lvl="1" marL="742950" rtl="0" algn="l">
              <a:lnSpc>
                <a:spcPct val="90000"/>
              </a:lnSpc>
              <a:spcBef>
                <a:spcPts val="500"/>
              </a:spcBef>
              <a:spcAft>
                <a:spcPts val="0"/>
              </a:spcAft>
              <a:buClr>
                <a:schemeClr val="dk1"/>
              </a:buClr>
              <a:buSzPts val="2000"/>
              <a:buChar char="•"/>
            </a:pPr>
            <a:r>
              <a:rPr lang="en-US" sz="2000">
                <a:solidFill>
                  <a:schemeClr val="dk1"/>
                </a:solidFill>
              </a:rPr>
              <a:t>Likely due to trace storage and strengthening during testing.</a:t>
            </a:r>
            <a:endParaRPr/>
          </a:p>
        </p:txBody>
      </p:sp>
      <p:sp>
        <p:nvSpPr>
          <p:cNvPr id="530" name="Google Shape;530;p20"/>
          <p:cNvSpPr/>
          <p:nvPr/>
        </p:nvSpPr>
        <p:spPr>
          <a:xfrm>
            <a:off x="10924552" y="1899284"/>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1" name="Google Shape;531;p20"/>
          <p:cNvSpPr/>
          <p:nvPr/>
        </p:nvSpPr>
        <p:spPr>
          <a:xfrm>
            <a:off x="11236862" y="2189928"/>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32" name="Google Shape;532;p20"/>
          <p:cNvGrpSpPr/>
          <p:nvPr/>
        </p:nvGrpSpPr>
        <p:grpSpPr>
          <a:xfrm>
            <a:off x="7523233" y="1300781"/>
            <a:ext cx="4279057" cy="3918570"/>
            <a:chOff x="2390775" y="2821205"/>
            <a:chExt cx="4261095" cy="3677976"/>
          </a:xfrm>
        </p:grpSpPr>
        <p:pic>
          <p:nvPicPr>
            <p:cNvPr id="533" name="Google Shape;533;p20"/>
            <p:cNvPicPr preferRelativeResize="0"/>
            <p:nvPr/>
          </p:nvPicPr>
          <p:blipFill rotWithShape="1">
            <a:blip r:embed="rId3">
              <a:alphaModFix/>
            </a:blip>
            <a:srcRect b="15125" l="0" r="40058" t="3596"/>
            <a:stretch/>
          </p:blipFill>
          <p:spPr>
            <a:xfrm>
              <a:off x="2390775" y="2821205"/>
              <a:ext cx="4261095" cy="3389097"/>
            </a:xfrm>
            <a:prstGeom prst="rect">
              <a:avLst/>
            </a:prstGeom>
            <a:noFill/>
            <a:ln>
              <a:noFill/>
            </a:ln>
          </p:spPr>
        </p:pic>
        <p:sp>
          <p:nvSpPr>
            <p:cNvPr id="534" name="Google Shape;534;p20"/>
            <p:cNvSpPr txBox="1"/>
            <p:nvPr/>
          </p:nvSpPr>
          <p:spPr>
            <a:xfrm>
              <a:off x="4040554" y="6210301"/>
              <a:ext cx="1587016" cy="288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Initial List Position</a:t>
              </a:r>
              <a:endParaRPr sz="3600">
                <a:solidFill>
                  <a:schemeClr val="dk1"/>
                </a:solidFill>
                <a:latin typeface="Arial"/>
                <a:ea typeface="Arial"/>
                <a:cs typeface="Arial"/>
                <a:sym typeface="Arial"/>
              </a:endParaRPr>
            </a:p>
          </p:txBody>
        </p:sp>
      </p:grpSp>
      <p:pic>
        <p:nvPicPr>
          <p:cNvPr id="535" name="Google Shape;535;p20"/>
          <p:cNvPicPr preferRelativeResize="0"/>
          <p:nvPr/>
        </p:nvPicPr>
        <p:blipFill rotWithShape="1">
          <a:blip r:embed="rId3">
            <a:alphaModFix/>
          </a:blip>
          <a:srcRect b="36681" l="60205" r="0" t="29685"/>
          <a:stretch/>
        </p:blipFill>
        <p:spPr>
          <a:xfrm>
            <a:off x="9060785" y="5239483"/>
            <a:ext cx="2131798" cy="1056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21"/>
          <p:cNvSpPr/>
          <p:nvPr/>
        </p:nvSpPr>
        <p:spPr>
          <a:xfrm>
            <a:off x="1524"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21"/>
          <p:cNvSpPr/>
          <p:nvPr/>
        </p:nvSpPr>
        <p:spPr>
          <a:xfrm>
            <a:off x="1524" y="0"/>
            <a:ext cx="12188952" cy="6858000"/>
          </a:xfrm>
          <a:prstGeom prst="rect">
            <a:avLst/>
          </a:prstGeom>
          <a:solidFill>
            <a:schemeClr val="lt2">
              <a:alpha val="3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3" name="Google Shape;543;p21"/>
          <p:cNvSpPr/>
          <p:nvPr/>
        </p:nvSpPr>
        <p:spPr>
          <a:xfrm>
            <a:off x="1478324" y="699899"/>
            <a:ext cx="10713676" cy="543331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4" name="Google Shape;544;p21"/>
          <p:cNvSpPr txBox="1"/>
          <p:nvPr>
            <p:ph type="title"/>
          </p:nvPr>
        </p:nvSpPr>
        <p:spPr>
          <a:xfrm>
            <a:off x="422898" y="1145857"/>
            <a:ext cx="5253330" cy="18778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Play"/>
              <a:buNone/>
            </a:pPr>
            <a:r>
              <a:rPr b="1" i="1" lang="en-US" sz="4100"/>
              <a:t>Between-List </a:t>
            </a:r>
            <a:r>
              <a:rPr b="1" lang="en-US" sz="4100"/>
              <a:t>Final Test Result (by final test position)</a:t>
            </a:r>
            <a:endParaRPr sz="4100"/>
          </a:p>
        </p:txBody>
      </p:sp>
      <p:sp>
        <p:nvSpPr>
          <p:cNvPr id="545" name="Google Shape;545;p21"/>
          <p:cNvSpPr txBox="1"/>
          <p:nvPr>
            <p:ph idx="1" type="body"/>
          </p:nvPr>
        </p:nvSpPr>
        <p:spPr>
          <a:xfrm>
            <a:off x="422898" y="3143534"/>
            <a:ext cx="6966442" cy="360724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200"/>
              <a:buChar char="•"/>
            </a:pPr>
            <a:r>
              <a:rPr b="1" i="0" lang="en-US" sz="2200" u="none" cap="none" strike="noStrike"/>
              <a:t>Output Interference (OI)</a:t>
            </a:r>
            <a:endParaRPr b="0" i="0" sz="2200" u="none" cap="none" strike="noStrike"/>
          </a:p>
          <a:p>
            <a:pPr indent="-228600" lvl="1" marL="685800" rtl="0" algn="l">
              <a:lnSpc>
                <a:spcPct val="90000"/>
              </a:lnSpc>
              <a:spcBef>
                <a:spcPts val="0"/>
              </a:spcBef>
              <a:spcAft>
                <a:spcPts val="0"/>
              </a:spcAft>
              <a:buClr>
                <a:schemeClr val="dk1"/>
              </a:buClr>
              <a:buSzPts val="2200"/>
              <a:buChar char="•"/>
            </a:pPr>
            <a:r>
              <a:rPr b="0" i="0" lang="en-US" sz="2200" u="none" cap="none" strike="noStrike"/>
              <a:t>Analysis by final testing position shows output interference (OI), as expected.</a:t>
            </a:r>
            <a:endParaRPr/>
          </a:p>
          <a:p>
            <a:pPr indent="0" lvl="0" marL="0" marR="0" rtl="0" algn="l">
              <a:lnSpc>
                <a:spcPct val="90000"/>
              </a:lnSpc>
              <a:spcBef>
                <a:spcPts val="0"/>
              </a:spcBef>
              <a:spcAft>
                <a:spcPts val="0"/>
              </a:spcAft>
              <a:buClr>
                <a:schemeClr val="dk1"/>
              </a:buClr>
              <a:buSzPts val="2200"/>
              <a:buChar char="•"/>
            </a:pPr>
            <a:r>
              <a:rPr b="1" i="0" lang="en-US" sz="2200" u="none" cap="none" strike="noStrike"/>
              <a:t>Differences in OI</a:t>
            </a:r>
            <a:endParaRPr b="0" i="0" sz="2200" u="none" cap="none" strike="noStrike"/>
          </a:p>
          <a:p>
            <a:pPr indent="-228600" lvl="1" marL="685800" rtl="0" algn="l">
              <a:lnSpc>
                <a:spcPct val="90000"/>
              </a:lnSpc>
              <a:spcBef>
                <a:spcPts val="0"/>
              </a:spcBef>
              <a:spcAft>
                <a:spcPts val="0"/>
              </a:spcAft>
              <a:buClr>
                <a:schemeClr val="dk1"/>
              </a:buClr>
              <a:buSzPts val="2200"/>
              <a:buChar char="•"/>
            </a:pPr>
            <a:r>
              <a:rPr b="0" i="0" lang="en-US" sz="2200" u="none" cap="none" strike="noStrike"/>
              <a:t>Some differences in OI observed between random, forward, and backward conditions.</a:t>
            </a:r>
            <a:endParaRPr/>
          </a:p>
          <a:p>
            <a:pPr indent="-228600" lvl="1" marL="685800" rtl="0" algn="l">
              <a:lnSpc>
                <a:spcPct val="90000"/>
              </a:lnSpc>
              <a:spcBef>
                <a:spcPts val="0"/>
              </a:spcBef>
              <a:spcAft>
                <a:spcPts val="0"/>
              </a:spcAft>
              <a:buClr>
                <a:schemeClr val="dk1"/>
              </a:buClr>
              <a:buSzPts val="2200"/>
              <a:buChar char="•"/>
            </a:pPr>
            <a:r>
              <a:rPr b="0" i="0" lang="en-US" sz="2200" u="none" cap="none" strike="noStrike"/>
              <a:t>These differences might suggest the use of different context cues in each condition.</a:t>
            </a:r>
            <a:endParaRPr/>
          </a:p>
          <a:p>
            <a:pPr indent="0" lvl="0" marL="0" marR="0" rtl="0" algn="l">
              <a:lnSpc>
                <a:spcPct val="90000"/>
              </a:lnSpc>
              <a:spcBef>
                <a:spcPts val="0"/>
              </a:spcBef>
              <a:spcAft>
                <a:spcPts val="0"/>
              </a:spcAft>
              <a:buClr>
                <a:schemeClr val="dk1"/>
              </a:buClr>
              <a:buSzPts val="2200"/>
              <a:buChar char="•"/>
            </a:pPr>
            <a:r>
              <a:rPr b="1" i="0" lang="en-US" sz="2200" u="none" cap="none" strike="noStrike"/>
              <a:t>Need for Further Modeling</a:t>
            </a:r>
            <a:endParaRPr b="0" i="0" sz="2200" u="none" cap="none" strike="noStrike"/>
          </a:p>
          <a:p>
            <a:pPr indent="-228600" lvl="1" marL="685800" rtl="0" algn="l">
              <a:lnSpc>
                <a:spcPct val="90000"/>
              </a:lnSpc>
              <a:spcBef>
                <a:spcPts val="0"/>
              </a:spcBef>
              <a:spcAft>
                <a:spcPts val="0"/>
              </a:spcAft>
              <a:buClr>
                <a:schemeClr val="dk1"/>
              </a:buClr>
              <a:buSzPts val="2200"/>
              <a:buChar char="•"/>
            </a:pPr>
            <a:r>
              <a:rPr b="0" i="0" lang="en-US" sz="2200" u="none" cap="none" strike="noStrike"/>
              <a:t>The existence and significance of these effects require careful modeling to be established.</a:t>
            </a:r>
            <a:endParaRPr/>
          </a:p>
        </p:txBody>
      </p:sp>
      <p:cxnSp>
        <p:nvCxnSpPr>
          <p:cNvPr id="546" name="Google Shape;546;p21"/>
          <p:cNvCxnSpPr/>
          <p:nvPr/>
        </p:nvCxnSpPr>
        <p:spPr>
          <a:xfrm rot="10800000">
            <a:off x="11365990" y="5610"/>
            <a:ext cx="0" cy="6858000"/>
          </a:xfrm>
          <a:prstGeom prst="straightConnector1">
            <a:avLst/>
          </a:prstGeom>
          <a:noFill/>
          <a:ln cap="rnd" cmpd="sng" w="9525">
            <a:solidFill>
              <a:schemeClr val="accent1"/>
            </a:solidFill>
            <a:prstDash val="dash"/>
            <a:miter lim="800000"/>
            <a:headEnd len="sm" w="sm" type="none"/>
            <a:tailEnd len="sm" w="sm" type="none"/>
          </a:ln>
        </p:spPr>
      </p:cxnSp>
      <p:cxnSp>
        <p:nvCxnSpPr>
          <p:cNvPr id="547" name="Google Shape;547;p21"/>
          <p:cNvCxnSpPr/>
          <p:nvPr/>
        </p:nvCxnSpPr>
        <p:spPr>
          <a:xfrm>
            <a:off x="0" y="6151930"/>
            <a:ext cx="12192000" cy="0"/>
          </a:xfrm>
          <a:prstGeom prst="straightConnector1">
            <a:avLst/>
          </a:prstGeom>
          <a:noFill/>
          <a:ln cap="rnd" cmpd="sng" w="9525">
            <a:solidFill>
              <a:schemeClr val="accent1"/>
            </a:solidFill>
            <a:prstDash val="dash"/>
            <a:miter lim="800000"/>
            <a:headEnd len="sm" w="sm" type="none"/>
            <a:tailEnd len="sm" w="sm" type="none"/>
          </a:ln>
        </p:spPr>
      </p:cxnSp>
      <p:grpSp>
        <p:nvGrpSpPr>
          <p:cNvPr id="548" name="Google Shape;548;p21"/>
          <p:cNvGrpSpPr/>
          <p:nvPr/>
        </p:nvGrpSpPr>
        <p:grpSpPr>
          <a:xfrm>
            <a:off x="5460533" y="746381"/>
            <a:ext cx="2343305" cy="1026729"/>
            <a:chOff x="196221" y="6237985"/>
            <a:chExt cx="2343305" cy="1026729"/>
          </a:xfrm>
        </p:grpSpPr>
        <p:pic>
          <p:nvPicPr>
            <p:cNvPr id="549" name="Google Shape;549;p21"/>
            <p:cNvPicPr preferRelativeResize="0"/>
            <p:nvPr/>
          </p:nvPicPr>
          <p:blipFill rotWithShape="1">
            <a:blip r:embed="rId3">
              <a:alphaModFix/>
            </a:blip>
            <a:srcRect b="52700" l="59815" r="955" t="37505"/>
            <a:stretch/>
          </p:blipFill>
          <p:spPr>
            <a:xfrm>
              <a:off x="196221" y="6237985"/>
              <a:ext cx="2310958" cy="533775"/>
            </a:xfrm>
            <a:prstGeom prst="rect">
              <a:avLst/>
            </a:prstGeom>
            <a:noFill/>
            <a:ln>
              <a:noFill/>
            </a:ln>
          </p:spPr>
        </p:pic>
        <p:pic>
          <p:nvPicPr>
            <p:cNvPr id="550" name="Google Shape;550;p21"/>
            <p:cNvPicPr preferRelativeResize="0"/>
            <p:nvPr/>
          </p:nvPicPr>
          <p:blipFill rotWithShape="1">
            <a:blip r:embed="rId3">
              <a:alphaModFix/>
            </a:blip>
            <a:srcRect b="44179" l="59813" r="407" t="47458"/>
            <a:stretch/>
          </p:blipFill>
          <p:spPr>
            <a:xfrm>
              <a:off x="196221" y="6809066"/>
              <a:ext cx="2343305" cy="455648"/>
            </a:xfrm>
            <a:prstGeom prst="rect">
              <a:avLst/>
            </a:prstGeom>
            <a:noFill/>
            <a:ln>
              <a:noFill/>
            </a:ln>
          </p:spPr>
        </p:pic>
      </p:grpSp>
      <p:grpSp>
        <p:nvGrpSpPr>
          <p:cNvPr id="551" name="Google Shape;551;p21"/>
          <p:cNvGrpSpPr/>
          <p:nvPr/>
        </p:nvGrpSpPr>
        <p:grpSpPr>
          <a:xfrm>
            <a:off x="7736058" y="699899"/>
            <a:ext cx="3508717" cy="5446238"/>
            <a:chOff x="7736058" y="699899"/>
            <a:chExt cx="3508717" cy="5446238"/>
          </a:xfrm>
        </p:grpSpPr>
        <p:grpSp>
          <p:nvGrpSpPr>
            <p:cNvPr id="552" name="Google Shape;552;p21"/>
            <p:cNvGrpSpPr/>
            <p:nvPr/>
          </p:nvGrpSpPr>
          <p:grpSpPr>
            <a:xfrm>
              <a:off x="8156111" y="3226895"/>
              <a:ext cx="2668371" cy="393119"/>
              <a:chOff x="838196" y="6171638"/>
              <a:chExt cx="4032739" cy="594125"/>
            </a:xfrm>
          </p:grpSpPr>
          <p:pic>
            <p:nvPicPr>
              <p:cNvPr id="553" name="Google Shape;553;p21"/>
              <p:cNvPicPr preferRelativeResize="0"/>
              <p:nvPr/>
            </p:nvPicPr>
            <p:blipFill rotWithShape="1">
              <a:blip r:embed="rId3">
                <a:alphaModFix/>
              </a:blip>
              <a:srcRect b="52700" l="59815" r="955" t="37505"/>
              <a:stretch/>
            </p:blipFill>
            <p:spPr>
              <a:xfrm>
                <a:off x="838196" y="6171638"/>
                <a:ext cx="2310958" cy="533775"/>
              </a:xfrm>
              <a:prstGeom prst="rect">
                <a:avLst/>
              </a:prstGeom>
              <a:noFill/>
              <a:ln>
                <a:noFill/>
              </a:ln>
            </p:spPr>
          </p:pic>
          <p:pic>
            <p:nvPicPr>
              <p:cNvPr id="554" name="Google Shape;554;p21"/>
              <p:cNvPicPr preferRelativeResize="0"/>
              <p:nvPr/>
            </p:nvPicPr>
            <p:blipFill rotWithShape="1">
              <a:blip r:embed="rId3">
                <a:alphaModFix/>
              </a:blip>
              <a:srcRect b="44179" l="59813" r="407" t="47458"/>
              <a:stretch/>
            </p:blipFill>
            <p:spPr>
              <a:xfrm>
                <a:off x="2527630" y="6310115"/>
                <a:ext cx="2343305" cy="455648"/>
              </a:xfrm>
              <a:prstGeom prst="rect">
                <a:avLst/>
              </a:prstGeom>
              <a:noFill/>
              <a:ln>
                <a:noFill/>
              </a:ln>
            </p:spPr>
          </p:pic>
        </p:grpSp>
        <p:grpSp>
          <p:nvGrpSpPr>
            <p:cNvPr id="555" name="Google Shape;555;p21"/>
            <p:cNvGrpSpPr/>
            <p:nvPr/>
          </p:nvGrpSpPr>
          <p:grpSpPr>
            <a:xfrm>
              <a:off x="7736058" y="699899"/>
              <a:ext cx="3508717" cy="5446238"/>
              <a:chOff x="7616523" y="0"/>
              <a:chExt cx="4346287" cy="6746302"/>
            </a:xfrm>
          </p:grpSpPr>
          <p:sp>
            <p:nvSpPr>
              <p:cNvPr id="556" name="Google Shape;556;p21"/>
              <p:cNvSpPr txBox="1"/>
              <p:nvPr/>
            </p:nvSpPr>
            <p:spPr>
              <a:xfrm>
                <a:off x="9338304" y="6438525"/>
                <a:ext cx="15905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20">
                    <a:solidFill>
                      <a:schemeClr val="dk1"/>
                    </a:solidFill>
                    <a:latin typeface="Arial"/>
                    <a:ea typeface="Arial"/>
                    <a:cs typeface="Arial"/>
                    <a:sym typeface="Arial"/>
                  </a:rPr>
                  <a:t>Final Test Position</a:t>
                </a:r>
                <a:endParaRPr sz="1400">
                  <a:solidFill>
                    <a:schemeClr val="dk1"/>
                  </a:solidFill>
                  <a:latin typeface="Arial"/>
                  <a:ea typeface="Arial"/>
                  <a:cs typeface="Arial"/>
                  <a:sym typeface="Arial"/>
                </a:endParaRPr>
              </a:p>
            </p:txBody>
          </p:sp>
          <p:pic>
            <p:nvPicPr>
              <p:cNvPr id="557" name="Google Shape;557;p21"/>
              <p:cNvPicPr preferRelativeResize="0"/>
              <p:nvPr/>
            </p:nvPicPr>
            <p:blipFill rotWithShape="1">
              <a:blip r:embed="rId4">
                <a:alphaModFix/>
              </a:blip>
              <a:srcRect b="0" l="0" r="0" t="0"/>
              <a:stretch/>
            </p:blipFill>
            <p:spPr>
              <a:xfrm>
                <a:off x="7616523" y="0"/>
                <a:ext cx="4346287" cy="6486996"/>
              </a:xfrm>
              <a:prstGeom prst="rect">
                <a:avLst/>
              </a:prstGeom>
              <a:noFill/>
              <a:ln>
                <a:noFill/>
              </a:ln>
            </p:spPr>
          </p:pic>
        </p:grpSp>
        <p:sp>
          <p:nvSpPr>
            <p:cNvPr id="558" name="Google Shape;558;p21"/>
            <p:cNvSpPr txBox="1"/>
            <p:nvPr/>
          </p:nvSpPr>
          <p:spPr>
            <a:xfrm>
              <a:off x="8404417" y="3638727"/>
              <a:ext cx="1973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Arial"/>
                  <a:ea typeface="Arial"/>
                  <a:cs typeface="Arial"/>
                  <a:sym typeface="Arial"/>
                </a:rPr>
                <a:t>List 10, 9, …., 2, 1</a:t>
              </a:r>
              <a:endParaRPr sz="1800">
                <a:solidFill>
                  <a:srgbClr val="7F7F7F"/>
                </a:solidFill>
                <a:latin typeface="Arial"/>
                <a:ea typeface="Arial"/>
                <a:cs typeface="Arial"/>
                <a:sym typeface="Arial"/>
              </a:endParaRPr>
            </a:p>
          </p:txBody>
        </p:sp>
        <p:sp>
          <p:nvSpPr>
            <p:cNvPr id="559" name="Google Shape;559;p21"/>
            <p:cNvSpPr txBox="1"/>
            <p:nvPr/>
          </p:nvSpPr>
          <p:spPr>
            <a:xfrm>
              <a:off x="8404417" y="5402769"/>
              <a:ext cx="1861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Arial"/>
                  <a:ea typeface="Arial"/>
                  <a:cs typeface="Arial"/>
                  <a:sym typeface="Arial"/>
                </a:rPr>
                <a:t>List 1,2, …., 9, 10</a:t>
              </a:r>
              <a:endParaRPr sz="1800">
                <a:solidFill>
                  <a:srgbClr val="7F7F7F"/>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Conclusion</a:t>
            </a:r>
            <a:endParaRPr/>
          </a:p>
        </p:txBody>
      </p:sp>
      <p:sp>
        <p:nvSpPr>
          <p:cNvPr id="566" name="Google Shape;566;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Building a Model of Context</a:t>
            </a:r>
            <a:endParaRPr/>
          </a:p>
          <a:p>
            <a:pPr indent="-285750" lvl="1" marL="742950" rtl="0" algn="l">
              <a:lnSpc>
                <a:spcPct val="90000"/>
              </a:lnSpc>
              <a:spcBef>
                <a:spcPts val="500"/>
              </a:spcBef>
              <a:spcAft>
                <a:spcPts val="0"/>
              </a:spcAft>
              <a:buClr>
                <a:schemeClr val="dk1"/>
              </a:buClr>
              <a:buSzPts val="2400"/>
              <a:buFont typeface="Arial"/>
              <a:buChar char="•"/>
            </a:pPr>
            <a:r>
              <a:rPr lang="en-US"/>
              <a:t>The experiments provide crucial data for building and refining our model of context.</a:t>
            </a:r>
            <a:endParaRPr/>
          </a:p>
          <a:p>
            <a:pPr indent="-285750" lvl="1" marL="742950" rtl="0" algn="l">
              <a:lnSpc>
                <a:spcPct val="90000"/>
              </a:lnSpc>
              <a:spcBef>
                <a:spcPts val="500"/>
              </a:spcBef>
              <a:spcAft>
                <a:spcPts val="0"/>
              </a:spcAft>
              <a:buClr>
                <a:schemeClr val="dk1"/>
              </a:buClr>
              <a:buSzPts val="2400"/>
              <a:buFont typeface="Arial"/>
              <a:buChar char="•"/>
            </a:pPr>
            <a:r>
              <a:rPr lang="en-US"/>
              <a:t>Whether using the REM model or another framework, these findings are instrumental.</a:t>
            </a:r>
            <a:endParaRPr/>
          </a:p>
          <a:p>
            <a:pPr indent="-228600" lvl="0" marL="228600" rtl="0" algn="l">
              <a:lnSpc>
                <a:spcPct val="90000"/>
              </a:lnSpc>
              <a:spcBef>
                <a:spcPts val="1000"/>
              </a:spcBef>
              <a:spcAft>
                <a:spcPts val="0"/>
              </a:spcAft>
              <a:buClr>
                <a:schemeClr val="dk1"/>
              </a:buClr>
              <a:buSzPts val="2800"/>
              <a:buChar char="•"/>
            </a:pPr>
            <a:r>
              <a:rPr b="1" lang="en-US"/>
              <a:t>Experiment Design</a:t>
            </a:r>
            <a:endParaRPr/>
          </a:p>
          <a:p>
            <a:pPr indent="-285750" lvl="1" marL="742950" rtl="0" algn="l">
              <a:lnSpc>
                <a:spcPct val="90000"/>
              </a:lnSpc>
              <a:spcBef>
                <a:spcPts val="500"/>
              </a:spcBef>
              <a:spcAft>
                <a:spcPts val="0"/>
              </a:spcAft>
              <a:buClr>
                <a:schemeClr val="dk1"/>
              </a:buClr>
              <a:buSzPts val="2400"/>
              <a:buFont typeface="Arial"/>
              <a:buChar char="•"/>
            </a:pPr>
            <a:r>
              <a:rPr lang="en-US"/>
              <a:t>The experiments are meticulously designed to enhance our understanding of context in memory storage and retrieval.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descr="Image preview" id="571" name="Google Shape;571;p23"/>
          <p:cNvPicPr preferRelativeResize="0"/>
          <p:nvPr>
            <p:ph idx="1" type="body"/>
          </p:nvPr>
        </p:nvPicPr>
        <p:blipFill rotWithShape="1">
          <a:blip r:embed="rId3">
            <a:alphaModFix/>
          </a:blip>
          <a:srcRect b="0" l="0" r="0" t="0"/>
          <a:stretch/>
        </p:blipFill>
        <p:spPr>
          <a:xfrm>
            <a:off x="2996449" y="884320"/>
            <a:ext cx="3760914" cy="5508814"/>
          </a:xfrm>
          <a:prstGeom prst="rect">
            <a:avLst/>
          </a:prstGeom>
          <a:noFill/>
          <a:ln>
            <a:noFill/>
          </a:ln>
        </p:spPr>
      </p:pic>
      <p:grpSp>
        <p:nvGrpSpPr>
          <p:cNvPr id="572" name="Google Shape;572;p23"/>
          <p:cNvGrpSpPr/>
          <p:nvPr/>
        </p:nvGrpSpPr>
        <p:grpSpPr>
          <a:xfrm>
            <a:off x="7736058" y="699899"/>
            <a:ext cx="3508717" cy="5446238"/>
            <a:chOff x="7736058" y="699899"/>
            <a:chExt cx="3508717" cy="5446238"/>
          </a:xfrm>
        </p:grpSpPr>
        <p:grpSp>
          <p:nvGrpSpPr>
            <p:cNvPr id="573" name="Google Shape;573;p23"/>
            <p:cNvGrpSpPr/>
            <p:nvPr/>
          </p:nvGrpSpPr>
          <p:grpSpPr>
            <a:xfrm>
              <a:off x="8156111" y="3226895"/>
              <a:ext cx="2668371" cy="393119"/>
              <a:chOff x="838196" y="6171638"/>
              <a:chExt cx="4032739" cy="594125"/>
            </a:xfrm>
          </p:grpSpPr>
          <p:pic>
            <p:nvPicPr>
              <p:cNvPr id="574" name="Google Shape;574;p23"/>
              <p:cNvPicPr preferRelativeResize="0"/>
              <p:nvPr/>
            </p:nvPicPr>
            <p:blipFill rotWithShape="1">
              <a:blip r:embed="rId4">
                <a:alphaModFix/>
              </a:blip>
              <a:srcRect b="52700" l="59815" r="955" t="37505"/>
              <a:stretch/>
            </p:blipFill>
            <p:spPr>
              <a:xfrm>
                <a:off x="838196" y="6171638"/>
                <a:ext cx="2310958" cy="533775"/>
              </a:xfrm>
              <a:prstGeom prst="rect">
                <a:avLst/>
              </a:prstGeom>
              <a:noFill/>
              <a:ln>
                <a:noFill/>
              </a:ln>
            </p:spPr>
          </p:pic>
          <p:pic>
            <p:nvPicPr>
              <p:cNvPr id="575" name="Google Shape;575;p23"/>
              <p:cNvPicPr preferRelativeResize="0"/>
              <p:nvPr/>
            </p:nvPicPr>
            <p:blipFill rotWithShape="1">
              <a:blip r:embed="rId4">
                <a:alphaModFix/>
              </a:blip>
              <a:srcRect b="44179" l="59813" r="407" t="47458"/>
              <a:stretch/>
            </p:blipFill>
            <p:spPr>
              <a:xfrm>
                <a:off x="2527630" y="6310115"/>
                <a:ext cx="2343305" cy="455648"/>
              </a:xfrm>
              <a:prstGeom prst="rect">
                <a:avLst/>
              </a:prstGeom>
              <a:noFill/>
              <a:ln>
                <a:noFill/>
              </a:ln>
            </p:spPr>
          </p:pic>
        </p:grpSp>
        <p:grpSp>
          <p:nvGrpSpPr>
            <p:cNvPr id="576" name="Google Shape;576;p23"/>
            <p:cNvGrpSpPr/>
            <p:nvPr/>
          </p:nvGrpSpPr>
          <p:grpSpPr>
            <a:xfrm>
              <a:off x="7736058" y="699899"/>
              <a:ext cx="3508717" cy="5446238"/>
              <a:chOff x="7616523" y="0"/>
              <a:chExt cx="4346287" cy="6746302"/>
            </a:xfrm>
          </p:grpSpPr>
          <p:sp>
            <p:nvSpPr>
              <p:cNvPr id="577" name="Google Shape;577;p23"/>
              <p:cNvSpPr txBox="1"/>
              <p:nvPr/>
            </p:nvSpPr>
            <p:spPr>
              <a:xfrm>
                <a:off x="9338304" y="6438525"/>
                <a:ext cx="15905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20">
                    <a:solidFill>
                      <a:schemeClr val="dk1"/>
                    </a:solidFill>
                    <a:latin typeface="Arial"/>
                    <a:ea typeface="Arial"/>
                    <a:cs typeface="Arial"/>
                    <a:sym typeface="Arial"/>
                  </a:rPr>
                  <a:t>Final Test Position</a:t>
                </a:r>
                <a:endParaRPr sz="1400">
                  <a:solidFill>
                    <a:schemeClr val="dk1"/>
                  </a:solidFill>
                  <a:latin typeface="Arial"/>
                  <a:ea typeface="Arial"/>
                  <a:cs typeface="Arial"/>
                  <a:sym typeface="Arial"/>
                </a:endParaRPr>
              </a:p>
            </p:txBody>
          </p:sp>
          <p:pic>
            <p:nvPicPr>
              <p:cNvPr id="578" name="Google Shape;578;p23"/>
              <p:cNvPicPr preferRelativeResize="0"/>
              <p:nvPr/>
            </p:nvPicPr>
            <p:blipFill rotWithShape="1">
              <a:blip r:embed="rId5">
                <a:alphaModFix/>
              </a:blip>
              <a:srcRect b="0" l="0" r="0" t="0"/>
              <a:stretch/>
            </p:blipFill>
            <p:spPr>
              <a:xfrm>
                <a:off x="7616523" y="0"/>
                <a:ext cx="4346287" cy="6486996"/>
              </a:xfrm>
              <a:prstGeom prst="rect">
                <a:avLst/>
              </a:prstGeom>
              <a:noFill/>
              <a:ln>
                <a:noFill/>
              </a:ln>
            </p:spPr>
          </p:pic>
        </p:grpSp>
        <p:sp>
          <p:nvSpPr>
            <p:cNvPr id="579" name="Google Shape;579;p23"/>
            <p:cNvSpPr txBox="1"/>
            <p:nvPr/>
          </p:nvSpPr>
          <p:spPr>
            <a:xfrm>
              <a:off x="8404417" y="3638727"/>
              <a:ext cx="1973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Arial"/>
                  <a:ea typeface="Arial"/>
                  <a:cs typeface="Arial"/>
                  <a:sym typeface="Arial"/>
                </a:rPr>
                <a:t>List 10, 9, …., 2, 1</a:t>
              </a:r>
              <a:endParaRPr sz="1800">
                <a:solidFill>
                  <a:srgbClr val="7F7F7F"/>
                </a:solidFill>
                <a:latin typeface="Arial"/>
                <a:ea typeface="Arial"/>
                <a:cs typeface="Arial"/>
                <a:sym typeface="Arial"/>
              </a:endParaRPr>
            </a:p>
          </p:txBody>
        </p:sp>
        <p:sp>
          <p:nvSpPr>
            <p:cNvPr id="580" name="Google Shape;580;p23"/>
            <p:cNvSpPr txBox="1"/>
            <p:nvPr/>
          </p:nvSpPr>
          <p:spPr>
            <a:xfrm>
              <a:off x="8404417" y="5402769"/>
              <a:ext cx="1861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Arial"/>
                  <a:ea typeface="Arial"/>
                  <a:cs typeface="Arial"/>
                  <a:sym typeface="Arial"/>
                </a:rPr>
                <a:t>List 1,2, …., 9, 10</a:t>
              </a:r>
              <a:endParaRPr sz="1800">
                <a:solidFill>
                  <a:srgbClr val="7F7F7F"/>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Model result</a:t>
            </a:r>
            <a:endParaRPr/>
          </a:p>
        </p:txBody>
      </p:sp>
      <p:pic>
        <p:nvPicPr>
          <p:cNvPr descr="Image preview" id="587" name="Google Shape;587;p24"/>
          <p:cNvPicPr preferRelativeResize="0"/>
          <p:nvPr>
            <p:ph idx="1" type="body"/>
          </p:nvPr>
        </p:nvPicPr>
        <p:blipFill rotWithShape="1">
          <a:blip r:embed="rId3">
            <a:alphaModFix/>
          </a:blip>
          <a:srcRect b="0" l="0" r="0" t="0"/>
          <a:stretch/>
        </p:blipFill>
        <p:spPr>
          <a:xfrm>
            <a:off x="886158" y="1857375"/>
            <a:ext cx="4234784" cy="4351338"/>
          </a:xfrm>
          <a:prstGeom prst="rect">
            <a:avLst/>
          </a:prstGeom>
          <a:noFill/>
          <a:ln>
            <a:noFill/>
          </a:ln>
        </p:spPr>
      </p:pic>
      <p:pic>
        <p:nvPicPr>
          <p:cNvPr descr="Image preview" id="588" name="Google Shape;588;p24"/>
          <p:cNvPicPr preferRelativeResize="0"/>
          <p:nvPr/>
        </p:nvPicPr>
        <p:blipFill rotWithShape="1">
          <a:blip r:embed="rId4">
            <a:alphaModFix/>
          </a:blip>
          <a:srcRect b="0" l="0" r="0" t="0"/>
          <a:stretch/>
        </p:blipFill>
        <p:spPr>
          <a:xfrm>
            <a:off x="4573833" y="690370"/>
            <a:ext cx="6908897" cy="2606129"/>
          </a:xfrm>
          <a:prstGeom prst="rect">
            <a:avLst/>
          </a:prstGeom>
          <a:noFill/>
          <a:ln>
            <a:noFill/>
          </a:ln>
        </p:spPr>
      </p:pic>
      <p:pic>
        <p:nvPicPr>
          <p:cNvPr id="589" name="Google Shape;589;p24"/>
          <p:cNvPicPr preferRelativeResize="0"/>
          <p:nvPr/>
        </p:nvPicPr>
        <p:blipFill rotWithShape="1">
          <a:blip r:embed="rId5">
            <a:alphaModFix/>
          </a:blip>
          <a:srcRect b="0" l="0" r="0" t="0"/>
          <a:stretch/>
        </p:blipFill>
        <p:spPr>
          <a:xfrm>
            <a:off x="6156183" y="3469238"/>
            <a:ext cx="4869005" cy="32554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After subtraction </a:t>
            </a:r>
            <a:endParaRPr/>
          </a:p>
        </p:txBody>
      </p:sp>
      <p:pic>
        <p:nvPicPr>
          <p:cNvPr descr="Image preview" id="596" name="Google Shape;596;p25"/>
          <p:cNvPicPr preferRelativeResize="0"/>
          <p:nvPr>
            <p:ph idx="1" type="body"/>
          </p:nvPr>
        </p:nvPicPr>
        <p:blipFill rotWithShape="1">
          <a:blip r:embed="rId3">
            <a:alphaModFix/>
          </a:blip>
          <a:srcRect b="0" l="0" r="0" t="0"/>
          <a:stretch/>
        </p:blipFill>
        <p:spPr>
          <a:xfrm>
            <a:off x="838200" y="1908175"/>
            <a:ext cx="5792082" cy="4351338"/>
          </a:xfrm>
          <a:prstGeom prst="rect">
            <a:avLst/>
          </a:prstGeom>
          <a:noFill/>
          <a:ln>
            <a:noFill/>
          </a:ln>
        </p:spPr>
      </p:pic>
      <p:sp>
        <p:nvSpPr>
          <p:cNvPr id="597" name="Google Shape;597;p25"/>
          <p:cNvSpPr txBox="1"/>
          <p:nvPr/>
        </p:nvSpPr>
        <p:spPr>
          <a:xfrm>
            <a:off x="6873738" y="1139687"/>
            <a:ext cx="4867688" cy="424731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random condition, when scored by initial list position, provides a measure of recency. Conversely, when scored by final test position, it measures output interference. For the forward or backward conditions, it would be informative to subtract the corresponding measures from the random conditions.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Alternatively, the random condition can be considered as representing the combined effects of both recency and output interference. This combined measure can then be used to adjust and remove these effects from the forward and backward conditions.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Detail Serial position result</a:t>
            </a:r>
            <a:endParaRPr/>
          </a:p>
        </p:txBody>
      </p:sp>
      <p:pic>
        <p:nvPicPr>
          <p:cNvPr id="604" name="Google Shape;604;p26"/>
          <p:cNvPicPr preferRelativeResize="0"/>
          <p:nvPr>
            <p:ph idx="1" type="body"/>
          </p:nvPr>
        </p:nvPicPr>
        <p:blipFill rotWithShape="1">
          <a:blip r:embed="rId3">
            <a:alphaModFix/>
          </a:blip>
          <a:srcRect b="0" l="0" r="0" t="0"/>
          <a:stretch/>
        </p:blipFill>
        <p:spPr>
          <a:xfrm>
            <a:off x="678111" y="1485617"/>
            <a:ext cx="4486114" cy="49072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 prime result in final test</a:t>
            </a:r>
            <a:endParaRPr/>
          </a:p>
        </p:txBody>
      </p:sp>
      <p:pic>
        <p:nvPicPr>
          <p:cNvPr id="610" name="Google Shape;610;p27"/>
          <p:cNvPicPr preferRelativeResize="0"/>
          <p:nvPr>
            <p:ph idx="1" type="body"/>
          </p:nvPr>
        </p:nvPicPr>
        <p:blipFill rotWithShape="1">
          <a:blip r:embed="rId3">
            <a:alphaModFix/>
          </a:blip>
          <a:srcRect b="0" l="0" r="0" t="0"/>
          <a:stretch/>
        </p:blipFill>
        <p:spPr>
          <a:xfrm>
            <a:off x="326456" y="1549238"/>
            <a:ext cx="8563687" cy="363956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Final Test Result in Matrix</a:t>
            </a:r>
            <a:endParaRPr/>
          </a:p>
        </p:txBody>
      </p:sp>
      <p:pic>
        <p:nvPicPr>
          <p:cNvPr id="616" name="Google Shape;616;p28"/>
          <p:cNvPicPr preferRelativeResize="0"/>
          <p:nvPr>
            <p:ph idx="1" type="body"/>
          </p:nvPr>
        </p:nvPicPr>
        <p:blipFill rotWithShape="1">
          <a:blip r:embed="rId3">
            <a:alphaModFix/>
          </a:blip>
          <a:srcRect b="0" l="0" r="0" t="0"/>
          <a:stretch/>
        </p:blipFill>
        <p:spPr>
          <a:xfrm>
            <a:off x="2302230" y="1425388"/>
            <a:ext cx="8285441" cy="4751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Conditional plot	</a:t>
            </a:r>
            <a:endParaRPr/>
          </a:p>
        </p:txBody>
      </p:sp>
      <p:pic>
        <p:nvPicPr>
          <p:cNvPr id="622" name="Google Shape;622;p29"/>
          <p:cNvPicPr preferRelativeResize="0"/>
          <p:nvPr>
            <p:ph idx="1" type="body"/>
          </p:nvPr>
        </p:nvPicPr>
        <p:blipFill rotWithShape="1">
          <a:blip r:embed="rId3">
            <a:alphaModFix/>
          </a:blip>
          <a:srcRect b="0" l="0" r="0" t="0"/>
          <a:stretch/>
        </p:blipFill>
        <p:spPr>
          <a:xfrm>
            <a:off x="532505" y="1598079"/>
            <a:ext cx="7066058" cy="4894796"/>
          </a:xfrm>
          <a:prstGeom prst="rect">
            <a:avLst/>
          </a:prstGeom>
          <a:noFill/>
          <a:ln>
            <a:noFill/>
          </a:ln>
        </p:spPr>
      </p:pic>
      <p:sp>
        <p:nvSpPr>
          <p:cNvPr id="623" name="Google Shape;623;p29"/>
          <p:cNvSpPr txBox="1"/>
          <p:nvPr/>
        </p:nvSpPr>
        <p:spPr>
          <a:xfrm>
            <a:off x="8509299" y="1887966"/>
            <a:ext cx="320577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When you say foil as foil earlier, the worse performance</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When you say target as target ealier, the best performance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pic>
        <p:nvPicPr>
          <p:cNvPr id="628" name="Google Shape;628;p30"/>
          <p:cNvPicPr preferRelativeResize="0"/>
          <p:nvPr>
            <p:ph idx="1" type="body"/>
          </p:nvPr>
        </p:nvPicPr>
        <p:blipFill rotWithShape="1">
          <a:blip r:embed="rId3">
            <a:alphaModFix/>
          </a:blip>
          <a:srcRect b="0" l="0" r="0" t="0"/>
          <a:stretch/>
        </p:blipFill>
        <p:spPr>
          <a:xfrm>
            <a:off x="308429" y="463374"/>
            <a:ext cx="8174075" cy="609821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2024-06-28T06:05:41Z</dcterms:created>
  <dc:creator>Lea Lai</dc:creator>
</cp:coreProperties>
</file>